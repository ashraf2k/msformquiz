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دمة" id="{79c82764-5569-0b5f-8485-37dda694629c}">
          <p14:sldIdLst>
            <p14:sldId id="256"/>
            <p14:sldId id="257"/>
            <p14:sldId id="258"/>
          </p14:sldIdLst>
        </p14:section>
        <p14:section name="إنشاء الاختبار" id="{324da781-0eea-df45-fb30-58c2fca4a700}">
          <p14:sldIdLst>
            <p14:sldId id="259"/>
            <p14:sldId id="260"/>
            <p14:sldId id="261"/>
          </p14:sldIdLst>
        </p14:section>
        <p14:section name="الأسئلة والدرجات" id="{7a48ebd9-c725-5f4b-a36d-a6e7cbd1b422}">
          <p14:sldIdLst>
            <p14:sldId id="262"/>
            <p14:sldId id="263"/>
            <p14:sldId id="264"/>
          </p14:sldIdLst>
        </p14:section>
        <p14:section name="الإعدادات" id="{32bd31d2-e899-dc23-3be4-7c723ed9d030}">
          <p14:sldIdLst>
            <p14:sldId id="265"/>
            <p14:sldId id="266"/>
            <p14:sldId id="267"/>
          </p14:sldIdLst>
        </p14:section>
        <p14:section name="المراجعة والنشر" id="{d176a05d-b5fb-a8b9-d0f2-3bdb72901d01}">
          <p14:sldIdLst>
            <p14:sldId id="268"/>
            <p14:sldId id="269"/>
          </p14:sldIdLst>
        </p14:section>
        <p14:section name="أثناء الاختبار وبعده" id="{53a853fd-6c80-c986-3e14-02045c40fee0}">
          <p14:sldIdLst>
            <p14:sldId id="270"/>
            <p14:sldId id="271"/>
            <p14:sldId id="272"/>
          </p14:sldIdLst>
        </p14:section>
        <p14:section name="الخلاصة" id="{d8b4c7d0-87a4-ac41-bcd5-5107d35da9a5}">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مرحباً بكم في هذا الدليلِ التعليمي لإنشاءِ اختبارِ منتصفِ الفصلِ الدراسيِّ الأول للعامِ الدراسيِّ ألفين وستة وعشرين، ألفين وسبعة وعشرين، باستخدامِ مايكروسوفت فورمز. سنتّبعُ معاً، خطوةً بخطوة، جميعَ المتطلباتِ الواردةِ في الإرشاداتِ التشغيليةِ المعتمدة.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نبدأ، تذكّروا أربعةَ متطلباتٍ إلزامية. أولاً: يُصمَّمُ الاختبارُ ليحتاجَ إلى ثلاثينَ دقيقةً تقريباً. ثانياً: تُضبطُ مدةُ المؤقّتِ في فورمز على خمسينَ دقيقة، ليتمكّنَ الطالبُ من مراجعةِ إجاباتِه وتسليمِها. ثالثاً: يُتاحُ الاختبارُ فقط خلالَ الحصةِ الصفرية، من الساعةِ الثامنةِ صباحاً حتى الثامنةِ وخمسينَ دقيقة. ورابعاً: لا يُنشَرُ أيُّ اختبارٍ قبلَ مراجعتِه واعتمادِه من رئيسِ القسم.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خريطةُ العمل كاملةً في ثماني خطوات: نسجّلُ الدخول، ثم ننشئُ اختباراً جديداً، ونكتبُ العنوانَ وتعليماتِ الطلاب، ثم نضيفُ الأسئلةَ ودرجاتِها، ونضبطُ الإعدادات، ثم نعاينُ الاختبارَ ونجرّبُه، ونرسلُه لرئيسِ القسمِ للاعتماد، وأخيراً ننشرُ رابطَ الإجابةِ في الموعدِ المحدّد.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الأولى: افتحْ موقعَ مايكروسوفت فورمز، وسجّلْ الدخولَ بحسابِ المدرسةِ الرسميِّ على مايكروسوفت ثلاثمئة وخمسة وستين، وليس بحسابٍ شخصي. لاحظْ أن فورمز أصبحَ له عنوانٌ جديد، لكنّه التطبيقُ نفسُه. من الصفحةِ الرئيسية، اضغطْ على زرِّ نيو كويز، أي اختبار جديد. ولا تستخدمْ زرَّ نيو فورم، لأن النموذجَ العاديَّ لا يدعمُ الدرجاتِ ولا الإجاباتِ الصحيحة.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الثانية: اضغطْ على العنوانِ واكتبْه بالصيغةِ الموحّدةِ المعتمدة: اختبارُ منتصفِ الفصلِ الأول، ثم العامُ الدراسي، ثم المادة، ثم الصف، ثم الشعبة. مثلاً: الأحياء، الصفُّ العاشر، بنين. التسميةُ الموحّدةُ تسهّلُ على رئيسِ القسمِ المتابعةَ والتوثيق.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الثالثة: في خانةِ الوصفِ أسفلَ العنوان، الصقْ تعليماتِ الطلابِ القياسيةَ التسع، ولا تعدّلْ إلا التفاصيلَ الخاصةَ بالمادة، أو ما يعتمدُه رئيسُ القسم. تتضمّنُ التعليماتُ: الدخولَ بالحسابِ المدرسي، والعملَ بشكلٍ مستقل، وعدمَ استخدامِ المصادرِ أو أدواتِ الذكاءِ الاصطناعي، ومتابعةَ المؤقّت، فقد يُسلَّمُ الاختبارُ تلقائياً عند انتهاءِ الوقت، وعدمَ مشاركةِ الأسئلةِ أو الرابط، والإبلاغَ الفوريَّ عن أيِّ مشكلةٍ تقنية.
--- Student instructions to paste in the quiz description ---
1. Sign in using your official school Microsoft 365 account and check that you have opened the correct test.
2. Read every question carefully and follow the instructions provided.
3. Complete your work independently. Do not communicate with other students or receive unauthorised assistance.
4. Do not use notes, textbooks, websites, AI tools, or other resources unless your teacher expressly permits them.
5. Check your internet connection and device before starting.
6. Monitor the timer and submit before the authorised deadline. A timed quiz may auto-submit when time expires.
7. Do not share questions, screenshots, answers, or the test link with anyone.
8. Report technical difficulties immediately to your teacher or head of section.
9. Academic misconduct or impersonation will be addressed under school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الرابعة: أضفِ الأسئلةَ بالضغطِ على زرِّ إضافةٍ جديد. استخدمْ سؤالَ الاختيارِ من متعدد بإجابةٍ صحيحةٍ واحدةٍ واضحة، ونوعَ الصوابِ والخطأ بعباراتٍ دقيقة. واستخدمْ السؤالَ النصّيَّ للإجابةِ القصيرة، مع تحديدِ الصيغةِ المطلوبة، والإجابةَ الطويلةَ للأسئلةِ المقالية، مع إعدادِ إجابةٍ نموذجيةٍ أو سُلّمِ تصحيح. وفي الأسئلةِ الرقميةِ والمصوّرة، أدرجْ جميعَ القيمِ والوحداتِ والرسوماتِ الواضحة.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لكلِّ سؤال: حدّدِ الإجابةَ الصحيحةَ بعلامةِ الصح، واكتبِ الدرجةَ في خانةِ النقاط، لأن الدرجةَ تظهرُ للطالبِ بجانبِ كلِّ سؤال. فعّلْ خيارَ مطلوب للأسئلةِ المقيَّمة. ومن قائمةِ النقاطِ الثلاث، يمكنُك تفعيلُ خلطِ الخيارات، لكن انتبهْ للخياراتِ مثلَ: جميعُ ما سبق. وفي النهاية، تأكّدْ أن مجموعَ الدرجاتِ يساوي الدرجةَ الكليةَ المعتمدة.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الانتقالِ إلى الإعدادات، راجعْ جودةَ المحتوى. يجبُ أن يتوافقَ كلُّ سؤالٍ مع خطةِ العملِ المعتمدةِ وما تمَّ تدريسُه فعلاً حتى تاريخِ الاختبار. نوّعْ بين المعرفةِ والفهمِ والتطبيقِ ومهاراتِ التفكيرِ العليا. تجنّبِ الغموضَ والمشتّتاتِ المخادعةَ والأسئلةَ المكرّرة. دقّقِ الإملاءَ والمصطلحاتِ والمعادلاتِ والرسوم، ونسّقْ مع زملائِك الذين يدرّسون المادةَ والصفَّ نفسَيهما.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الخامسة: الإعدادات. اضغطْ على النقاطِ الثلاثِ أعلى الصفحة، ثم اخترْ الإعدادات. في قسمِ من يمكنُه الاستجابة، اخترْ: فقط الأشخاص في مؤسستي. ثم فعّلْ خيارَ تسجيلِ الاسم، ليرتبطَ كلُّ ردٍّ بالطالبِ المسجّل، وفعّلْ خيارَ ردٍّ واحدٍ لكلِّ شخص، لمنعِ التسليمِ المتكرّر.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خياراتِ الردود: فعّلْ قبولَ الردود. ثم فعّلْ تاريخَ البدء، واضبطْه على يومِ الاختبار، الساعةَ الثامنةَ صباحاً، وتاريخَ الانتهاء على اليومِ نفسِه، الساعةَ الثامنةَ وخمسينَ دقيقة. ثم فعّلْ تحديدَ المدةِ الزمنية، واكتبْ خمسينَ دقيقة. واستخدمْ خلطَ الأسئلة عند الحاجة. وفي إعداداتِ الاختبار، أوقفْ خيارَ إظهارِ النتائجِ تلقائياً، حتى لا تظهرَ الدرجاتُ أو الإجاباتُ الصحيحةُ فوراً. تنبيه: إذا لم يقبلْ حقلُ الوقتِ الساعةَ الثامنةَ وخمسين، فأبلغْ رئيسَ القسمِ قبلَ يومِ الاختبار.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ملخّصُ الإعداداتِ الإلزاميةِ كاملة. احتفظْ بهذه الشريحةِ كقائمةِ تحقّقٍ سريعة، وراجعْ كلَّ إعدادٍ قبلَ إرسالِ الاختبارِ إلى رئيسِ القسم.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السادسة: المعاينةُ والتجربة. اضغطْ على زرِّ المعاينة، وشاهدِ الاختبارَ كما يراه الطالبُ على الحاسوبِ وعلى الهاتف. تأكّدْ من ظهورِ الصورِ والرموزِ الرياضيةِ والوحداتِ والترميزِ العلميِّ بشكلٍ صحيح. ثم أجرِ تجربةً كاملةً باستخدامِ نسخةٍ منفصلةٍ من الاختبار، أو حسابٍ تجريبيٍّ معتمد، حتى لا تؤثّرَ ردودُ التجربةِ على نتائجِ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السابعةُ والثامنة: أرسلْ رابطَ الاختبارِ ومعلوماتِ التصحيحِ إلى رئيسِ القسمِ قبلَ الموعدِ المحدّد، ونفّذْ جميعَ التعديلاتِ المطلوبة. وبعدَ الاعتمادِ النهائي، اضغطْ على زرِّ جمعِ الردود، وانسخْ رابطَ الإجابةِ فقط. لا تشاركْ أبداً رابطَ التحريرِ أو التعاونِ مع الطلاب. وتذكّرْ: لا تعدّلِ المحتوى أو الدرجاتِ أو موعدَ الإتاحةِ بعدَ الاعتمادِ إلا بموافقة.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أثناءَ الاختبار: كنْ حاضراً في الموعد، وانشرْ الرابطَ الصحيحَ في وقتِ البدء، وسجّلِ الحضور، وتابعِ التسليماتِ مقارنةً بقائمةِ الصف. قدّمِ الدعمَ التقنيَّ دونَ شرحِ الإجابات. وإذا تعذّرَ على طالبٍ فتحُ الاختبار، فتحقّقْ من الرابطِ والحسابِ المسجّل. وعندَ انقطاعِ الاتصالِ أو التسليمِ المبكّرِ بالخطأ، سجّلِ الحادثةَ وأحِلْ أيَّ طلبٍ لمحاولةٍ ثانيةٍ أو وقتٍ إضافيٍّ إلى رئيسِ القسم. لا تَعِدْ بوقتٍ إضافيٍّ ولا تُعِدْ فتحَ الاختبارِ بنفسِك.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الاختبار: افتحْ تبويبَ الردود، وطابقْ عددَ الردودِ مع الحضور، وابحثْ في أيِّ ردٍّ مفقود. راجعِ الدرجاتِ المحسوبةَ تلقائياً، وصحّحِ الإجاباتِ المكتوبةَ يدوياً، مع الاحتفاظِ بسجلٍّ لأيِّ تعديل. ثم صدّرِ النتائجَ إلى إكسل واحفظْها في المجلدِ الآمنِ المعتمدِ للقسم، وأرسلِ الدرجاتِ الموثّقةَ وتقريراً موجزاً بالغيابِ والحوادثِ إلى رئيسِ القسم. وتذكّرْ: أنت المسؤولُ عن صحةِ الدرجات، حتى عندما يصحّحُ فورمز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وهذه قائمةُ التحقّقِ التي يستخدمُها رئيسُ القسمِ قبلَ اعتمادِ كلِّ اختبار. راجعْها بنفسِك قبلَ الإرسال، فكلُّ بندٍ فيها يجبُ أن يكونَ مكتملاً قبلَ أن يُعتمَدَ الاختبارُ ويُنشَر.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ختاماً: نيو كويز بحسابِ المدرسة، ومؤقّتُ خمسينَ دقيقة، وإتاحةٌ من الثامنةِ حتى الثامنةِ وخمسين، ونتائجُ مخفية، واعتمادُ رئيسِ القسمِ قبلَ النشر. وأيُّ مخاوفَ قد تؤثّرُ على جودةِ الاختبارِ أو عدالتِه أو نزاهةِ نتائجِه، تُرفعُ فوراً إلى رؤساءِ الأقسام. شكراً لكم، وبالتوفيقِ للجميع.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4F52"/>
        </a:solidFill>
      </p:bgPr>
    </p:bg>
    <p:spTree>
      <p:nvGrpSpPr>
        <p:cNvPr id="1" name=""/>
        <p:cNvGrpSpPr/>
        <p:nvPr/>
      </p:nvGrpSpPr>
      <p:grpSpPr>
        <a:xfrm>
          <a:off x="0" y="0"/>
          <a:ext cx="0" cy="0"/>
          <a:chOff x="0" y="0"/>
          <a:chExt cx="0" cy="0"/>
        </a:xfrm>
      </p:grpSpPr>
      <p:sp>
        <p:nvSpPr>
          <p:cNvPr id="2" name="Text 0"/>
          <p:cNvSpPr/>
          <p:nvPr/>
        </p:nvSpPr>
        <p:spPr>
          <a:xfrm>
            <a:off x="3355848" y="6419088"/>
            <a:ext cx="5486400" cy="310896"/>
          </a:xfrm>
          <a:prstGeom prst="rect">
            <a:avLst/>
          </a:prstGeom>
          <a:noFill/>
          <a:ln/>
        </p:spPr>
        <p:txBody>
          <a:bodyPr wrap="square" lIns="0" tIns="0" rIns="0" bIns="0" rtlCol="0" anchor="ctr"/>
          <a:lstStyle/>
          <a:p>
            <a:pPr algn="ctr" indent="0" marL="0">
              <a:buNone/>
            </a:pPr>
            <a:r>
              <a:rPr lang="en-US" sz="1100" b="1" dirty="0">
                <a:solidFill>
                  <a:srgbClr val="CFE6E6"/>
                </a:solidFill>
              </a:rPr>
              <a:t>Created by: Mr. Ashraf Elbialy</a:t>
            </a:r>
            <a:endParaRPr lang="en-US" sz="1100" dirty="0"/>
          </a:p>
        </p:txBody>
      </p:sp>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355848" y="6419088"/>
            <a:ext cx="5486400" cy="310896"/>
          </a:xfrm>
          <a:prstGeom prst="rect">
            <a:avLst/>
          </a:prstGeom>
          <a:noFill/>
          <a:ln/>
        </p:spPr>
        <p:txBody>
          <a:bodyPr wrap="square" lIns="0" tIns="0" rIns="0" bIns="0" rtlCol="0" anchor="ctr"/>
          <a:lstStyle/>
          <a:p>
            <a:pPr algn="ctr" indent="0" marL="0">
              <a:buNone/>
            </a:pPr>
            <a:r>
              <a:rPr lang="en-US" sz="1100" b="1" dirty="0">
                <a:solidFill>
                  <a:srgbClr val="6B7A85"/>
                </a:solidFill>
              </a:rPr>
              <a:t>Created by: Mr. Ashraf Elbialy</a:t>
            </a:r>
            <a:endParaRPr lang="en-US" sz="1100" dirty="0"/>
          </a:p>
        </p:txBody>
      </p:sp>
      <p:sp>
        <p:nvSpPr>
          <p:cNvPr id="3" name="Text 1"/>
          <p:cNvSpPr/>
          <p:nvPr>
            <p:ph idx="101" type="title" hasCustomPrompt="1"/>
          </p:nvPr>
        </p:nvSpPr>
        <p:spPr>
          <a:xfrm>
            <a:off x="548640" y="347472"/>
            <a:ext cx="10332720" cy="777240"/>
          </a:xfrm>
          <a:prstGeom prst="rect">
            <a:avLst/>
          </a:prstGeom>
          <a:noFill/>
          <a:ln/>
        </p:spPr>
        <p:txBody>
          <a:bodyPr wrap="square" rtlCol="0"/>
          <a:lstStyle>
            <a:lvl1pPr rtl="1" algn="r" indent="0" marL="0">
              <a:buNone/>
              <a:defRPr lang="ar-SA" altLang="en-US" sz="3000" b="1" dirty="0">
                <a:solidFill>
                  <a:schemeClr val="tx2"/>
                </a:solidFill>
              </a:defRPr>
            </a:lvl1pPr>
          </a:lstStyle>
          <a:p>
            <a:pPr algn="r" indent="0" marL="0">
              <a:buNone/>
            </a:pPr>
            <a:endParaRPr lang="ar-SA" sz="3000" dirty="0"/>
          </a:p>
        </p:txBody>
      </p:sp>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slideLayout" Target="../slideLayouts/slideLayout3.xml"/><Relationship Id="rId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circle"/>
          <p:cNvSpPr/>
          <p:nvPr/>
        </p:nvSpPr>
        <p:spPr>
          <a:xfrm>
            <a:off x="-1463040" y="3291840"/>
            <a:ext cx="5029200" cy="5029200"/>
          </a:xfrm>
          <a:prstGeom prst="ellipse">
            <a:avLst/>
          </a:prstGeom>
          <a:solidFill>
            <a:schemeClr val="accent1">
              <a:alpha val="45000"/>
            </a:schemeClr>
          </a:solidFill>
          <a:ln/>
        </p:spPr>
      </p:sp>
      <p:sp>
        <p:nvSpPr>
          <p:cNvPr id="3" name="quiz-illustration"/>
          <p:cNvSpPr/>
          <p:nvPr/>
        </p:nvSpPr>
        <p:spPr>
          <a:xfrm>
            <a:off x="822960" y="1234440"/>
            <a:ext cx="3566160" cy="4023360"/>
          </a:xfrm>
          <a:prstGeom prst="roundRect">
            <a:avLst>
              <a:gd name="adj" fmla="val 3846"/>
            </a:avLst>
          </a:prstGeom>
          <a:solidFill>
            <a:srgbClr val="FFFFFF"/>
          </a:solidFill>
          <a:ln/>
          <a:effectLst>
            <a:outerShdw sx="100000" sy="100000" kx="0" ky="0" algn="bl" rotWithShape="0" blurRad="76200" dist="25400" dir="5400000">
              <a:srgbClr val="000000">
                <a:alpha val="14000"/>
              </a:srgbClr>
            </a:outerShdw>
          </a:effectLst>
        </p:spPr>
      </p:sp>
      <p:sp>
        <p:nvSpPr>
          <p:cNvPr id="4" name="Shape 2"/>
          <p:cNvSpPr/>
          <p:nvPr/>
        </p:nvSpPr>
        <p:spPr>
          <a:xfrm>
            <a:off x="1097280" y="1508760"/>
            <a:ext cx="1737360" cy="457200"/>
          </a:xfrm>
          <a:prstGeom prst="roundRect">
            <a:avLst>
              <a:gd name="adj" fmla="val 50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207008" y="1600200"/>
            <a:ext cx="274320" cy="274320"/>
          </a:xfrm>
          <a:prstGeom prst="rect">
            <a:avLst/>
          </a:prstGeom>
        </p:spPr>
      </p:pic>
      <p:sp>
        <p:nvSpPr>
          <p:cNvPr id="6" name="Text 3"/>
          <p:cNvSpPr txBox="1"/>
          <p:nvPr/>
        </p:nvSpPr>
        <p:spPr>
          <a:xfrm>
            <a:off x="1536192" y="1508760"/>
            <a:ext cx="1280160" cy="457200"/>
          </a:xfrm>
          <a:prstGeom prst="rect">
            <a:avLst/>
          </a:prstGeom>
          <a:noFill/>
          <a:ln/>
        </p:spPr>
        <p:txBody>
          <a:bodyPr wrap="square" lIns="0" tIns="0" rIns="0" bIns="0" rtlCol="0" anchor="ctr"/>
          <a:lstStyle/>
          <a:p>
            <a:pPr algn="l" indent="0" marL="0">
              <a:buNone/>
            </a:pPr>
            <a:r>
              <a:rPr lang="en-US" altLang="en-US" sz="1400" b="1" dirty="0">
                <a:solidFill>
                  <a:srgbClr val="FFFFFF"/>
                </a:solidFill>
                <a:latin typeface="Arial" pitchFamily="34" charset="0"/>
                <a:ea typeface="Arial" pitchFamily="34" charset="-122"/>
                <a:cs typeface="Arial" pitchFamily="34" charset="-120"/>
              </a:rPr>
              <a:t>New Quiz</a:t>
            </a:r>
            <a:endParaRPr lang="en-US" sz="1400" dirty="0"/>
          </a:p>
        </p:txBody>
      </p:sp>
      <p:sp>
        <p:nvSpPr>
          <p:cNvPr id="7" name="Shape 4"/>
          <p:cNvSpPr/>
          <p:nvPr/>
        </p:nvSpPr>
        <p:spPr>
          <a:xfrm>
            <a:off x="1097280" y="2286000"/>
            <a:ext cx="347472" cy="347472"/>
          </a:xfrm>
          <a:prstGeom prst="ellipse">
            <a:avLst/>
          </a:prstGeom>
          <a:solidFill>
            <a:srgbClr val="2E8B57"/>
          </a:solidFill>
          <a:ln/>
        </p:spPr>
      </p:sp>
      <p:pic>
        <p:nvPicPr>
          <p:cNvPr id="8" name="Image 1" descr="preencoded.png">    </p:cNvPr>
          <p:cNvPicPr>
            <a:picLocks noChangeAspect="1"/>
          </p:cNvPicPr>
          <p:nvPr/>
        </p:nvPicPr>
        <p:blipFill>
          <a:blip r:embed="rId2"/>
          <a:stretch>
            <a:fillRect/>
          </a:stretch>
        </p:blipFill>
        <p:spPr>
          <a:xfrm>
            <a:off x="1161288" y="2350008"/>
            <a:ext cx="219456" cy="219456"/>
          </a:xfrm>
          <a:prstGeom prst="rect">
            <a:avLst/>
          </a:prstGeom>
        </p:spPr>
      </p:pic>
      <p:sp>
        <p:nvSpPr>
          <p:cNvPr id="9" name="Shape 5"/>
          <p:cNvSpPr/>
          <p:nvPr/>
        </p:nvSpPr>
        <p:spPr>
          <a:xfrm>
            <a:off x="1600200" y="2295144"/>
            <a:ext cx="2468880" cy="128016"/>
          </a:xfrm>
          <a:prstGeom prst="roundRect">
            <a:avLst>
              <a:gd name="adj" fmla="val 50000"/>
            </a:avLst>
          </a:prstGeom>
          <a:solidFill>
            <a:srgbClr val="D9E3E6"/>
          </a:solidFill>
          <a:ln/>
        </p:spPr>
      </p:sp>
      <p:sp>
        <p:nvSpPr>
          <p:cNvPr id="10" name="Shape 6"/>
          <p:cNvSpPr/>
          <p:nvPr/>
        </p:nvSpPr>
        <p:spPr>
          <a:xfrm>
            <a:off x="1600200" y="2514600"/>
            <a:ext cx="1645920" cy="109728"/>
          </a:xfrm>
          <a:prstGeom prst="roundRect">
            <a:avLst>
              <a:gd name="adj" fmla="val 50000"/>
            </a:avLst>
          </a:prstGeom>
          <a:solidFill>
            <a:srgbClr val="EEF2F3"/>
          </a:solidFill>
          <a:ln/>
        </p:spPr>
      </p:sp>
      <p:sp>
        <p:nvSpPr>
          <p:cNvPr id="11" name="Shape 7"/>
          <p:cNvSpPr/>
          <p:nvPr/>
        </p:nvSpPr>
        <p:spPr>
          <a:xfrm>
            <a:off x="1097280" y="3017520"/>
            <a:ext cx="347472" cy="347472"/>
          </a:xfrm>
          <a:prstGeom prst="ellipse">
            <a:avLst/>
          </a:prstGeom>
          <a:solidFill>
            <a:srgbClr val="2E8B57"/>
          </a:solidFill>
          <a:ln/>
        </p:spPr>
      </p:sp>
      <p:pic>
        <p:nvPicPr>
          <p:cNvPr id="12" name="Image 2" descr="preencoded.png">    </p:cNvPr>
          <p:cNvPicPr>
            <a:picLocks noChangeAspect="1"/>
          </p:cNvPicPr>
          <p:nvPr/>
        </p:nvPicPr>
        <p:blipFill>
          <a:blip r:embed="rId3"/>
          <a:stretch>
            <a:fillRect/>
          </a:stretch>
        </p:blipFill>
        <p:spPr>
          <a:xfrm>
            <a:off x="1161288" y="3081528"/>
            <a:ext cx="219456" cy="219456"/>
          </a:xfrm>
          <a:prstGeom prst="rect">
            <a:avLst/>
          </a:prstGeom>
        </p:spPr>
      </p:pic>
      <p:sp>
        <p:nvSpPr>
          <p:cNvPr id="13" name="Shape 8"/>
          <p:cNvSpPr/>
          <p:nvPr/>
        </p:nvSpPr>
        <p:spPr>
          <a:xfrm>
            <a:off x="1600200" y="3026664"/>
            <a:ext cx="2468880" cy="128016"/>
          </a:xfrm>
          <a:prstGeom prst="roundRect">
            <a:avLst>
              <a:gd name="adj" fmla="val 50000"/>
            </a:avLst>
          </a:prstGeom>
          <a:solidFill>
            <a:srgbClr val="D9E3E6"/>
          </a:solidFill>
          <a:ln/>
        </p:spPr>
      </p:sp>
      <p:sp>
        <p:nvSpPr>
          <p:cNvPr id="14" name="Shape 9"/>
          <p:cNvSpPr/>
          <p:nvPr/>
        </p:nvSpPr>
        <p:spPr>
          <a:xfrm>
            <a:off x="1600200" y="3246120"/>
            <a:ext cx="1645920" cy="109728"/>
          </a:xfrm>
          <a:prstGeom prst="roundRect">
            <a:avLst>
              <a:gd name="adj" fmla="val 50000"/>
            </a:avLst>
          </a:prstGeom>
          <a:solidFill>
            <a:srgbClr val="EEF2F3"/>
          </a:solidFill>
          <a:ln/>
        </p:spPr>
      </p:sp>
      <p:sp>
        <p:nvSpPr>
          <p:cNvPr id="15" name="Shape 10"/>
          <p:cNvSpPr/>
          <p:nvPr/>
        </p:nvSpPr>
        <p:spPr>
          <a:xfrm>
            <a:off x="1097280" y="3749040"/>
            <a:ext cx="347472" cy="347472"/>
          </a:xfrm>
          <a:prstGeom prst="ellipse">
            <a:avLst/>
          </a:prstGeom>
          <a:solidFill>
            <a:srgbClr val="C0392B"/>
          </a:solidFill>
          <a:ln/>
        </p:spPr>
      </p:sp>
      <p:pic>
        <p:nvPicPr>
          <p:cNvPr id="16" name="Image 3" descr="preencoded.png">    </p:cNvPr>
          <p:cNvPicPr>
            <a:picLocks noChangeAspect="1"/>
          </p:cNvPicPr>
          <p:nvPr/>
        </p:nvPicPr>
        <p:blipFill>
          <a:blip r:embed="rId4"/>
          <a:stretch>
            <a:fillRect/>
          </a:stretch>
        </p:blipFill>
        <p:spPr>
          <a:xfrm>
            <a:off x="1161288" y="3813048"/>
            <a:ext cx="219456" cy="219456"/>
          </a:xfrm>
          <a:prstGeom prst="rect">
            <a:avLst/>
          </a:prstGeom>
        </p:spPr>
      </p:pic>
      <p:sp>
        <p:nvSpPr>
          <p:cNvPr id="17" name="Shape 11"/>
          <p:cNvSpPr/>
          <p:nvPr/>
        </p:nvSpPr>
        <p:spPr>
          <a:xfrm>
            <a:off x="1600200" y="3758184"/>
            <a:ext cx="2468880" cy="128016"/>
          </a:xfrm>
          <a:prstGeom prst="roundRect">
            <a:avLst>
              <a:gd name="adj" fmla="val 50000"/>
            </a:avLst>
          </a:prstGeom>
          <a:solidFill>
            <a:srgbClr val="D9E3E6"/>
          </a:solidFill>
          <a:ln/>
        </p:spPr>
      </p:sp>
      <p:sp>
        <p:nvSpPr>
          <p:cNvPr id="18" name="Shape 12"/>
          <p:cNvSpPr/>
          <p:nvPr/>
        </p:nvSpPr>
        <p:spPr>
          <a:xfrm>
            <a:off x="1600200" y="3977640"/>
            <a:ext cx="1645920" cy="109728"/>
          </a:xfrm>
          <a:prstGeom prst="roundRect">
            <a:avLst>
              <a:gd name="adj" fmla="val 50000"/>
            </a:avLst>
          </a:prstGeom>
          <a:solidFill>
            <a:srgbClr val="EEF2F3"/>
          </a:solidFill>
          <a:ln/>
        </p:spPr>
      </p:sp>
      <p:sp>
        <p:nvSpPr>
          <p:cNvPr id="19" name="Shape 13"/>
          <p:cNvSpPr/>
          <p:nvPr/>
        </p:nvSpPr>
        <p:spPr>
          <a:xfrm>
            <a:off x="1097280" y="4480560"/>
            <a:ext cx="347472" cy="347472"/>
          </a:xfrm>
          <a:prstGeom prst="ellipse">
            <a:avLst/>
          </a:prstGeom>
          <a:solidFill>
            <a:srgbClr val="2E8B57"/>
          </a:solidFill>
          <a:ln/>
        </p:spPr>
      </p:sp>
      <p:pic>
        <p:nvPicPr>
          <p:cNvPr id="20" name="Image 4" descr="preencoded.png">    </p:cNvPr>
          <p:cNvPicPr>
            <a:picLocks noChangeAspect="1"/>
          </p:cNvPicPr>
          <p:nvPr/>
        </p:nvPicPr>
        <p:blipFill>
          <a:blip r:embed="rId5"/>
          <a:stretch>
            <a:fillRect/>
          </a:stretch>
        </p:blipFill>
        <p:spPr>
          <a:xfrm>
            <a:off x="1161288" y="4544568"/>
            <a:ext cx="219456" cy="219456"/>
          </a:xfrm>
          <a:prstGeom prst="rect">
            <a:avLst/>
          </a:prstGeom>
        </p:spPr>
      </p:pic>
      <p:sp>
        <p:nvSpPr>
          <p:cNvPr id="21" name="Shape 14"/>
          <p:cNvSpPr/>
          <p:nvPr/>
        </p:nvSpPr>
        <p:spPr>
          <a:xfrm>
            <a:off x="1600200" y="4489704"/>
            <a:ext cx="2468880" cy="128016"/>
          </a:xfrm>
          <a:prstGeom prst="roundRect">
            <a:avLst>
              <a:gd name="adj" fmla="val 50000"/>
            </a:avLst>
          </a:prstGeom>
          <a:solidFill>
            <a:srgbClr val="D9E3E6"/>
          </a:solidFill>
          <a:ln/>
        </p:spPr>
      </p:sp>
      <p:sp>
        <p:nvSpPr>
          <p:cNvPr id="22" name="Shape 15"/>
          <p:cNvSpPr/>
          <p:nvPr/>
        </p:nvSpPr>
        <p:spPr>
          <a:xfrm>
            <a:off x="1600200" y="4709160"/>
            <a:ext cx="1645920" cy="109728"/>
          </a:xfrm>
          <a:prstGeom prst="roundRect">
            <a:avLst>
              <a:gd name="adj" fmla="val 50000"/>
            </a:avLst>
          </a:prstGeom>
          <a:solidFill>
            <a:srgbClr val="EEF2F3"/>
          </a:solidFill>
          <a:ln/>
        </p:spPr>
      </p:sp>
      <p:sp>
        <p:nvSpPr>
          <p:cNvPr id="23" name="Text 16"/>
          <p:cNvSpPr txBox="1"/>
          <p:nvPr/>
        </p:nvSpPr>
        <p:spPr>
          <a:xfrm>
            <a:off x="4937760" y="1325880"/>
            <a:ext cx="6675120" cy="411480"/>
          </a:xfrm>
          <a:prstGeom prst="rect">
            <a:avLst/>
          </a:prstGeom>
          <a:noFill/>
          <a:ln/>
        </p:spPr>
        <p:txBody>
          <a:bodyPr wrap="square" lIns="0" tIns="0" rIns="0" bIns="0" rtlCol="0" anchor="t"/>
          <a:lstStyle/>
          <a:p>
            <a:pPr rtl="1" algn="r" indent="0" marL="0">
              <a:buNone/>
            </a:pPr>
            <a:r>
              <a:rPr lang="ar-SA" altLang="en-US" sz="1600" b="1" dirty="0">
                <a:solidFill>
                  <a:schemeClr val="accent2"/>
                </a:solidFill>
                <a:latin typeface="Arial" pitchFamily="34" charset="0"/>
                <a:ea typeface="Arial" pitchFamily="34" charset="-122"/>
                <a:cs typeface="Arial" pitchFamily="34" charset="-120"/>
              </a:rPr>
              <a:t>دليل المعلمين ورؤساء الأقسام | العام الدراسي 2026–2027</a:t>
            </a:r>
            <a:endParaRPr lang="ar-SA" sz="1600" dirty="0"/>
          </a:p>
        </p:txBody>
      </p:sp>
      <p:sp>
        <p:nvSpPr>
          <p:cNvPr id="24" name="Text 17"/>
          <p:cNvSpPr txBox="1"/>
          <p:nvPr/>
        </p:nvSpPr>
        <p:spPr>
          <a:xfrm>
            <a:off x="4937760" y="1828800"/>
            <a:ext cx="6675120" cy="1737360"/>
          </a:xfrm>
          <a:prstGeom prst="rect">
            <a:avLst/>
          </a:prstGeom>
          <a:noFill/>
          <a:ln/>
        </p:spPr>
        <p:txBody>
          <a:bodyPr wrap="square" lIns="0" tIns="0" rIns="0" bIns="0" rtlCol="0" anchor="ctr"/>
          <a:lstStyle/>
          <a:p>
            <a:pPr rtl="1" algn="r" indent="0" marL="0">
              <a:buNone/>
            </a:pPr>
            <a:r>
              <a:rPr lang="ar-SA" altLang="en-US" sz="3800" b="1" dirty="0">
                <a:solidFill>
                  <a:schemeClr val="bg1"/>
                </a:solidFill>
                <a:latin typeface="Arial" pitchFamily="34" charset="0"/>
                <a:ea typeface="Arial" pitchFamily="34" charset="-122"/>
                <a:cs typeface="Arial" pitchFamily="34" charset="-120"/>
              </a:rPr>
              <a:t>إنشاء اختبار منتصف الفصل الدراسي الأول عبر Microsoft Forms</a:t>
            </a:r>
            <a:endParaRPr lang="ar-SA" sz="3800" dirty="0"/>
          </a:p>
        </p:txBody>
      </p:sp>
      <p:sp>
        <p:nvSpPr>
          <p:cNvPr id="25" name="Text 18"/>
          <p:cNvSpPr txBox="1"/>
          <p:nvPr/>
        </p:nvSpPr>
        <p:spPr>
          <a:xfrm>
            <a:off x="4937760" y="3749040"/>
            <a:ext cx="6675120" cy="822960"/>
          </a:xfrm>
          <a:prstGeom prst="rect">
            <a:avLst/>
          </a:prstGeom>
          <a:noFill/>
          <a:ln/>
        </p:spPr>
        <p:txBody>
          <a:bodyPr wrap="square" lIns="0" tIns="0" rIns="0" bIns="0" rtlCol="0" anchor="t"/>
          <a:lstStyle/>
          <a:p>
            <a:pPr rtl="1" algn="r" indent="0" marL="0">
              <a:buNone/>
            </a:pPr>
            <a:r>
              <a:rPr lang="ar-SA" altLang="en-US" sz="1700" dirty="0">
                <a:solidFill>
                  <a:srgbClr val="D7ECEC"/>
                </a:solidFill>
                <a:latin typeface="Arial" pitchFamily="34" charset="0"/>
                <a:ea typeface="Arial" pitchFamily="34" charset="-122"/>
                <a:cs typeface="Arial" pitchFamily="34" charset="-120"/>
              </a:rPr>
              <a:t>خطوة بخطوة باستخدام New Quiz، وفق الإرشادات التشغيلية المعتمدة لاختبارات منتصف الفصل الأول الإلكترونية</a:t>
            </a:r>
            <a:endParaRPr lang="ar-SA" sz="1700" dirty="0"/>
          </a:p>
        </p:txBody>
      </p:sp>
      <p:sp>
        <p:nvSpPr>
          <p:cNvPr id="26" name="Text 19"/>
          <p:cNvSpPr txBox="1"/>
          <p:nvPr/>
        </p:nvSpPr>
        <p:spPr>
          <a:xfrm>
            <a:off x="4937760" y="4846320"/>
            <a:ext cx="6675120" cy="365760"/>
          </a:xfrm>
          <a:prstGeom prst="rect">
            <a:avLst/>
          </a:prstGeom>
          <a:noFill/>
          <a:ln/>
        </p:spPr>
        <p:txBody>
          <a:bodyPr wrap="square" lIns="0" tIns="0" rIns="0" bIns="0" rtlCol="0" anchor="t"/>
          <a:lstStyle/>
          <a:p>
            <a:pPr rtl="1" algn="r" indent="0" marL="0">
              <a:buNone/>
            </a:pPr>
            <a:r>
              <a:rPr lang="ar-SA" altLang="en-US" sz="1400" dirty="0">
                <a:solidFill>
                  <a:srgbClr val="CFE6E6"/>
                </a:solidFill>
                <a:latin typeface="Arial" pitchFamily="34" charset="0"/>
                <a:ea typeface="Arial" pitchFamily="34" charset="-122"/>
                <a:cs typeface="Arial" pitchFamily="34" charset="-120"/>
              </a:rPr>
              <a:t>منارات الرياض  •  معارف</a:t>
            </a:r>
            <a:endParaRPr lang="ar-SA" sz="1400" dirty="0"/>
          </a:p>
        </p:txBody>
      </p:sp>
      <p:sp>
        <p:nvSpPr>
          <p:cNvPr id="2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المتطلبات الإلزامية في لمحة</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stat-1"/>
          <p:cNvSpPr/>
          <p:nvPr/>
        </p:nvSpPr>
        <p:spPr>
          <a:xfrm>
            <a:off x="8988552" y="1417320"/>
            <a:ext cx="2651760" cy="3200400"/>
          </a:xfrm>
          <a:prstGeom prst="roundRect">
            <a:avLst>
              <a:gd name="adj" fmla="val 4138"/>
            </a:avLst>
          </a:prstGeom>
          <a:solidFill>
            <a:schemeClr val="bg2"/>
          </a:solidFill>
          <a:ln/>
        </p:spPr>
      </p:sp>
      <p:sp>
        <p:nvSpPr>
          <p:cNvPr id="6" name="Shape 3"/>
          <p:cNvSpPr/>
          <p:nvPr/>
        </p:nvSpPr>
        <p:spPr>
          <a:xfrm>
            <a:off x="9994392" y="1645920"/>
            <a:ext cx="640080" cy="640080"/>
          </a:xfrm>
          <a:prstGeom prst="ellipse">
            <a:avLst/>
          </a:prstGeom>
          <a:solidFill>
            <a:srgbClr val="03787C"/>
          </a:solidFill>
          <a:ln/>
        </p:spPr>
      </p:sp>
      <p:pic>
        <p:nvPicPr>
          <p:cNvPr id="7" name="Image 1" descr="preencoded.png">    </p:cNvPr>
          <p:cNvPicPr>
            <a:picLocks noChangeAspect="1"/>
          </p:cNvPicPr>
          <p:nvPr/>
        </p:nvPicPr>
        <p:blipFill>
          <a:blip r:embed="rId2"/>
          <a:stretch>
            <a:fillRect/>
          </a:stretch>
        </p:blipFill>
        <p:spPr>
          <a:xfrm>
            <a:off x="10158984" y="1810512"/>
            <a:ext cx="310896" cy="310896"/>
          </a:xfrm>
          <a:prstGeom prst="rect">
            <a:avLst/>
          </a:prstGeom>
        </p:spPr>
      </p:pic>
      <p:sp>
        <p:nvSpPr>
          <p:cNvPr id="8" name="Text 4"/>
          <p:cNvSpPr txBox="1"/>
          <p:nvPr/>
        </p:nvSpPr>
        <p:spPr>
          <a:xfrm>
            <a:off x="9079992"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30</a:t>
            </a:r>
            <a:endParaRPr lang="en-US" sz="5400" dirty="0"/>
          </a:p>
        </p:txBody>
      </p:sp>
      <p:sp>
        <p:nvSpPr>
          <p:cNvPr id="9" name="Text 5"/>
          <p:cNvSpPr txBox="1"/>
          <p:nvPr/>
        </p:nvSpPr>
        <p:spPr>
          <a:xfrm>
            <a:off x="9079992" y="3291840"/>
            <a:ext cx="2468880" cy="365760"/>
          </a:xfrm>
          <a:prstGeom prst="rect">
            <a:avLst/>
          </a:prstGeom>
          <a:noFill/>
          <a:ln/>
        </p:spPr>
        <p:txBody>
          <a:bodyPr wrap="square" lIns="0" tIns="0" rIns="0" bIns="0" rtlCol="0" anchor="t"/>
          <a:lstStyle/>
          <a:p>
            <a:pPr rtl="1" algn="ctr" indent="0" marL="0">
              <a:buNone/>
            </a:pPr>
            <a:r>
              <a:rPr lang="ar-SA" altLang="en-US" sz="1600" b="1" dirty="0">
                <a:solidFill>
                  <a:schemeClr val="accent1"/>
                </a:solidFill>
                <a:latin typeface="Arial" pitchFamily="34" charset="0"/>
                <a:ea typeface="Arial" pitchFamily="34" charset="-122"/>
                <a:cs typeface="Arial" pitchFamily="34" charset="-120"/>
              </a:rPr>
              <a:t>دقيقة</a:t>
            </a:r>
            <a:endParaRPr lang="ar-SA" sz="1600" dirty="0"/>
          </a:p>
        </p:txBody>
      </p:sp>
      <p:sp>
        <p:nvSpPr>
          <p:cNvPr id="10" name="Text 6"/>
          <p:cNvSpPr txBox="1"/>
          <p:nvPr/>
        </p:nvSpPr>
        <p:spPr>
          <a:xfrm>
            <a:off x="9171432" y="3703320"/>
            <a:ext cx="2286000" cy="777240"/>
          </a:xfrm>
          <a:prstGeom prst="rect">
            <a:avLst/>
          </a:prstGeom>
          <a:noFill/>
          <a:ln/>
        </p:spPr>
        <p:txBody>
          <a:bodyPr wrap="square" lIns="0" tIns="0" rIns="0" bIns="0" rtlCol="0" anchor="t"/>
          <a:lstStyle/>
          <a:p>
            <a:pPr rtl="1" algn="ctr" indent="0" marL="0">
              <a:buNone/>
            </a:pPr>
            <a:r>
              <a:rPr lang="ar-SA" altLang="en-US" sz="1400" dirty="0">
                <a:solidFill>
                  <a:schemeClr val="tx1"/>
                </a:solidFill>
                <a:latin typeface="Arial" pitchFamily="34" charset="0"/>
                <a:ea typeface="Arial" pitchFamily="34" charset="-122"/>
                <a:cs typeface="Arial" pitchFamily="34" charset="-120"/>
              </a:rPr>
              <a:t>زمن تصميم الاختبار تقريباً</a:t>
            </a:r>
            <a:endParaRPr lang="ar-SA" sz="1400" dirty="0"/>
          </a:p>
        </p:txBody>
      </p:sp>
      <p:sp>
        <p:nvSpPr>
          <p:cNvPr id="11" name="stat-2"/>
          <p:cNvSpPr/>
          <p:nvPr/>
        </p:nvSpPr>
        <p:spPr>
          <a:xfrm>
            <a:off x="6153912" y="1417320"/>
            <a:ext cx="2651760" cy="3200400"/>
          </a:xfrm>
          <a:prstGeom prst="roundRect">
            <a:avLst>
              <a:gd name="adj" fmla="val 4138"/>
            </a:avLst>
          </a:prstGeom>
          <a:solidFill>
            <a:schemeClr val="bg2"/>
          </a:solidFill>
          <a:ln/>
        </p:spPr>
      </p:sp>
      <p:sp>
        <p:nvSpPr>
          <p:cNvPr id="12" name="Shape 8"/>
          <p:cNvSpPr/>
          <p:nvPr/>
        </p:nvSpPr>
        <p:spPr>
          <a:xfrm>
            <a:off x="7159752" y="1645920"/>
            <a:ext cx="640080" cy="640080"/>
          </a:xfrm>
          <a:prstGeom prst="ellipse">
            <a:avLst/>
          </a:prstGeom>
          <a:solidFill>
            <a:srgbClr val="03787C"/>
          </a:solidFill>
          <a:ln/>
        </p:spPr>
      </p:sp>
      <p:pic>
        <p:nvPicPr>
          <p:cNvPr id="13" name="Image 2" descr="preencoded.png">    </p:cNvPr>
          <p:cNvPicPr>
            <a:picLocks noChangeAspect="1"/>
          </p:cNvPicPr>
          <p:nvPr/>
        </p:nvPicPr>
        <p:blipFill>
          <a:blip r:embed="rId3"/>
          <a:stretch>
            <a:fillRect/>
          </a:stretch>
        </p:blipFill>
        <p:spPr>
          <a:xfrm>
            <a:off x="7324344" y="1810512"/>
            <a:ext cx="310896" cy="310896"/>
          </a:xfrm>
          <a:prstGeom prst="rect">
            <a:avLst/>
          </a:prstGeom>
        </p:spPr>
      </p:pic>
      <p:sp>
        <p:nvSpPr>
          <p:cNvPr id="14" name="Text 9"/>
          <p:cNvSpPr txBox="1"/>
          <p:nvPr/>
        </p:nvSpPr>
        <p:spPr>
          <a:xfrm>
            <a:off x="6245352"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50</a:t>
            </a:r>
            <a:endParaRPr lang="en-US" sz="5400" dirty="0"/>
          </a:p>
        </p:txBody>
      </p:sp>
      <p:sp>
        <p:nvSpPr>
          <p:cNvPr id="15" name="Text 10"/>
          <p:cNvSpPr txBox="1"/>
          <p:nvPr/>
        </p:nvSpPr>
        <p:spPr>
          <a:xfrm>
            <a:off x="6245352" y="3291840"/>
            <a:ext cx="2468880" cy="365760"/>
          </a:xfrm>
          <a:prstGeom prst="rect">
            <a:avLst/>
          </a:prstGeom>
          <a:noFill/>
          <a:ln/>
        </p:spPr>
        <p:txBody>
          <a:bodyPr wrap="square" lIns="0" tIns="0" rIns="0" bIns="0" rtlCol="0" anchor="t"/>
          <a:lstStyle/>
          <a:p>
            <a:pPr rtl="1" algn="ctr" indent="0" marL="0">
              <a:buNone/>
            </a:pPr>
            <a:r>
              <a:rPr lang="ar-SA" altLang="en-US" sz="1600" b="1" dirty="0">
                <a:solidFill>
                  <a:schemeClr val="accent1"/>
                </a:solidFill>
                <a:latin typeface="Arial" pitchFamily="34" charset="0"/>
                <a:ea typeface="Arial" pitchFamily="34" charset="-122"/>
                <a:cs typeface="Arial" pitchFamily="34" charset="-120"/>
              </a:rPr>
              <a:t>دقيقة</a:t>
            </a:r>
            <a:endParaRPr lang="ar-SA" sz="1600" dirty="0"/>
          </a:p>
        </p:txBody>
      </p:sp>
      <p:sp>
        <p:nvSpPr>
          <p:cNvPr id="16" name="Text 11"/>
          <p:cNvSpPr txBox="1"/>
          <p:nvPr/>
        </p:nvSpPr>
        <p:spPr>
          <a:xfrm>
            <a:off x="6336792" y="3703320"/>
            <a:ext cx="2286000" cy="777240"/>
          </a:xfrm>
          <a:prstGeom prst="rect">
            <a:avLst/>
          </a:prstGeom>
          <a:noFill/>
          <a:ln/>
        </p:spPr>
        <p:txBody>
          <a:bodyPr wrap="square" lIns="0" tIns="0" rIns="0" bIns="0" rtlCol="0" anchor="t"/>
          <a:lstStyle/>
          <a:p>
            <a:pPr rtl="1" algn="ctr" indent="0" marL="0">
              <a:buNone/>
            </a:pPr>
            <a:r>
              <a:rPr lang="ar-SA" altLang="en-US" sz="1400" dirty="0">
                <a:solidFill>
                  <a:schemeClr val="tx1"/>
                </a:solidFill>
                <a:latin typeface="Arial" pitchFamily="34" charset="0"/>
                <a:ea typeface="Arial" pitchFamily="34" charset="-122"/>
                <a:cs typeface="Arial" pitchFamily="34" charset="-120"/>
              </a:rPr>
              <a:t>مدة المؤقّت في Microsoft Forms</a:t>
            </a:r>
            <a:endParaRPr lang="ar-SA" sz="1400" dirty="0"/>
          </a:p>
        </p:txBody>
      </p:sp>
      <p:sp>
        <p:nvSpPr>
          <p:cNvPr id="17" name="stat-3"/>
          <p:cNvSpPr/>
          <p:nvPr/>
        </p:nvSpPr>
        <p:spPr>
          <a:xfrm>
            <a:off x="3319272" y="1417320"/>
            <a:ext cx="2651760" cy="3200400"/>
          </a:xfrm>
          <a:prstGeom prst="roundRect">
            <a:avLst>
              <a:gd name="adj" fmla="val 4138"/>
            </a:avLst>
          </a:prstGeom>
          <a:solidFill>
            <a:srgbClr val="FFF4D6"/>
          </a:solidFill>
          <a:ln/>
        </p:spPr>
      </p:sp>
      <p:sp>
        <p:nvSpPr>
          <p:cNvPr id="18" name="Shape 13"/>
          <p:cNvSpPr/>
          <p:nvPr/>
        </p:nvSpPr>
        <p:spPr>
          <a:xfrm>
            <a:off x="4325112" y="1645920"/>
            <a:ext cx="640080" cy="640080"/>
          </a:xfrm>
          <a:prstGeom prst="ellipse">
            <a:avLst/>
          </a:prstGeom>
          <a:solidFill>
            <a:srgbClr val="F2A900"/>
          </a:solidFill>
          <a:ln/>
        </p:spPr>
      </p:sp>
      <p:pic>
        <p:nvPicPr>
          <p:cNvPr id="19" name="Image 3" descr="preencoded.png">    </p:cNvPr>
          <p:cNvPicPr>
            <a:picLocks noChangeAspect="1"/>
          </p:cNvPicPr>
          <p:nvPr/>
        </p:nvPicPr>
        <p:blipFill>
          <a:blip r:embed="rId4"/>
          <a:stretch>
            <a:fillRect/>
          </a:stretch>
        </p:blipFill>
        <p:spPr>
          <a:xfrm>
            <a:off x="4489704" y="1810512"/>
            <a:ext cx="310896" cy="310896"/>
          </a:xfrm>
          <a:prstGeom prst="rect">
            <a:avLst/>
          </a:prstGeom>
        </p:spPr>
      </p:pic>
      <p:sp>
        <p:nvSpPr>
          <p:cNvPr id="20" name="Text 14"/>
          <p:cNvSpPr txBox="1"/>
          <p:nvPr/>
        </p:nvSpPr>
        <p:spPr>
          <a:xfrm>
            <a:off x="3410712" y="2423160"/>
            <a:ext cx="2468880" cy="868680"/>
          </a:xfrm>
          <a:prstGeom prst="rect">
            <a:avLst/>
          </a:prstGeom>
          <a:noFill/>
          <a:ln/>
        </p:spPr>
        <p:txBody>
          <a:bodyPr wrap="square" lIns="0" tIns="0" rIns="0" bIns="0" rtlCol="0" anchor="ctr"/>
          <a:lstStyle/>
          <a:p>
            <a:pPr algn="ctr" indent="0" marL="0">
              <a:buNone/>
            </a:pPr>
            <a:r>
              <a:rPr lang="en-US" altLang="en-US" sz="3400" b="1" dirty="0">
                <a:solidFill>
                  <a:srgbClr val="0B4F52"/>
                </a:solidFill>
                <a:latin typeface="Arial" pitchFamily="34" charset="0"/>
                <a:ea typeface="Arial" pitchFamily="34" charset="-122"/>
                <a:cs typeface="Arial" pitchFamily="34" charset="-120"/>
              </a:rPr>
              <a:t>8:00–8:50</a:t>
            </a:r>
            <a:endParaRPr lang="en-US" sz="3400" dirty="0"/>
          </a:p>
        </p:txBody>
      </p:sp>
      <p:sp>
        <p:nvSpPr>
          <p:cNvPr id="21" name="Text 15"/>
          <p:cNvSpPr txBox="1"/>
          <p:nvPr/>
        </p:nvSpPr>
        <p:spPr>
          <a:xfrm>
            <a:off x="3410712" y="3291840"/>
            <a:ext cx="2468880" cy="365760"/>
          </a:xfrm>
          <a:prstGeom prst="rect">
            <a:avLst/>
          </a:prstGeom>
          <a:noFill/>
          <a:ln/>
        </p:spPr>
        <p:txBody>
          <a:bodyPr wrap="square" lIns="0" tIns="0" rIns="0" bIns="0" rtlCol="0" anchor="t"/>
          <a:lstStyle/>
          <a:p>
            <a:pPr rtl="1" algn="ctr" indent="0" marL="0">
              <a:buNone/>
            </a:pPr>
            <a:r>
              <a:rPr lang="ar-SA" altLang="en-US" sz="1600" b="1" dirty="0">
                <a:solidFill>
                  <a:schemeClr val="accent1"/>
                </a:solidFill>
                <a:latin typeface="Arial" pitchFamily="34" charset="0"/>
                <a:ea typeface="Arial" pitchFamily="34" charset="-122"/>
                <a:cs typeface="Arial" pitchFamily="34" charset="-120"/>
              </a:rPr>
              <a:t>صباحاً</a:t>
            </a:r>
            <a:endParaRPr lang="ar-SA" sz="1600" dirty="0"/>
          </a:p>
        </p:txBody>
      </p:sp>
      <p:sp>
        <p:nvSpPr>
          <p:cNvPr id="22" name="Text 16"/>
          <p:cNvSpPr txBox="1"/>
          <p:nvPr/>
        </p:nvSpPr>
        <p:spPr>
          <a:xfrm>
            <a:off x="3502152" y="3703320"/>
            <a:ext cx="2286000" cy="777240"/>
          </a:xfrm>
          <a:prstGeom prst="rect">
            <a:avLst/>
          </a:prstGeom>
          <a:noFill/>
          <a:ln/>
        </p:spPr>
        <p:txBody>
          <a:bodyPr wrap="square" lIns="0" tIns="0" rIns="0" bIns="0" rtlCol="0" anchor="t"/>
          <a:lstStyle/>
          <a:p>
            <a:pPr rtl="1" algn="ctr" indent="0" marL="0">
              <a:buNone/>
            </a:pPr>
            <a:r>
              <a:rPr lang="ar-SA" altLang="en-US" sz="1400" dirty="0">
                <a:solidFill>
                  <a:schemeClr val="tx1"/>
                </a:solidFill>
                <a:latin typeface="Arial" pitchFamily="34" charset="0"/>
                <a:ea typeface="Arial" pitchFamily="34" charset="-122"/>
                <a:cs typeface="Arial" pitchFamily="34" charset="-120"/>
              </a:rPr>
              <a:t>الإتاحة خلال الحصة الصفرية فقط</a:t>
            </a:r>
            <a:endParaRPr lang="ar-SA" sz="1400" dirty="0"/>
          </a:p>
        </p:txBody>
      </p:sp>
      <p:sp>
        <p:nvSpPr>
          <p:cNvPr id="23" name="stat-4"/>
          <p:cNvSpPr/>
          <p:nvPr/>
        </p:nvSpPr>
        <p:spPr>
          <a:xfrm>
            <a:off x="484632" y="1417320"/>
            <a:ext cx="2651760" cy="3200400"/>
          </a:xfrm>
          <a:prstGeom prst="roundRect">
            <a:avLst>
              <a:gd name="adj" fmla="val 4138"/>
            </a:avLst>
          </a:prstGeom>
          <a:solidFill>
            <a:schemeClr val="bg2"/>
          </a:solidFill>
          <a:ln/>
        </p:spPr>
      </p:sp>
      <p:sp>
        <p:nvSpPr>
          <p:cNvPr id="24" name="Shape 18"/>
          <p:cNvSpPr/>
          <p:nvPr/>
        </p:nvSpPr>
        <p:spPr>
          <a:xfrm>
            <a:off x="1490472" y="1645920"/>
            <a:ext cx="640080" cy="640080"/>
          </a:xfrm>
          <a:prstGeom prst="ellipse">
            <a:avLst/>
          </a:prstGeom>
          <a:solidFill>
            <a:srgbClr val="03787C"/>
          </a:solidFill>
          <a:ln/>
        </p:spPr>
      </p:sp>
      <p:pic>
        <p:nvPicPr>
          <p:cNvPr id="25" name="Image 4" descr="preencoded.png">    </p:cNvPr>
          <p:cNvPicPr>
            <a:picLocks noChangeAspect="1"/>
          </p:cNvPicPr>
          <p:nvPr/>
        </p:nvPicPr>
        <p:blipFill>
          <a:blip r:embed="rId5"/>
          <a:stretch>
            <a:fillRect/>
          </a:stretch>
        </p:blipFill>
        <p:spPr>
          <a:xfrm>
            <a:off x="1655064" y="1810512"/>
            <a:ext cx="310896" cy="310896"/>
          </a:xfrm>
          <a:prstGeom prst="rect">
            <a:avLst/>
          </a:prstGeom>
        </p:spPr>
      </p:pic>
      <p:sp>
        <p:nvSpPr>
          <p:cNvPr id="26" name="Text 19"/>
          <p:cNvSpPr txBox="1"/>
          <p:nvPr/>
        </p:nvSpPr>
        <p:spPr>
          <a:xfrm>
            <a:off x="576072"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HoD</a:t>
            </a:r>
            <a:endParaRPr lang="en-US" sz="5400" dirty="0"/>
          </a:p>
        </p:txBody>
      </p:sp>
      <p:sp>
        <p:nvSpPr>
          <p:cNvPr id="27" name="Text 20"/>
          <p:cNvSpPr txBox="1"/>
          <p:nvPr/>
        </p:nvSpPr>
        <p:spPr>
          <a:xfrm>
            <a:off x="576072" y="3291840"/>
            <a:ext cx="2468880" cy="365760"/>
          </a:xfrm>
          <a:prstGeom prst="rect">
            <a:avLst/>
          </a:prstGeom>
          <a:noFill/>
          <a:ln/>
        </p:spPr>
        <p:txBody>
          <a:bodyPr wrap="square" lIns="0" tIns="0" rIns="0" bIns="0" rtlCol="0" anchor="t"/>
          <a:lstStyle/>
          <a:p>
            <a:pPr rtl="1" algn="ctr" indent="0" marL="0">
              <a:buNone/>
            </a:pPr>
            <a:r>
              <a:rPr lang="ar-SA" altLang="en-US" sz="1600" b="1" dirty="0">
                <a:solidFill>
                  <a:schemeClr val="accent1"/>
                </a:solidFill>
                <a:latin typeface="Arial" pitchFamily="34" charset="0"/>
                <a:ea typeface="Arial" pitchFamily="34" charset="-122"/>
                <a:cs typeface="Arial" pitchFamily="34" charset="-120"/>
              </a:rPr>
              <a:t>اعتماد</a:t>
            </a:r>
            <a:endParaRPr lang="ar-SA" sz="1600" dirty="0"/>
          </a:p>
        </p:txBody>
      </p:sp>
      <p:sp>
        <p:nvSpPr>
          <p:cNvPr id="28" name="Text 21"/>
          <p:cNvSpPr txBox="1"/>
          <p:nvPr/>
        </p:nvSpPr>
        <p:spPr>
          <a:xfrm>
            <a:off x="667512" y="3703320"/>
            <a:ext cx="2286000" cy="777240"/>
          </a:xfrm>
          <a:prstGeom prst="rect">
            <a:avLst/>
          </a:prstGeom>
          <a:noFill/>
          <a:ln/>
        </p:spPr>
        <p:txBody>
          <a:bodyPr wrap="square" lIns="0" tIns="0" rIns="0" bIns="0" rtlCol="0" anchor="t"/>
          <a:lstStyle/>
          <a:p>
            <a:pPr rtl="1" algn="ctr" indent="0" marL="0">
              <a:buNone/>
            </a:pPr>
            <a:r>
              <a:rPr lang="ar-SA" altLang="en-US" sz="1400" dirty="0">
                <a:solidFill>
                  <a:schemeClr val="tx1"/>
                </a:solidFill>
                <a:latin typeface="Arial" pitchFamily="34" charset="0"/>
                <a:ea typeface="Arial" pitchFamily="34" charset="-122"/>
                <a:cs typeface="Arial" pitchFamily="34" charset="-120"/>
              </a:rPr>
              <a:t>لا نشر قبل موافقة رئيس القسم</a:t>
            </a:r>
            <a:endParaRPr lang="ar-SA" sz="1400" dirty="0"/>
          </a:p>
        </p:txBody>
      </p:sp>
      <p:sp>
        <p:nvSpPr>
          <p:cNvPr id="29" name="mandatory-box"/>
          <p:cNvSpPr/>
          <p:nvPr/>
        </p:nvSpPr>
        <p:spPr>
          <a:xfrm>
            <a:off x="548640" y="4892040"/>
            <a:ext cx="11091672" cy="1188720"/>
          </a:xfrm>
          <a:prstGeom prst="roundRect">
            <a:avLst>
              <a:gd name="adj" fmla="val 9231"/>
            </a:avLst>
          </a:prstGeom>
          <a:solidFill>
            <a:srgbClr val="F3F0FD"/>
          </a:solidFill>
          <a:ln/>
        </p:spPr>
      </p:sp>
      <p:pic>
        <p:nvPicPr>
          <p:cNvPr id="30" name="Image 5" descr="preencoded.png">    </p:cNvPr>
          <p:cNvPicPr>
            <a:picLocks noChangeAspect="1"/>
          </p:cNvPicPr>
          <p:nvPr/>
        </p:nvPicPr>
        <p:blipFill>
          <a:blip r:embed="rId6"/>
          <a:stretch>
            <a:fillRect/>
          </a:stretch>
        </p:blipFill>
        <p:spPr>
          <a:xfrm>
            <a:off x="11018520" y="5120640"/>
            <a:ext cx="411480" cy="411480"/>
          </a:xfrm>
          <a:prstGeom prst="rect">
            <a:avLst/>
          </a:prstGeom>
        </p:spPr>
      </p:pic>
      <p:sp>
        <p:nvSpPr>
          <p:cNvPr id="31" name="Text 23"/>
          <p:cNvSpPr txBox="1"/>
          <p:nvPr/>
        </p:nvSpPr>
        <p:spPr>
          <a:xfrm>
            <a:off x="822960" y="4983480"/>
            <a:ext cx="10012680" cy="1005840"/>
          </a:xfrm>
          <a:prstGeom prst="rect">
            <a:avLst/>
          </a:prstGeom>
          <a:noFill/>
          <a:ln/>
        </p:spPr>
        <p:txBody>
          <a:bodyPr wrap="square" lIns="0" tIns="0" rIns="0" bIns="0" rtlCol="0" anchor="ctr"/>
          <a:lstStyle/>
          <a:p>
            <a:pPr rtl="1" algn="r" indent="0" marL="0">
              <a:buNone/>
            </a:pPr>
            <a:r>
              <a:rPr lang="ar-SA" altLang="en-US" sz="1500" dirty="0">
                <a:solidFill>
                  <a:schemeClr val="tx1"/>
                </a:solidFill>
                <a:latin typeface="Arial" pitchFamily="34" charset="0"/>
                <a:ea typeface="Arial" pitchFamily="34" charset="-122"/>
                <a:cs typeface="Arial" pitchFamily="34" charset="-120"/>
              </a:rPr>
              <a:t>كل اختبار يُنشأ في Microsoft Forms باستخدام New Quiz، ويُراجَع ويُعتمَد من رئيس القسم، ويُجرَّب مسبقاً، ولا يُنشر إلا في الوقت المعتمد. لا يجوز للمعلم إجراء اختبار غير معتمد.</a:t>
            </a:r>
            <a:endParaRPr lang="ar-SA" sz="1500" dirty="0"/>
          </a:p>
        </p:txBody>
      </p:sp>
      <p:sp>
        <p:nvSpPr>
          <p:cNvPr id="32"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خريطة العمل: ثماني خطوات من الإنشاء إلى النشر</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step-1"/>
          <p:cNvSpPr/>
          <p:nvPr/>
        </p:nvSpPr>
        <p:spPr>
          <a:xfrm>
            <a:off x="9125712" y="1463040"/>
            <a:ext cx="2514600" cy="1920240"/>
          </a:xfrm>
          <a:prstGeom prst="roundRect">
            <a:avLst>
              <a:gd name="adj" fmla="val 5714"/>
            </a:avLst>
          </a:prstGeom>
          <a:solidFill>
            <a:schemeClr val="bg2"/>
          </a:solidFill>
          <a:ln/>
        </p:spPr>
      </p:sp>
      <p:sp>
        <p:nvSpPr>
          <p:cNvPr id="6" name="Shape 3"/>
          <p:cNvSpPr/>
          <p:nvPr/>
        </p:nvSpPr>
        <p:spPr>
          <a:xfrm>
            <a:off x="11137392" y="1600200"/>
            <a:ext cx="384048" cy="384048"/>
          </a:xfrm>
          <a:prstGeom prst="ellipse">
            <a:avLst/>
          </a:prstGeom>
          <a:solidFill>
            <a:schemeClr val="accent1"/>
          </a:solidFill>
          <a:ln w="19050">
            <a:solidFill>
              <a:srgbClr val="FFFFFF"/>
            </a:solidFill>
            <a:prstDash val="solid"/>
          </a:ln>
        </p:spPr>
      </p:sp>
      <p:sp>
        <p:nvSpPr>
          <p:cNvPr id="7" name="Text 4"/>
          <p:cNvSpPr txBox="1"/>
          <p:nvPr/>
        </p:nvSpPr>
        <p:spPr>
          <a:xfrm>
            <a:off x="11137392" y="160020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1</a:t>
            </a:r>
            <a:endParaRPr lang="ar-SA" sz="1300" dirty="0"/>
          </a:p>
        </p:txBody>
      </p:sp>
      <p:sp>
        <p:nvSpPr>
          <p:cNvPr id="8" name="Shape 5"/>
          <p:cNvSpPr/>
          <p:nvPr/>
        </p:nvSpPr>
        <p:spPr>
          <a:xfrm>
            <a:off x="9308592" y="1627632"/>
            <a:ext cx="566928" cy="566928"/>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9445752" y="1764792"/>
            <a:ext cx="292608" cy="292608"/>
          </a:xfrm>
          <a:prstGeom prst="rect">
            <a:avLst/>
          </a:prstGeom>
        </p:spPr>
      </p:pic>
      <p:sp>
        <p:nvSpPr>
          <p:cNvPr id="10" name="Text 6"/>
          <p:cNvSpPr txBox="1"/>
          <p:nvPr/>
        </p:nvSpPr>
        <p:spPr>
          <a:xfrm>
            <a:off x="9262872" y="233172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تسجيل الدخول</a:t>
            </a:r>
            <a:endParaRPr lang="ar-SA" sz="1700" dirty="0"/>
          </a:p>
        </p:txBody>
      </p:sp>
      <p:sp>
        <p:nvSpPr>
          <p:cNvPr id="11" name="Text 7"/>
          <p:cNvSpPr txBox="1"/>
          <p:nvPr/>
        </p:nvSpPr>
        <p:spPr>
          <a:xfrm>
            <a:off x="9262872" y="278892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بحساب المدرسة</a:t>
            </a:r>
            <a:endParaRPr lang="ar-SA" sz="1400" dirty="0"/>
          </a:p>
        </p:txBody>
      </p:sp>
      <p:sp>
        <p:nvSpPr>
          <p:cNvPr id="12" name="Shape 8"/>
          <p:cNvSpPr/>
          <p:nvPr/>
        </p:nvSpPr>
        <p:spPr>
          <a:xfrm>
            <a:off x="8833104" y="2267712"/>
            <a:ext cx="256032" cy="292608"/>
          </a:xfrm>
          <a:prstGeom prst="leftArrow">
            <a:avLst/>
          </a:prstGeom>
          <a:solidFill>
            <a:srgbClr val="F2A900"/>
          </a:solidFill>
          <a:ln/>
        </p:spPr>
      </p:sp>
      <p:sp>
        <p:nvSpPr>
          <p:cNvPr id="13" name="step-2"/>
          <p:cNvSpPr/>
          <p:nvPr/>
        </p:nvSpPr>
        <p:spPr>
          <a:xfrm>
            <a:off x="6272784" y="1463040"/>
            <a:ext cx="2514600" cy="1920240"/>
          </a:xfrm>
          <a:prstGeom prst="roundRect">
            <a:avLst>
              <a:gd name="adj" fmla="val 5714"/>
            </a:avLst>
          </a:prstGeom>
          <a:solidFill>
            <a:schemeClr val="bg2"/>
          </a:solidFill>
          <a:ln/>
        </p:spPr>
      </p:sp>
      <p:sp>
        <p:nvSpPr>
          <p:cNvPr id="14" name="Shape 10"/>
          <p:cNvSpPr/>
          <p:nvPr/>
        </p:nvSpPr>
        <p:spPr>
          <a:xfrm>
            <a:off x="8284464" y="1600200"/>
            <a:ext cx="384048" cy="384048"/>
          </a:xfrm>
          <a:prstGeom prst="ellipse">
            <a:avLst/>
          </a:prstGeom>
          <a:solidFill>
            <a:schemeClr val="accent1"/>
          </a:solidFill>
          <a:ln w="19050">
            <a:solidFill>
              <a:srgbClr val="FFFFFF"/>
            </a:solidFill>
            <a:prstDash val="solid"/>
          </a:ln>
        </p:spPr>
      </p:sp>
      <p:sp>
        <p:nvSpPr>
          <p:cNvPr id="15" name="Text 11"/>
          <p:cNvSpPr txBox="1"/>
          <p:nvPr/>
        </p:nvSpPr>
        <p:spPr>
          <a:xfrm>
            <a:off x="8284464" y="160020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2</a:t>
            </a:r>
            <a:endParaRPr lang="ar-SA" sz="1300" dirty="0"/>
          </a:p>
        </p:txBody>
      </p:sp>
      <p:sp>
        <p:nvSpPr>
          <p:cNvPr id="16" name="Shape 12"/>
          <p:cNvSpPr/>
          <p:nvPr/>
        </p:nvSpPr>
        <p:spPr>
          <a:xfrm>
            <a:off x="6455664" y="1627632"/>
            <a:ext cx="566928" cy="566928"/>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6592824" y="1764792"/>
            <a:ext cx="292608" cy="292608"/>
          </a:xfrm>
          <a:prstGeom prst="rect">
            <a:avLst/>
          </a:prstGeom>
        </p:spPr>
      </p:pic>
      <p:sp>
        <p:nvSpPr>
          <p:cNvPr id="18" name="Text 13"/>
          <p:cNvSpPr txBox="1"/>
          <p:nvPr/>
        </p:nvSpPr>
        <p:spPr>
          <a:xfrm>
            <a:off x="6409944" y="233172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New Quiz</a:t>
            </a:r>
            <a:endParaRPr lang="ar-SA" sz="1700" dirty="0"/>
          </a:p>
        </p:txBody>
      </p:sp>
      <p:sp>
        <p:nvSpPr>
          <p:cNvPr id="19" name="Text 14"/>
          <p:cNvSpPr txBox="1"/>
          <p:nvPr/>
        </p:nvSpPr>
        <p:spPr>
          <a:xfrm>
            <a:off x="6409944" y="278892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اختبار جديد</a:t>
            </a:r>
            <a:endParaRPr lang="ar-SA" sz="1400" dirty="0"/>
          </a:p>
        </p:txBody>
      </p:sp>
      <p:sp>
        <p:nvSpPr>
          <p:cNvPr id="20" name="Shape 15"/>
          <p:cNvSpPr/>
          <p:nvPr/>
        </p:nvSpPr>
        <p:spPr>
          <a:xfrm>
            <a:off x="5980176" y="2267712"/>
            <a:ext cx="256032" cy="292608"/>
          </a:xfrm>
          <a:prstGeom prst="leftArrow">
            <a:avLst/>
          </a:prstGeom>
          <a:solidFill>
            <a:srgbClr val="F2A900"/>
          </a:solidFill>
          <a:ln/>
        </p:spPr>
      </p:sp>
      <p:sp>
        <p:nvSpPr>
          <p:cNvPr id="21" name="step-3"/>
          <p:cNvSpPr/>
          <p:nvPr/>
        </p:nvSpPr>
        <p:spPr>
          <a:xfrm>
            <a:off x="3419856" y="1463040"/>
            <a:ext cx="2514600" cy="1920240"/>
          </a:xfrm>
          <a:prstGeom prst="roundRect">
            <a:avLst>
              <a:gd name="adj" fmla="val 5714"/>
            </a:avLst>
          </a:prstGeom>
          <a:solidFill>
            <a:schemeClr val="bg2"/>
          </a:solidFill>
          <a:ln/>
        </p:spPr>
      </p:sp>
      <p:sp>
        <p:nvSpPr>
          <p:cNvPr id="22" name="Shape 17"/>
          <p:cNvSpPr/>
          <p:nvPr/>
        </p:nvSpPr>
        <p:spPr>
          <a:xfrm>
            <a:off x="5431536" y="1600200"/>
            <a:ext cx="384048" cy="384048"/>
          </a:xfrm>
          <a:prstGeom prst="ellipse">
            <a:avLst/>
          </a:prstGeom>
          <a:solidFill>
            <a:schemeClr val="accent1"/>
          </a:solidFill>
          <a:ln w="19050">
            <a:solidFill>
              <a:srgbClr val="FFFFFF"/>
            </a:solidFill>
            <a:prstDash val="solid"/>
          </a:ln>
        </p:spPr>
      </p:sp>
      <p:sp>
        <p:nvSpPr>
          <p:cNvPr id="23" name="Text 18"/>
          <p:cNvSpPr txBox="1"/>
          <p:nvPr/>
        </p:nvSpPr>
        <p:spPr>
          <a:xfrm>
            <a:off x="5431536" y="160020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3</a:t>
            </a:r>
            <a:endParaRPr lang="ar-SA" sz="1300" dirty="0"/>
          </a:p>
        </p:txBody>
      </p:sp>
      <p:sp>
        <p:nvSpPr>
          <p:cNvPr id="24" name="Shape 19"/>
          <p:cNvSpPr/>
          <p:nvPr/>
        </p:nvSpPr>
        <p:spPr>
          <a:xfrm>
            <a:off x="3602736" y="1627632"/>
            <a:ext cx="566928" cy="566928"/>
          </a:xfrm>
          <a:prstGeom prst="ellipse">
            <a:avLst/>
          </a:prstGeom>
          <a:solidFill>
            <a:srgbClr val="FFFFFF"/>
          </a:solidFill>
          <a:ln/>
        </p:spPr>
      </p:sp>
      <p:pic>
        <p:nvPicPr>
          <p:cNvPr id="25" name="Image 3" descr="preencoded.png">    </p:cNvPr>
          <p:cNvPicPr>
            <a:picLocks noChangeAspect="1"/>
          </p:cNvPicPr>
          <p:nvPr/>
        </p:nvPicPr>
        <p:blipFill>
          <a:blip r:embed="rId4"/>
          <a:stretch>
            <a:fillRect/>
          </a:stretch>
        </p:blipFill>
        <p:spPr>
          <a:xfrm>
            <a:off x="3739896" y="1764792"/>
            <a:ext cx="292608" cy="292608"/>
          </a:xfrm>
          <a:prstGeom prst="rect">
            <a:avLst/>
          </a:prstGeom>
        </p:spPr>
      </p:pic>
      <p:sp>
        <p:nvSpPr>
          <p:cNvPr id="26" name="Text 20"/>
          <p:cNvSpPr txBox="1"/>
          <p:nvPr/>
        </p:nvSpPr>
        <p:spPr>
          <a:xfrm>
            <a:off x="3557016" y="233172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العنوان والتعليمات</a:t>
            </a:r>
            <a:endParaRPr lang="ar-SA" sz="1700" dirty="0"/>
          </a:p>
        </p:txBody>
      </p:sp>
      <p:sp>
        <p:nvSpPr>
          <p:cNvPr id="27" name="Text 21"/>
          <p:cNvSpPr txBox="1"/>
          <p:nvPr/>
        </p:nvSpPr>
        <p:spPr>
          <a:xfrm>
            <a:off x="3557016" y="278892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الصيغة الموحّدة</a:t>
            </a:r>
            <a:endParaRPr lang="ar-SA" sz="1400" dirty="0"/>
          </a:p>
        </p:txBody>
      </p:sp>
      <p:sp>
        <p:nvSpPr>
          <p:cNvPr id="28" name="Shape 22"/>
          <p:cNvSpPr/>
          <p:nvPr/>
        </p:nvSpPr>
        <p:spPr>
          <a:xfrm>
            <a:off x="3127248" y="2267712"/>
            <a:ext cx="256032" cy="292608"/>
          </a:xfrm>
          <a:prstGeom prst="leftArrow">
            <a:avLst/>
          </a:prstGeom>
          <a:solidFill>
            <a:srgbClr val="F2A900"/>
          </a:solidFill>
          <a:ln/>
        </p:spPr>
      </p:sp>
      <p:sp>
        <p:nvSpPr>
          <p:cNvPr id="29" name="step-4"/>
          <p:cNvSpPr/>
          <p:nvPr/>
        </p:nvSpPr>
        <p:spPr>
          <a:xfrm>
            <a:off x="566928" y="1463040"/>
            <a:ext cx="2514600" cy="1920240"/>
          </a:xfrm>
          <a:prstGeom prst="roundRect">
            <a:avLst>
              <a:gd name="adj" fmla="val 5714"/>
            </a:avLst>
          </a:prstGeom>
          <a:solidFill>
            <a:schemeClr val="bg2"/>
          </a:solidFill>
          <a:ln/>
        </p:spPr>
      </p:sp>
      <p:sp>
        <p:nvSpPr>
          <p:cNvPr id="30" name="Shape 24"/>
          <p:cNvSpPr/>
          <p:nvPr/>
        </p:nvSpPr>
        <p:spPr>
          <a:xfrm>
            <a:off x="2578608" y="1600200"/>
            <a:ext cx="384048" cy="384048"/>
          </a:xfrm>
          <a:prstGeom prst="ellipse">
            <a:avLst/>
          </a:prstGeom>
          <a:solidFill>
            <a:schemeClr val="accent1"/>
          </a:solidFill>
          <a:ln w="19050">
            <a:solidFill>
              <a:srgbClr val="FFFFFF"/>
            </a:solidFill>
            <a:prstDash val="solid"/>
          </a:ln>
        </p:spPr>
      </p:sp>
      <p:sp>
        <p:nvSpPr>
          <p:cNvPr id="31" name="Text 25"/>
          <p:cNvSpPr txBox="1"/>
          <p:nvPr/>
        </p:nvSpPr>
        <p:spPr>
          <a:xfrm>
            <a:off x="2578608" y="160020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4</a:t>
            </a:r>
            <a:endParaRPr lang="ar-SA" sz="1300" dirty="0"/>
          </a:p>
        </p:txBody>
      </p:sp>
      <p:sp>
        <p:nvSpPr>
          <p:cNvPr id="32" name="Shape 26"/>
          <p:cNvSpPr/>
          <p:nvPr/>
        </p:nvSpPr>
        <p:spPr>
          <a:xfrm>
            <a:off x="749808" y="1627632"/>
            <a:ext cx="566928" cy="566928"/>
          </a:xfrm>
          <a:prstGeom prst="ellipse">
            <a:avLst/>
          </a:prstGeom>
          <a:solidFill>
            <a:srgbClr val="FFFFFF"/>
          </a:solidFill>
          <a:ln/>
        </p:spPr>
      </p:sp>
      <p:pic>
        <p:nvPicPr>
          <p:cNvPr id="33" name="Image 4" descr="preencoded.png">    </p:cNvPr>
          <p:cNvPicPr>
            <a:picLocks noChangeAspect="1"/>
          </p:cNvPicPr>
          <p:nvPr/>
        </p:nvPicPr>
        <p:blipFill>
          <a:blip r:embed="rId5"/>
          <a:stretch>
            <a:fillRect/>
          </a:stretch>
        </p:blipFill>
        <p:spPr>
          <a:xfrm>
            <a:off x="886968" y="1764792"/>
            <a:ext cx="292608" cy="292608"/>
          </a:xfrm>
          <a:prstGeom prst="rect">
            <a:avLst/>
          </a:prstGeom>
        </p:spPr>
      </p:pic>
      <p:sp>
        <p:nvSpPr>
          <p:cNvPr id="34" name="Text 27"/>
          <p:cNvSpPr txBox="1"/>
          <p:nvPr/>
        </p:nvSpPr>
        <p:spPr>
          <a:xfrm>
            <a:off x="704088" y="233172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الأسئلة والدرجات</a:t>
            </a:r>
            <a:endParaRPr lang="ar-SA" sz="1700" dirty="0"/>
          </a:p>
        </p:txBody>
      </p:sp>
      <p:sp>
        <p:nvSpPr>
          <p:cNvPr id="35" name="Text 28"/>
          <p:cNvSpPr txBox="1"/>
          <p:nvPr/>
        </p:nvSpPr>
        <p:spPr>
          <a:xfrm>
            <a:off x="704088" y="278892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إجابة صحيحة + نقاط</a:t>
            </a:r>
            <a:endParaRPr lang="ar-SA" sz="1400" dirty="0"/>
          </a:p>
        </p:txBody>
      </p:sp>
      <p:sp>
        <p:nvSpPr>
          <p:cNvPr id="36" name="step-5"/>
          <p:cNvSpPr/>
          <p:nvPr/>
        </p:nvSpPr>
        <p:spPr>
          <a:xfrm>
            <a:off x="9125712" y="3840480"/>
            <a:ext cx="2514600" cy="1920240"/>
          </a:xfrm>
          <a:prstGeom prst="roundRect">
            <a:avLst>
              <a:gd name="adj" fmla="val 5714"/>
            </a:avLst>
          </a:prstGeom>
          <a:solidFill>
            <a:schemeClr val="bg2"/>
          </a:solidFill>
          <a:ln/>
        </p:spPr>
      </p:sp>
      <p:sp>
        <p:nvSpPr>
          <p:cNvPr id="37" name="Shape 30"/>
          <p:cNvSpPr/>
          <p:nvPr/>
        </p:nvSpPr>
        <p:spPr>
          <a:xfrm>
            <a:off x="11137392" y="3977640"/>
            <a:ext cx="384048" cy="384048"/>
          </a:xfrm>
          <a:prstGeom prst="ellipse">
            <a:avLst/>
          </a:prstGeom>
          <a:solidFill>
            <a:schemeClr val="accent1"/>
          </a:solidFill>
          <a:ln w="19050">
            <a:solidFill>
              <a:srgbClr val="FFFFFF"/>
            </a:solidFill>
            <a:prstDash val="solid"/>
          </a:ln>
        </p:spPr>
      </p:sp>
      <p:sp>
        <p:nvSpPr>
          <p:cNvPr id="38" name="Text 31"/>
          <p:cNvSpPr txBox="1"/>
          <p:nvPr/>
        </p:nvSpPr>
        <p:spPr>
          <a:xfrm>
            <a:off x="11137392" y="397764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5</a:t>
            </a:r>
            <a:endParaRPr lang="ar-SA" sz="1300" dirty="0"/>
          </a:p>
        </p:txBody>
      </p:sp>
      <p:sp>
        <p:nvSpPr>
          <p:cNvPr id="39" name="Shape 32"/>
          <p:cNvSpPr/>
          <p:nvPr/>
        </p:nvSpPr>
        <p:spPr>
          <a:xfrm>
            <a:off x="9308592" y="4005072"/>
            <a:ext cx="566928" cy="56692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9445752" y="4142232"/>
            <a:ext cx="292608" cy="292608"/>
          </a:xfrm>
          <a:prstGeom prst="rect">
            <a:avLst/>
          </a:prstGeom>
        </p:spPr>
      </p:pic>
      <p:sp>
        <p:nvSpPr>
          <p:cNvPr id="41" name="Text 33"/>
          <p:cNvSpPr txBox="1"/>
          <p:nvPr/>
        </p:nvSpPr>
        <p:spPr>
          <a:xfrm>
            <a:off x="9262872" y="470916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الإعدادات</a:t>
            </a:r>
            <a:endParaRPr lang="ar-SA" sz="1700" dirty="0"/>
          </a:p>
        </p:txBody>
      </p:sp>
      <p:sp>
        <p:nvSpPr>
          <p:cNvPr id="42" name="Text 34"/>
          <p:cNvSpPr txBox="1"/>
          <p:nvPr/>
        </p:nvSpPr>
        <p:spPr>
          <a:xfrm>
            <a:off x="9262872" y="516636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الوصول والوقت والنتائج</a:t>
            </a:r>
            <a:endParaRPr lang="ar-SA" sz="1400" dirty="0"/>
          </a:p>
        </p:txBody>
      </p:sp>
      <p:sp>
        <p:nvSpPr>
          <p:cNvPr id="43" name="Shape 35"/>
          <p:cNvSpPr/>
          <p:nvPr/>
        </p:nvSpPr>
        <p:spPr>
          <a:xfrm>
            <a:off x="8833104" y="4645152"/>
            <a:ext cx="256032" cy="292608"/>
          </a:xfrm>
          <a:prstGeom prst="leftArrow">
            <a:avLst/>
          </a:prstGeom>
          <a:solidFill>
            <a:srgbClr val="F2A900"/>
          </a:solidFill>
          <a:ln/>
        </p:spPr>
      </p:sp>
      <p:sp>
        <p:nvSpPr>
          <p:cNvPr id="44" name="step-6"/>
          <p:cNvSpPr/>
          <p:nvPr/>
        </p:nvSpPr>
        <p:spPr>
          <a:xfrm>
            <a:off x="6272784" y="3840480"/>
            <a:ext cx="2514600" cy="1920240"/>
          </a:xfrm>
          <a:prstGeom prst="roundRect">
            <a:avLst>
              <a:gd name="adj" fmla="val 5714"/>
            </a:avLst>
          </a:prstGeom>
          <a:solidFill>
            <a:schemeClr val="bg2"/>
          </a:solidFill>
          <a:ln/>
        </p:spPr>
      </p:sp>
      <p:sp>
        <p:nvSpPr>
          <p:cNvPr id="45" name="Shape 37"/>
          <p:cNvSpPr/>
          <p:nvPr/>
        </p:nvSpPr>
        <p:spPr>
          <a:xfrm>
            <a:off x="8284464" y="3977640"/>
            <a:ext cx="384048" cy="384048"/>
          </a:xfrm>
          <a:prstGeom prst="ellipse">
            <a:avLst/>
          </a:prstGeom>
          <a:solidFill>
            <a:schemeClr val="accent1"/>
          </a:solidFill>
          <a:ln w="19050">
            <a:solidFill>
              <a:srgbClr val="FFFFFF"/>
            </a:solidFill>
            <a:prstDash val="solid"/>
          </a:ln>
        </p:spPr>
      </p:sp>
      <p:sp>
        <p:nvSpPr>
          <p:cNvPr id="46" name="Text 38"/>
          <p:cNvSpPr txBox="1"/>
          <p:nvPr/>
        </p:nvSpPr>
        <p:spPr>
          <a:xfrm>
            <a:off x="8284464" y="397764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6</a:t>
            </a:r>
            <a:endParaRPr lang="ar-SA" sz="1300" dirty="0"/>
          </a:p>
        </p:txBody>
      </p:sp>
      <p:sp>
        <p:nvSpPr>
          <p:cNvPr id="47" name="Shape 39"/>
          <p:cNvSpPr/>
          <p:nvPr/>
        </p:nvSpPr>
        <p:spPr>
          <a:xfrm>
            <a:off x="6455664" y="4005072"/>
            <a:ext cx="566928" cy="566928"/>
          </a:xfrm>
          <a:prstGeom prst="ellipse">
            <a:avLst/>
          </a:prstGeom>
          <a:solidFill>
            <a:srgbClr val="FFFFFF"/>
          </a:solidFill>
          <a:ln/>
        </p:spPr>
      </p:sp>
      <p:pic>
        <p:nvPicPr>
          <p:cNvPr id="48" name="Image 6" descr="preencoded.png">    </p:cNvPr>
          <p:cNvPicPr>
            <a:picLocks noChangeAspect="1"/>
          </p:cNvPicPr>
          <p:nvPr/>
        </p:nvPicPr>
        <p:blipFill>
          <a:blip r:embed="rId7"/>
          <a:stretch>
            <a:fillRect/>
          </a:stretch>
        </p:blipFill>
        <p:spPr>
          <a:xfrm>
            <a:off x="6592824" y="4142232"/>
            <a:ext cx="292608" cy="292608"/>
          </a:xfrm>
          <a:prstGeom prst="rect">
            <a:avLst/>
          </a:prstGeom>
        </p:spPr>
      </p:pic>
      <p:sp>
        <p:nvSpPr>
          <p:cNvPr id="49" name="Text 40"/>
          <p:cNvSpPr txBox="1"/>
          <p:nvPr/>
        </p:nvSpPr>
        <p:spPr>
          <a:xfrm>
            <a:off x="6409944" y="470916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المعاينة والتجربة</a:t>
            </a:r>
            <a:endParaRPr lang="ar-SA" sz="1700" dirty="0"/>
          </a:p>
        </p:txBody>
      </p:sp>
      <p:sp>
        <p:nvSpPr>
          <p:cNvPr id="50" name="Text 41"/>
          <p:cNvSpPr txBox="1"/>
          <p:nvPr/>
        </p:nvSpPr>
        <p:spPr>
          <a:xfrm>
            <a:off x="6409944" y="516636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عرض الطالب</a:t>
            </a:r>
            <a:endParaRPr lang="ar-SA" sz="1400" dirty="0"/>
          </a:p>
        </p:txBody>
      </p:sp>
      <p:sp>
        <p:nvSpPr>
          <p:cNvPr id="51" name="Shape 42"/>
          <p:cNvSpPr/>
          <p:nvPr/>
        </p:nvSpPr>
        <p:spPr>
          <a:xfrm>
            <a:off x="5980176" y="4645152"/>
            <a:ext cx="256032" cy="292608"/>
          </a:xfrm>
          <a:prstGeom prst="leftArrow">
            <a:avLst/>
          </a:prstGeom>
          <a:solidFill>
            <a:srgbClr val="F2A900"/>
          </a:solidFill>
          <a:ln/>
        </p:spPr>
      </p:sp>
      <p:sp>
        <p:nvSpPr>
          <p:cNvPr id="52" name="step-7"/>
          <p:cNvSpPr/>
          <p:nvPr/>
        </p:nvSpPr>
        <p:spPr>
          <a:xfrm>
            <a:off x="3419856" y="3840480"/>
            <a:ext cx="2514600" cy="1920240"/>
          </a:xfrm>
          <a:prstGeom prst="roundRect">
            <a:avLst>
              <a:gd name="adj" fmla="val 5714"/>
            </a:avLst>
          </a:prstGeom>
          <a:solidFill>
            <a:schemeClr val="bg2"/>
          </a:solidFill>
          <a:ln/>
        </p:spPr>
      </p:sp>
      <p:sp>
        <p:nvSpPr>
          <p:cNvPr id="53" name="Shape 44"/>
          <p:cNvSpPr/>
          <p:nvPr/>
        </p:nvSpPr>
        <p:spPr>
          <a:xfrm>
            <a:off x="5431536" y="3977640"/>
            <a:ext cx="384048" cy="384048"/>
          </a:xfrm>
          <a:prstGeom prst="ellipse">
            <a:avLst/>
          </a:prstGeom>
          <a:solidFill>
            <a:schemeClr val="accent1"/>
          </a:solidFill>
          <a:ln w="19050">
            <a:solidFill>
              <a:srgbClr val="FFFFFF"/>
            </a:solidFill>
            <a:prstDash val="solid"/>
          </a:ln>
        </p:spPr>
      </p:sp>
      <p:sp>
        <p:nvSpPr>
          <p:cNvPr id="54" name="Text 45"/>
          <p:cNvSpPr txBox="1"/>
          <p:nvPr/>
        </p:nvSpPr>
        <p:spPr>
          <a:xfrm>
            <a:off x="5431536" y="397764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7</a:t>
            </a:r>
            <a:endParaRPr lang="ar-SA" sz="1300" dirty="0"/>
          </a:p>
        </p:txBody>
      </p:sp>
      <p:sp>
        <p:nvSpPr>
          <p:cNvPr id="55" name="Shape 46"/>
          <p:cNvSpPr/>
          <p:nvPr/>
        </p:nvSpPr>
        <p:spPr>
          <a:xfrm>
            <a:off x="3602736" y="4005072"/>
            <a:ext cx="566928" cy="566928"/>
          </a:xfrm>
          <a:prstGeom prst="ellipse">
            <a:avLst/>
          </a:prstGeom>
          <a:solidFill>
            <a:srgbClr val="FFFFFF"/>
          </a:solidFill>
          <a:ln/>
        </p:spPr>
      </p:sp>
      <p:pic>
        <p:nvPicPr>
          <p:cNvPr id="56" name="Image 7" descr="preencoded.png">    </p:cNvPr>
          <p:cNvPicPr>
            <a:picLocks noChangeAspect="1"/>
          </p:cNvPicPr>
          <p:nvPr/>
        </p:nvPicPr>
        <p:blipFill>
          <a:blip r:embed="rId8"/>
          <a:stretch>
            <a:fillRect/>
          </a:stretch>
        </p:blipFill>
        <p:spPr>
          <a:xfrm>
            <a:off x="3739896" y="4142232"/>
            <a:ext cx="292608" cy="292608"/>
          </a:xfrm>
          <a:prstGeom prst="rect">
            <a:avLst/>
          </a:prstGeom>
        </p:spPr>
      </p:pic>
      <p:sp>
        <p:nvSpPr>
          <p:cNvPr id="57" name="Text 47"/>
          <p:cNvSpPr txBox="1"/>
          <p:nvPr/>
        </p:nvSpPr>
        <p:spPr>
          <a:xfrm>
            <a:off x="3557016" y="470916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إرسال لرئيس القسم</a:t>
            </a:r>
            <a:endParaRPr lang="ar-SA" sz="1700" dirty="0"/>
          </a:p>
        </p:txBody>
      </p:sp>
      <p:sp>
        <p:nvSpPr>
          <p:cNvPr id="58" name="Text 48"/>
          <p:cNvSpPr txBox="1"/>
          <p:nvPr/>
        </p:nvSpPr>
        <p:spPr>
          <a:xfrm>
            <a:off x="3557016" y="516636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المراجعة والاعتماد</a:t>
            </a:r>
            <a:endParaRPr lang="ar-SA" sz="1400" dirty="0"/>
          </a:p>
        </p:txBody>
      </p:sp>
      <p:sp>
        <p:nvSpPr>
          <p:cNvPr id="59" name="Shape 49"/>
          <p:cNvSpPr/>
          <p:nvPr/>
        </p:nvSpPr>
        <p:spPr>
          <a:xfrm>
            <a:off x="3127248" y="4645152"/>
            <a:ext cx="256032" cy="292608"/>
          </a:xfrm>
          <a:prstGeom prst="leftArrow">
            <a:avLst/>
          </a:prstGeom>
          <a:solidFill>
            <a:srgbClr val="F2A900"/>
          </a:solidFill>
          <a:ln/>
        </p:spPr>
      </p:sp>
      <p:sp>
        <p:nvSpPr>
          <p:cNvPr id="60" name="step-8"/>
          <p:cNvSpPr/>
          <p:nvPr/>
        </p:nvSpPr>
        <p:spPr>
          <a:xfrm>
            <a:off x="566928" y="3840480"/>
            <a:ext cx="2514600" cy="1920240"/>
          </a:xfrm>
          <a:prstGeom prst="roundRect">
            <a:avLst>
              <a:gd name="adj" fmla="val 5714"/>
            </a:avLst>
          </a:prstGeom>
          <a:solidFill>
            <a:srgbClr val="FFF4D6"/>
          </a:solidFill>
          <a:ln/>
        </p:spPr>
      </p:sp>
      <p:sp>
        <p:nvSpPr>
          <p:cNvPr id="61" name="Shape 51"/>
          <p:cNvSpPr/>
          <p:nvPr/>
        </p:nvSpPr>
        <p:spPr>
          <a:xfrm>
            <a:off x="2578608" y="3977640"/>
            <a:ext cx="384048" cy="384048"/>
          </a:xfrm>
          <a:prstGeom prst="ellipse">
            <a:avLst/>
          </a:prstGeom>
          <a:solidFill>
            <a:schemeClr val="accent1"/>
          </a:solidFill>
          <a:ln w="19050">
            <a:solidFill>
              <a:srgbClr val="FFFFFF"/>
            </a:solidFill>
            <a:prstDash val="solid"/>
          </a:ln>
        </p:spPr>
      </p:sp>
      <p:sp>
        <p:nvSpPr>
          <p:cNvPr id="62" name="Text 52"/>
          <p:cNvSpPr txBox="1"/>
          <p:nvPr/>
        </p:nvSpPr>
        <p:spPr>
          <a:xfrm>
            <a:off x="2578608" y="397764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8</a:t>
            </a:r>
            <a:endParaRPr lang="ar-SA" sz="1300" dirty="0"/>
          </a:p>
        </p:txBody>
      </p:sp>
      <p:sp>
        <p:nvSpPr>
          <p:cNvPr id="63" name="Shape 53"/>
          <p:cNvSpPr/>
          <p:nvPr/>
        </p:nvSpPr>
        <p:spPr>
          <a:xfrm>
            <a:off x="749808" y="4005072"/>
            <a:ext cx="566928" cy="566928"/>
          </a:xfrm>
          <a:prstGeom prst="ellipse">
            <a:avLst/>
          </a:prstGeom>
          <a:solidFill>
            <a:srgbClr val="FFFFFF"/>
          </a:solidFill>
          <a:ln/>
        </p:spPr>
      </p:sp>
      <p:pic>
        <p:nvPicPr>
          <p:cNvPr id="64" name="Image 8" descr="preencoded.png">    </p:cNvPr>
          <p:cNvPicPr>
            <a:picLocks noChangeAspect="1"/>
          </p:cNvPicPr>
          <p:nvPr/>
        </p:nvPicPr>
        <p:blipFill>
          <a:blip r:embed="rId9"/>
          <a:stretch>
            <a:fillRect/>
          </a:stretch>
        </p:blipFill>
        <p:spPr>
          <a:xfrm>
            <a:off x="886968" y="4142232"/>
            <a:ext cx="292608" cy="292608"/>
          </a:xfrm>
          <a:prstGeom prst="rect">
            <a:avLst/>
          </a:prstGeom>
        </p:spPr>
      </p:pic>
      <p:sp>
        <p:nvSpPr>
          <p:cNvPr id="65" name="Text 54"/>
          <p:cNvSpPr txBox="1"/>
          <p:nvPr/>
        </p:nvSpPr>
        <p:spPr>
          <a:xfrm>
            <a:off x="704088" y="4709160"/>
            <a:ext cx="22402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نشر رابط الإجابة</a:t>
            </a:r>
            <a:endParaRPr lang="ar-SA" sz="1700" dirty="0"/>
          </a:p>
        </p:txBody>
      </p:sp>
      <p:sp>
        <p:nvSpPr>
          <p:cNvPr id="66" name="Text 55"/>
          <p:cNvSpPr txBox="1"/>
          <p:nvPr/>
        </p:nvSpPr>
        <p:spPr>
          <a:xfrm>
            <a:off x="704088" y="5166360"/>
            <a:ext cx="22402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الساعة 8:00</a:t>
            </a:r>
            <a:endParaRPr lang="ar-SA" sz="1400" dirty="0"/>
          </a:p>
        </p:txBody>
      </p:sp>
      <p:sp>
        <p:nvSpPr>
          <p:cNvPr id="6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تسجيل الدخول واختيار New Quiz</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1</a:t>
            </a:r>
            <a:endParaRPr lang="ar-SA" sz="2400" dirty="0"/>
          </a:p>
        </p:txBody>
      </p:sp>
      <p:sp>
        <p:nvSpPr>
          <p:cNvPr id="5" name="Shape 3"/>
          <p:cNvSpPr/>
          <p:nvPr/>
        </p:nvSpPr>
        <p:spPr>
          <a:xfrm>
            <a:off x="548640" y="1417320"/>
            <a:ext cx="7315200" cy="2203704"/>
          </a:xfrm>
          <a:prstGeom prst="rect">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pic>
        <p:nvPicPr>
          <p:cNvPr id="6" name="forms-home-screenshot" descr="home.png">    </p:cNvPr>
          <p:cNvPicPr>
            <a:picLocks noChangeAspect="1"/>
          </p:cNvPicPr>
          <p:nvPr/>
        </p:nvPicPr>
        <p:blipFill>
          <a:blip r:embed="rId1"/>
          <a:stretch>
            <a:fillRect/>
          </a:stretch>
        </p:blipFill>
        <p:spPr>
          <a:xfrm>
            <a:off x="548640" y="1417320"/>
            <a:ext cx="7315200" cy="2203704"/>
          </a:xfrm>
          <a:prstGeom prst="rect">
            <a:avLst/>
          </a:prstGeom>
        </p:spPr>
      </p:pic>
      <p:sp>
        <p:nvSpPr>
          <p:cNvPr id="7" name="highlight"/>
          <p:cNvSpPr/>
          <p:nvPr/>
        </p:nvSpPr>
        <p:spPr>
          <a:xfrm>
            <a:off x="783729" y="1993289"/>
            <a:ext cx="619069" cy="227253"/>
          </a:xfrm>
          <a:prstGeom prst="roundRect">
            <a:avLst>
              <a:gd name="adj" fmla="val 24142"/>
            </a:avLst>
          </a:prstGeom>
          <a:ln w="31750">
            <a:solidFill>
              <a:srgbClr val="F2A900"/>
            </a:solidFill>
            <a:prstDash val="solid"/>
          </a:ln>
        </p:spPr>
      </p:sp>
      <p:sp>
        <p:nvSpPr>
          <p:cNvPr id="8" name="Shape 5"/>
          <p:cNvSpPr/>
          <p:nvPr/>
        </p:nvSpPr>
        <p:spPr>
          <a:xfrm>
            <a:off x="600849" y="1810409"/>
            <a:ext cx="292608" cy="292608"/>
          </a:xfrm>
          <a:prstGeom prst="ellipse">
            <a:avLst/>
          </a:prstGeom>
          <a:solidFill>
            <a:schemeClr val="accent5"/>
          </a:solidFill>
          <a:ln w="19050">
            <a:solidFill>
              <a:srgbClr val="FFFFFF"/>
            </a:solidFill>
            <a:prstDash val="solid"/>
          </a:ln>
        </p:spPr>
      </p:sp>
      <p:sp>
        <p:nvSpPr>
          <p:cNvPr id="9" name="Text 6"/>
          <p:cNvSpPr txBox="1"/>
          <p:nvPr/>
        </p:nvSpPr>
        <p:spPr>
          <a:xfrm>
            <a:off x="600849" y="1810409"/>
            <a:ext cx="292608" cy="29260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a:t>
            </a:r>
            <a:endParaRPr lang="ar-SA" sz="1300" dirty="0"/>
          </a:p>
        </p:txBody>
      </p:sp>
      <p:sp>
        <p:nvSpPr>
          <p:cNvPr id="10" name="Shape 7"/>
          <p:cNvSpPr/>
          <p:nvPr/>
        </p:nvSpPr>
        <p:spPr>
          <a:xfrm>
            <a:off x="1426307" y="1993289"/>
            <a:ext cx="619069" cy="227253"/>
          </a:xfrm>
          <a:prstGeom prst="roundRect">
            <a:avLst>
              <a:gd name="adj" fmla="val 24142"/>
            </a:avLst>
          </a:prstGeom>
          <a:ln w="31750">
            <a:solidFill>
              <a:srgbClr val="C0392B"/>
            </a:solidFill>
            <a:prstDash val="dash"/>
          </a:ln>
        </p:spPr>
      </p:sp>
      <p:sp>
        <p:nvSpPr>
          <p:cNvPr id="11" name="Shape 8"/>
          <p:cNvSpPr/>
          <p:nvPr/>
        </p:nvSpPr>
        <p:spPr>
          <a:xfrm>
            <a:off x="1935648" y="1810409"/>
            <a:ext cx="292608" cy="292608"/>
          </a:xfrm>
          <a:prstGeom prst="ellipse">
            <a:avLst/>
          </a:prstGeom>
          <a:solidFill>
            <a:schemeClr val="accent4"/>
          </a:solidFill>
          <a:ln w="19050">
            <a:solidFill>
              <a:srgbClr val="FFFFFF"/>
            </a:solidFill>
            <a:prstDash val="solid"/>
          </a:ln>
        </p:spPr>
      </p:sp>
      <p:sp>
        <p:nvSpPr>
          <p:cNvPr id="12" name="Text 9"/>
          <p:cNvSpPr txBox="1"/>
          <p:nvPr/>
        </p:nvSpPr>
        <p:spPr>
          <a:xfrm>
            <a:off x="1935648" y="1810409"/>
            <a:ext cx="292608" cy="292608"/>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a:t>
            </a:r>
            <a:endParaRPr lang="ar-SA" sz="1300" dirty="0"/>
          </a:p>
        </p:txBody>
      </p:sp>
      <p:sp>
        <p:nvSpPr>
          <p:cNvPr id="13" name="do-card"/>
          <p:cNvSpPr/>
          <p:nvPr/>
        </p:nvSpPr>
        <p:spPr>
          <a:xfrm>
            <a:off x="4343400" y="3931920"/>
            <a:ext cx="3520440" cy="1051560"/>
          </a:xfrm>
          <a:prstGeom prst="roundRect">
            <a:avLst>
              <a:gd name="adj" fmla="val 10435"/>
            </a:avLst>
          </a:prstGeom>
          <a:solidFill>
            <a:srgbClr val="E7F4EC"/>
          </a:solidFill>
          <a:ln/>
        </p:spPr>
      </p:sp>
      <p:pic>
        <p:nvPicPr>
          <p:cNvPr id="14" name="Image 1" descr="preencoded.png">    </p:cNvPr>
          <p:cNvPicPr>
            <a:picLocks noChangeAspect="1"/>
          </p:cNvPicPr>
          <p:nvPr/>
        </p:nvPicPr>
        <p:blipFill>
          <a:blip r:embed="rId2"/>
          <a:stretch>
            <a:fillRect/>
          </a:stretch>
        </p:blipFill>
        <p:spPr>
          <a:xfrm>
            <a:off x="7360920" y="4069080"/>
            <a:ext cx="329184" cy="329184"/>
          </a:xfrm>
          <a:prstGeom prst="rect">
            <a:avLst/>
          </a:prstGeom>
        </p:spPr>
      </p:pic>
      <p:sp>
        <p:nvSpPr>
          <p:cNvPr id="15" name="Text 11"/>
          <p:cNvSpPr txBox="1"/>
          <p:nvPr/>
        </p:nvSpPr>
        <p:spPr>
          <a:xfrm>
            <a:off x="4480560" y="4023360"/>
            <a:ext cx="2788920" cy="365760"/>
          </a:xfrm>
          <a:prstGeom prst="rect">
            <a:avLst/>
          </a:prstGeom>
          <a:noFill/>
          <a:ln/>
        </p:spPr>
        <p:txBody>
          <a:bodyPr wrap="square" lIns="0" tIns="0" rIns="0" bIns="0" rtlCol="0" anchor="t"/>
          <a:lstStyle/>
          <a:p>
            <a:pPr rtl="1" algn="r" indent="0" marL="0">
              <a:buNone/>
            </a:pPr>
            <a:r>
              <a:rPr lang="ar-SA" altLang="en-US" sz="1600" b="1" dirty="0">
                <a:solidFill>
                  <a:schemeClr val="accent5"/>
                </a:solidFill>
                <a:latin typeface="Arial" pitchFamily="34" charset="0"/>
                <a:ea typeface="Arial" pitchFamily="34" charset="-122"/>
                <a:cs typeface="Arial" pitchFamily="34" charset="-120"/>
              </a:rPr>
              <a:t>New Quiz</a:t>
            </a:r>
            <a:endParaRPr lang="ar-SA" sz="1600" dirty="0"/>
          </a:p>
        </p:txBody>
      </p:sp>
      <p:sp>
        <p:nvSpPr>
          <p:cNvPr id="16" name="Text 12"/>
          <p:cNvSpPr txBox="1"/>
          <p:nvPr/>
        </p:nvSpPr>
        <p:spPr>
          <a:xfrm>
            <a:off x="4480560" y="4434840"/>
            <a:ext cx="320040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يدعم الدرجات والإجابات الصحيحة</a:t>
            </a:r>
            <a:endParaRPr lang="ar-SA" sz="1400" dirty="0"/>
          </a:p>
        </p:txBody>
      </p:sp>
      <p:sp>
        <p:nvSpPr>
          <p:cNvPr id="17" name="dont-card"/>
          <p:cNvSpPr/>
          <p:nvPr/>
        </p:nvSpPr>
        <p:spPr>
          <a:xfrm>
            <a:off x="548640" y="3931920"/>
            <a:ext cx="3520440" cy="1051560"/>
          </a:xfrm>
          <a:prstGeom prst="roundRect">
            <a:avLst>
              <a:gd name="adj" fmla="val 10435"/>
            </a:avLst>
          </a:prstGeom>
          <a:solidFill>
            <a:srgbClr val="FBEAE8"/>
          </a:solidFill>
          <a:ln/>
        </p:spPr>
      </p:sp>
      <p:pic>
        <p:nvPicPr>
          <p:cNvPr id="18" name="Image 2" descr="preencoded.png">    </p:cNvPr>
          <p:cNvPicPr>
            <a:picLocks noChangeAspect="1"/>
          </p:cNvPicPr>
          <p:nvPr/>
        </p:nvPicPr>
        <p:blipFill>
          <a:blip r:embed="rId3"/>
          <a:stretch>
            <a:fillRect/>
          </a:stretch>
        </p:blipFill>
        <p:spPr>
          <a:xfrm>
            <a:off x="3566160" y="4069080"/>
            <a:ext cx="329184" cy="329184"/>
          </a:xfrm>
          <a:prstGeom prst="rect">
            <a:avLst/>
          </a:prstGeom>
        </p:spPr>
      </p:pic>
      <p:sp>
        <p:nvSpPr>
          <p:cNvPr id="19" name="Text 14"/>
          <p:cNvSpPr txBox="1"/>
          <p:nvPr/>
        </p:nvSpPr>
        <p:spPr>
          <a:xfrm>
            <a:off x="685800" y="4023360"/>
            <a:ext cx="2788920" cy="365760"/>
          </a:xfrm>
          <a:prstGeom prst="rect">
            <a:avLst/>
          </a:prstGeom>
          <a:noFill/>
          <a:ln/>
        </p:spPr>
        <p:txBody>
          <a:bodyPr wrap="square" lIns="0" tIns="0" rIns="0" bIns="0" rtlCol="0" anchor="t"/>
          <a:lstStyle/>
          <a:p>
            <a:pPr rtl="1" algn="r" indent="0" marL="0">
              <a:buNone/>
            </a:pPr>
            <a:r>
              <a:rPr lang="ar-SA" altLang="en-US" sz="1600" b="1" dirty="0">
                <a:solidFill>
                  <a:schemeClr val="accent4"/>
                </a:solidFill>
                <a:latin typeface="Arial" pitchFamily="34" charset="0"/>
                <a:ea typeface="Arial" pitchFamily="34" charset="-122"/>
                <a:cs typeface="Arial" pitchFamily="34" charset="-120"/>
              </a:rPr>
              <a:t>New Form</a:t>
            </a:r>
            <a:endParaRPr lang="ar-SA" sz="1600" dirty="0"/>
          </a:p>
        </p:txBody>
      </p:sp>
      <p:sp>
        <p:nvSpPr>
          <p:cNvPr id="20" name="Text 15"/>
          <p:cNvSpPr txBox="1"/>
          <p:nvPr/>
        </p:nvSpPr>
        <p:spPr>
          <a:xfrm>
            <a:off x="685800" y="4434840"/>
            <a:ext cx="320040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لا يُستخدم للاختبارات</a:t>
            </a:r>
            <a:endParaRPr lang="ar-SA" sz="1400" dirty="0"/>
          </a:p>
        </p:txBody>
      </p:sp>
      <p:sp>
        <p:nvSpPr>
          <p:cNvPr id="21" name="url-bar"/>
          <p:cNvSpPr/>
          <p:nvPr/>
        </p:nvSpPr>
        <p:spPr>
          <a:xfrm>
            <a:off x="548640" y="5257800"/>
            <a:ext cx="7315200" cy="777240"/>
          </a:xfrm>
          <a:prstGeom prst="roundRect">
            <a:avLst>
              <a:gd name="adj" fmla="val 14118"/>
            </a:avLst>
          </a:prstGeom>
          <a:solidFill>
            <a:srgbClr val="F3F2F1"/>
          </a:solidFill>
          <a:ln/>
        </p:spPr>
      </p:sp>
      <p:pic>
        <p:nvPicPr>
          <p:cNvPr id="22" name="Image 3" descr="preencoded.png">    </p:cNvPr>
          <p:cNvPicPr>
            <a:picLocks noChangeAspect="1"/>
          </p:cNvPicPr>
          <p:nvPr/>
        </p:nvPicPr>
        <p:blipFill>
          <a:blip r:embed="rId4"/>
          <a:stretch>
            <a:fillRect/>
          </a:stretch>
        </p:blipFill>
        <p:spPr>
          <a:xfrm>
            <a:off x="777240" y="5486400"/>
            <a:ext cx="274320" cy="274320"/>
          </a:xfrm>
          <a:prstGeom prst="rect">
            <a:avLst/>
          </a:prstGeom>
        </p:spPr>
      </p:pic>
      <p:sp>
        <p:nvSpPr>
          <p:cNvPr id="23" name="Text 17"/>
          <p:cNvSpPr txBox="1"/>
          <p:nvPr/>
        </p:nvSpPr>
        <p:spPr>
          <a:xfrm>
            <a:off x="1188720" y="5257800"/>
            <a:ext cx="3291840" cy="777240"/>
          </a:xfrm>
          <a:prstGeom prst="rect">
            <a:avLst/>
          </a:prstGeom>
          <a:noFill/>
          <a:ln/>
        </p:spPr>
        <p:txBody>
          <a:bodyPr wrap="square" lIns="0" tIns="0" rIns="0" bIns="0" rtlCol="0" anchor="ctr"/>
          <a:lstStyle/>
          <a:p>
            <a:pPr algn="l" indent="0" marL="0">
              <a:buNone/>
            </a:pPr>
            <a:r>
              <a:rPr lang="en-US" altLang="en-US" sz="1600" b="1" dirty="0">
                <a:solidFill>
                  <a:srgbClr val="323130"/>
                </a:solidFill>
                <a:latin typeface="Arial" pitchFamily="34" charset="0"/>
                <a:ea typeface="Arial" pitchFamily="34" charset="-122"/>
                <a:cs typeface="Arial" pitchFamily="34" charset="-120"/>
              </a:rPr>
              <a:t>forms.cloud.microsoft</a:t>
            </a:r>
            <a:endParaRPr lang="en-US" sz="1600" dirty="0"/>
          </a:p>
        </p:txBody>
      </p:sp>
      <p:sp>
        <p:nvSpPr>
          <p:cNvPr id="24" name="Text 18"/>
          <p:cNvSpPr txBox="1"/>
          <p:nvPr/>
        </p:nvSpPr>
        <p:spPr>
          <a:xfrm>
            <a:off x="4206240" y="5257800"/>
            <a:ext cx="3520440" cy="777240"/>
          </a:xfrm>
          <a:prstGeom prst="rect">
            <a:avLst/>
          </a:prstGeom>
          <a:noFill/>
          <a:ln/>
        </p:spPr>
        <p:txBody>
          <a:bodyPr wrap="square" lIns="0" tIns="0" rIns="0" bIns="0" rtlCol="0" anchor="ctr"/>
          <a:lstStyle/>
          <a:p>
            <a:pPr rtl="1" algn="r" indent="0" marL="0">
              <a:buNone/>
            </a:pPr>
            <a:r>
              <a:rPr lang="ar-SA" altLang="en-US" sz="1200" dirty="0">
                <a:solidFill>
                  <a:schemeClr val="accent6"/>
                </a:solidFill>
                <a:latin typeface="Arial" pitchFamily="34" charset="0"/>
                <a:ea typeface="Arial" pitchFamily="34" charset="-122"/>
                <a:cs typeface="Arial" pitchFamily="34" charset="-120"/>
              </a:rPr>
              <a:t>العنوان الجديد، والتطبيق نفسه (forms.office.com سابقاً)</a:t>
            </a:r>
            <a:endParaRPr lang="ar-SA" sz="1200" dirty="0"/>
          </a:p>
        </p:txBody>
      </p:sp>
      <p:sp>
        <p:nvSpPr>
          <p:cNvPr id="25" name="Shape 19"/>
          <p:cNvSpPr/>
          <p:nvPr/>
        </p:nvSpPr>
        <p:spPr>
          <a:xfrm>
            <a:off x="11201400" y="1463040"/>
            <a:ext cx="438912" cy="438912"/>
          </a:xfrm>
          <a:prstGeom prst="ellipse">
            <a:avLst/>
          </a:prstGeom>
          <a:solidFill>
            <a:schemeClr val="accent1"/>
          </a:solidFill>
          <a:ln w="19050">
            <a:solidFill>
              <a:srgbClr val="FFFFFF"/>
            </a:solidFill>
            <a:prstDash val="solid"/>
          </a:ln>
        </p:spPr>
      </p:sp>
      <p:sp>
        <p:nvSpPr>
          <p:cNvPr id="26" name="Text 20"/>
          <p:cNvSpPr txBox="1"/>
          <p:nvPr/>
        </p:nvSpPr>
        <p:spPr>
          <a:xfrm>
            <a:off x="11201400" y="1463040"/>
            <a:ext cx="438912" cy="438912"/>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Arial" pitchFamily="34" charset="0"/>
                <a:ea typeface="Arial" pitchFamily="34" charset="-122"/>
                <a:cs typeface="Arial" pitchFamily="34" charset="-120"/>
              </a:rPr>
              <a:t>1</a:t>
            </a:r>
            <a:endParaRPr lang="ar-SA" sz="1600" dirty="0"/>
          </a:p>
        </p:txBody>
      </p:sp>
      <p:sp>
        <p:nvSpPr>
          <p:cNvPr id="27" name="Text 21"/>
          <p:cNvSpPr txBox="1"/>
          <p:nvPr/>
        </p:nvSpPr>
        <p:spPr>
          <a:xfrm>
            <a:off x="8183880" y="1444752"/>
            <a:ext cx="29260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افتح Microsoft Forms</a:t>
            </a:r>
            <a:endParaRPr lang="ar-SA" sz="1700" dirty="0"/>
          </a:p>
        </p:txBody>
      </p:sp>
      <p:sp>
        <p:nvSpPr>
          <p:cNvPr id="28" name="Text 22"/>
          <p:cNvSpPr txBox="1"/>
          <p:nvPr/>
        </p:nvSpPr>
        <p:spPr>
          <a:xfrm>
            <a:off x="8183880" y="1920240"/>
            <a:ext cx="2926080" cy="82296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forms.cloud.microsoft</a:t>
            </a:r>
            <a:endParaRPr lang="ar-SA" sz="1400" dirty="0"/>
          </a:p>
        </p:txBody>
      </p:sp>
      <p:sp>
        <p:nvSpPr>
          <p:cNvPr id="29" name="Shape 23"/>
          <p:cNvSpPr/>
          <p:nvPr/>
        </p:nvSpPr>
        <p:spPr>
          <a:xfrm>
            <a:off x="11201400" y="3017520"/>
            <a:ext cx="438912" cy="438912"/>
          </a:xfrm>
          <a:prstGeom prst="ellipse">
            <a:avLst/>
          </a:prstGeom>
          <a:solidFill>
            <a:schemeClr val="accent1"/>
          </a:solidFill>
          <a:ln w="19050">
            <a:solidFill>
              <a:srgbClr val="FFFFFF"/>
            </a:solidFill>
            <a:prstDash val="solid"/>
          </a:ln>
        </p:spPr>
      </p:sp>
      <p:sp>
        <p:nvSpPr>
          <p:cNvPr id="30" name="Text 24"/>
          <p:cNvSpPr txBox="1"/>
          <p:nvPr/>
        </p:nvSpPr>
        <p:spPr>
          <a:xfrm>
            <a:off x="11201400" y="3017520"/>
            <a:ext cx="438912" cy="438912"/>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Arial" pitchFamily="34" charset="0"/>
                <a:ea typeface="Arial" pitchFamily="34" charset="-122"/>
                <a:cs typeface="Arial" pitchFamily="34" charset="-120"/>
              </a:rPr>
              <a:t>2</a:t>
            </a:r>
            <a:endParaRPr lang="ar-SA" sz="1600" dirty="0"/>
          </a:p>
        </p:txBody>
      </p:sp>
      <p:sp>
        <p:nvSpPr>
          <p:cNvPr id="31" name="Text 25"/>
          <p:cNvSpPr txBox="1"/>
          <p:nvPr/>
        </p:nvSpPr>
        <p:spPr>
          <a:xfrm>
            <a:off x="8183880" y="2999232"/>
            <a:ext cx="29260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استخدم حساب المدرسة</a:t>
            </a:r>
            <a:endParaRPr lang="ar-SA" sz="1700" dirty="0"/>
          </a:p>
        </p:txBody>
      </p:sp>
      <p:sp>
        <p:nvSpPr>
          <p:cNvPr id="32" name="Text 26"/>
          <p:cNvSpPr txBox="1"/>
          <p:nvPr/>
        </p:nvSpPr>
        <p:spPr>
          <a:xfrm>
            <a:off x="8183880" y="3474720"/>
            <a:ext cx="2926080" cy="82296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حساب Microsoft 365 الرسمي، وليس حساباً شخصياً</a:t>
            </a:r>
            <a:endParaRPr lang="ar-SA" sz="1400" dirty="0"/>
          </a:p>
        </p:txBody>
      </p:sp>
      <p:sp>
        <p:nvSpPr>
          <p:cNvPr id="33" name="Shape 27"/>
          <p:cNvSpPr/>
          <p:nvPr/>
        </p:nvSpPr>
        <p:spPr>
          <a:xfrm>
            <a:off x="11201400" y="4572000"/>
            <a:ext cx="438912" cy="438912"/>
          </a:xfrm>
          <a:prstGeom prst="ellipse">
            <a:avLst/>
          </a:prstGeom>
          <a:solidFill>
            <a:schemeClr val="accent1"/>
          </a:solidFill>
          <a:ln w="19050">
            <a:solidFill>
              <a:srgbClr val="FFFFFF"/>
            </a:solidFill>
            <a:prstDash val="solid"/>
          </a:ln>
        </p:spPr>
      </p:sp>
      <p:sp>
        <p:nvSpPr>
          <p:cNvPr id="34" name="Text 28"/>
          <p:cNvSpPr txBox="1"/>
          <p:nvPr/>
        </p:nvSpPr>
        <p:spPr>
          <a:xfrm>
            <a:off x="11201400" y="4572000"/>
            <a:ext cx="438912" cy="438912"/>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Arial" pitchFamily="34" charset="0"/>
                <a:ea typeface="Arial" pitchFamily="34" charset="-122"/>
                <a:cs typeface="Arial" pitchFamily="34" charset="-120"/>
              </a:rPr>
              <a:t>3</a:t>
            </a:r>
            <a:endParaRPr lang="ar-SA" sz="1600" dirty="0"/>
          </a:p>
        </p:txBody>
      </p:sp>
      <p:sp>
        <p:nvSpPr>
          <p:cNvPr id="35" name="Text 29"/>
          <p:cNvSpPr txBox="1"/>
          <p:nvPr/>
        </p:nvSpPr>
        <p:spPr>
          <a:xfrm>
            <a:off x="8183880" y="4553712"/>
            <a:ext cx="2926080" cy="45720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اضغط New Quiz</a:t>
            </a:r>
            <a:endParaRPr lang="ar-SA" sz="1700" dirty="0"/>
          </a:p>
        </p:txBody>
      </p:sp>
      <p:sp>
        <p:nvSpPr>
          <p:cNvPr id="36" name="Text 30"/>
          <p:cNvSpPr txBox="1"/>
          <p:nvPr/>
        </p:nvSpPr>
        <p:spPr>
          <a:xfrm>
            <a:off x="8183880" y="5029200"/>
            <a:ext cx="2926080" cy="82296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وليس New Form</a:t>
            </a:r>
            <a:endParaRPr lang="ar-SA" sz="1400" dirty="0"/>
          </a:p>
        </p:txBody>
      </p:sp>
      <p:sp>
        <p:nvSpPr>
          <p:cNvPr id="3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كتابة عنوان الاختبار بالصيغة الموحّدة</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2</a:t>
            </a:r>
            <a:endParaRPr lang="ar-SA" sz="2400" dirty="0"/>
          </a:p>
        </p:txBody>
      </p:sp>
      <p:sp>
        <p:nvSpPr>
          <p:cNvPr id="5" name="title-part-1"/>
          <p:cNvSpPr/>
          <p:nvPr/>
        </p:nvSpPr>
        <p:spPr>
          <a:xfrm>
            <a:off x="548640" y="1463040"/>
            <a:ext cx="2743200" cy="685800"/>
          </a:xfrm>
          <a:prstGeom prst="roundRect">
            <a:avLst>
              <a:gd name="adj" fmla="val 16000"/>
            </a:avLst>
          </a:prstGeom>
          <a:solidFill>
            <a:schemeClr val="accent1"/>
          </a:solidFill>
          <a:ln/>
        </p:spPr>
      </p:sp>
      <p:sp>
        <p:nvSpPr>
          <p:cNvPr id="6" name="Text 4"/>
          <p:cNvSpPr txBox="1"/>
          <p:nvPr/>
        </p:nvSpPr>
        <p:spPr>
          <a:xfrm>
            <a:off x="548640" y="1463040"/>
            <a:ext cx="2743200" cy="685800"/>
          </a:xfrm>
          <a:prstGeom prst="rect">
            <a:avLst/>
          </a:prstGeom>
          <a:noFill/>
          <a:ln/>
        </p:spPr>
        <p:txBody>
          <a:bodyPr wrap="square" lIns="0" tIns="0" rIns="0" bIns="0" rtlCol="0" anchor="ctr"/>
          <a:lstStyle/>
          <a:p>
            <a:pPr algn="ctr" indent="0" marL="0">
              <a:buNone/>
            </a:pPr>
            <a:r>
              <a:rPr lang="en-US" altLang="en-US" sz="1600" b="1" dirty="0">
                <a:solidFill>
                  <a:srgbClr val="FFFFFF"/>
                </a:solidFill>
                <a:latin typeface="Arial" pitchFamily="34" charset="0"/>
                <a:ea typeface="Arial" pitchFamily="34" charset="-122"/>
                <a:cs typeface="Arial" pitchFamily="34" charset="-120"/>
              </a:rPr>
              <a:t>Mid-Semester 1 Test</a:t>
            </a:r>
            <a:endParaRPr lang="en-US" sz="1600" dirty="0"/>
          </a:p>
        </p:txBody>
      </p:sp>
      <p:sp>
        <p:nvSpPr>
          <p:cNvPr id="7" name="Text 5"/>
          <p:cNvSpPr txBox="1"/>
          <p:nvPr/>
        </p:nvSpPr>
        <p:spPr>
          <a:xfrm>
            <a:off x="548640" y="2212848"/>
            <a:ext cx="2743200" cy="365760"/>
          </a:xfrm>
          <a:prstGeom prst="rect">
            <a:avLst/>
          </a:prstGeom>
          <a:noFill/>
          <a:ln/>
        </p:spPr>
        <p:txBody>
          <a:bodyPr wrap="square" lIns="0" tIns="0" rIns="0" bIns="0" rtlCol="0" anchor="t"/>
          <a:lstStyle/>
          <a:p>
            <a:pPr rtl="1" algn="ctr" indent="0" marL="0">
              <a:buNone/>
            </a:pPr>
            <a:r>
              <a:rPr lang="ar-SA" altLang="en-US" sz="1300" dirty="0">
                <a:solidFill>
                  <a:schemeClr val="accent6"/>
                </a:solidFill>
                <a:latin typeface="Arial" pitchFamily="34" charset="0"/>
                <a:ea typeface="Arial" pitchFamily="34" charset="-122"/>
                <a:cs typeface="Arial" pitchFamily="34" charset="-120"/>
              </a:rPr>
              <a:t>اسم الاختبار</a:t>
            </a:r>
            <a:endParaRPr lang="ar-SA" sz="1300" dirty="0"/>
          </a:p>
        </p:txBody>
      </p:sp>
      <p:sp>
        <p:nvSpPr>
          <p:cNvPr id="8" name="Text 6"/>
          <p:cNvSpPr txBox="1"/>
          <p:nvPr/>
        </p:nvSpPr>
        <p:spPr>
          <a:xfrm>
            <a:off x="3291840"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9" name="title-part-2"/>
          <p:cNvSpPr/>
          <p:nvPr/>
        </p:nvSpPr>
        <p:spPr>
          <a:xfrm>
            <a:off x="3547872" y="1463040"/>
            <a:ext cx="1737360" cy="685800"/>
          </a:xfrm>
          <a:prstGeom prst="roundRect">
            <a:avLst>
              <a:gd name="adj" fmla="val 16000"/>
            </a:avLst>
          </a:prstGeom>
          <a:solidFill>
            <a:schemeClr val="accent1"/>
          </a:solidFill>
          <a:ln/>
        </p:spPr>
      </p:sp>
      <p:sp>
        <p:nvSpPr>
          <p:cNvPr id="10" name="Text 8"/>
          <p:cNvSpPr txBox="1"/>
          <p:nvPr/>
        </p:nvSpPr>
        <p:spPr>
          <a:xfrm>
            <a:off x="3547872" y="1463040"/>
            <a:ext cx="1737360" cy="685800"/>
          </a:xfrm>
          <a:prstGeom prst="rect">
            <a:avLst/>
          </a:prstGeom>
          <a:noFill/>
          <a:ln/>
        </p:spPr>
        <p:txBody>
          <a:bodyPr wrap="square" lIns="0" tIns="0" rIns="0" bIns="0" rtlCol="0" anchor="ctr"/>
          <a:lstStyle/>
          <a:p>
            <a:pPr algn="ctr" indent="0" marL="0">
              <a:buNone/>
            </a:pPr>
            <a:r>
              <a:rPr lang="en-US" altLang="en-US" sz="1600" b="1" dirty="0">
                <a:solidFill>
                  <a:srgbClr val="FFFFFF"/>
                </a:solidFill>
                <a:latin typeface="Arial" pitchFamily="34" charset="0"/>
                <a:ea typeface="Arial" pitchFamily="34" charset="-122"/>
                <a:cs typeface="Arial" pitchFamily="34" charset="-120"/>
              </a:rPr>
              <a:t>2026–2027</a:t>
            </a:r>
            <a:endParaRPr lang="en-US" sz="1600" dirty="0"/>
          </a:p>
        </p:txBody>
      </p:sp>
      <p:sp>
        <p:nvSpPr>
          <p:cNvPr id="11" name="Text 9"/>
          <p:cNvSpPr txBox="1"/>
          <p:nvPr/>
        </p:nvSpPr>
        <p:spPr>
          <a:xfrm>
            <a:off x="3547872" y="2212848"/>
            <a:ext cx="1737360" cy="365760"/>
          </a:xfrm>
          <a:prstGeom prst="rect">
            <a:avLst/>
          </a:prstGeom>
          <a:noFill/>
          <a:ln/>
        </p:spPr>
        <p:txBody>
          <a:bodyPr wrap="square" lIns="0" tIns="0" rIns="0" bIns="0" rtlCol="0" anchor="t"/>
          <a:lstStyle/>
          <a:p>
            <a:pPr rtl="1" algn="ctr" indent="0" marL="0">
              <a:buNone/>
            </a:pPr>
            <a:r>
              <a:rPr lang="ar-SA" altLang="en-US" sz="1300" dirty="0">
                <a:solidFill>
                  <a:schemeClr val="accent6"/>
                </a:solidFill>
                <a:latin typeface="Arial" pitchFamily="34" charset="0"/>
                <a:ea typeface="Arial" pitchFamily="34" charset="-122"/>
                <a:cs typeface="Arial" pitchFamily="34" charset="-120"/>
              </a:rPr>
              <a:t>العام الدراسي</a:t>
            </a:r>
            <a:endParaRPr lang="ar-SA" sz="1300" dirty="0"/>
          </a:p>
        </p:txBody>
      </p:sp>
      <p:sp>
        <p:nvSpPr>
          <p:cNvPr id="12" name="Text 10"/>
          <p:cNvSpPr txBox="1"/>
          <p:nvPr/>
        </p:nvSpPr>
        <p:spPr>
          <a:xfrm>
            <a:off x="5285232"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13" name="title-part-3"/>
          <p:cNvSpPr/>
          <p:nvPr/>
        </p:nvSpPr>
        <p:spPr>
          <a:xfrm>
            <a:off x="5541264" y="1463040"/>
            <a:ext cx="1600200" cy="685800"/>
          </a:xfrm>
          <a:prstGeom prst="roundRect">
            <a:avLst>
              <a:gd name="adj" fmla="val 16000"/>
            </a:avLst>
          </a:prstGeom>
          <a:solidFill>
            <a:schemeClr val="bg2"/>
          </a:solidFill>
          <a:ln/>
        </p:spPr>
      </p:sp>
      <p:sp>
        <p:nvSpPr>
          <p:cNvPr id="14" name="Text 12"/>
          <p:cNvSpPr txBox="1"/>
          <p:nvPr/>
        </p:nvSpPr>
        <p:spPr>
          <a:xfrm>
            <a:off x="5541264"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Subject</a:t>
            </a:r>
            <a:endParaRPr lang="en-US" sz="1600" dirty="0"/>
          </a:p>
        </p:txBody>
      </p:sp>
      <p:sp>
        <p:nvSpPr>
          <p:cNvPr id="15" name="Text 13"/>
          <p:cNvSpPr txBox="1"/>
          <p:nvPr/>
        </p:nvSpPr>
        <p:spPr>
          <a:xfrm>
            <a:off x="5541264" y="2212848"/>
            <a:ext cx="1600200" cy="365760"/>
          </a:xfrm>
          <a:prstGeom prst="rect">
            <a:avLst/>
          </a:prstGeom>
          <a:noFill/>
          <a:ln/>
        </p:spPr>
        <p:txBody>
          <a:bodyPr wrap="square" lIns="0" tIns="0" rIns="0" bIns="0" rtlCol="0" anchor="t"/>
          <a:lstStyle/>
          <a:p>
            <a:pPr rtl="1" algn="ctr" indent="0" marL="0">
              <a:buNone/>
            </a:pPr>
            <a:r>
              <a:rPr lang="ar-SA" altLang="en-US" sz="1300" dirty="0">
                <a:solidFill>
                  <a:schemeClr val="accent6"/>
                </a:solidFill>
                <a:latin typeface="Arial" pitchFamily="34" charset="0"/>
                <a:ea typeface="Arial" pitchFamily="34" charset="-122"/>
                <a:cs typeface="Arial" pitchFamily="34" charset="-120"/>
              </a:rPr>
              <a:t>المادة</a:t>
            </a:r>
            <a:endParaRPr lang="ar-SA" sz="1300" dirty="0"/>
          </a:p>
        </p:txBody>
      </p:sp>
      <p:sp>
        <p:nvSpPr>
          <p:cNvPr id="16" name="Text 14"/>
          <p:cNvSpPr txBox="1"/>
          <p:nvPr/>
        </p:nvSpPr>
        <p:spPr>
          <a:xfrm>
            <a:off x="7141464"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17" name="title-part-4"/>
          <p:cNvSpPr/>
          <p:nvPr/>
        </p:nvSpPr>
        <p:spPr>
          <a:xfrm>
            <a:off x="7397496" y="1463040"/>
            <a:ext cx="1600200" cy="685800"/>
          </a:xfrm>
          <a:prstGeom prst="roundRect">
            <a:avLst>
              <a:gd name="adj" fmla="val 16000"/>
            </a:avLst>
          </a:prstGeom>
          <a:solidFill>
            <a:schemeClr val="bg2"/>
          </a:solidFill>
          <a:ln/>
        </p:spPr>
      </p:sp>
      <p:sp>
        <p:nvSpPr>
          <p:cNvPr id="18" name="Text 16"/>
          <p:cNvSpPr txBox="1"/>
          <p:nvPr/>
        </p:nvSpPr>
        <p:spPr>
          <a:xfrm>
            <a:off x="7397496"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Grade</a:t>
            </a:r>
            <a:endParaRPr lang="en-US" sz="1600" dirty="0"/>
          </a:p>
        </p:txBody>
      </p:sp>
      <p:sp>
        <p:nvSpPr>
          <p:cNvPr id="19" name="Text 17"/>
          <p:cNvSpPr txBox="1"/>
          <p:nvPr/>
        </p:nvSpPr>
        <p:spPr>
          <a:xfrm>
            <a:off x="7397496" y="2212848"/>
            <a:ext cx="1600200" cy="365760"/>
          </a:xfrm>
          <a:prstGeom prst="rect">
            <a:avLst/>
          </a:prstGeom>
          <a:noFill/>
          <a:ln/>
        </p:spPr>
        <p:txBody>
          <a:bodyPr wrap="square" lIns="0" tIns="0" rIns="0" bIns="0" rtlCol="0" anchor="t"/>
          <a:lstStyle/>
          <a:p>
            <a:pPr rtl="1" algn="ctr" indent="0" marL="0">
              <a:buNone/>
            </a:pPr>
            <a:r>
              <a:rPr lang="ar-SA" altLang="en-US" sz="1300" dirty="0">
                <a:solidFill>
                  <a:schemeClr val="accent6"/>
                </a:solidFill>
                <a:latin typeface="Arial" pitchFamily="34" charset="0"/>
                <a:ea typeface="Arial" pitchFamily="34" charset="-122"/>
                <a:cs typeface="Arial" pitchFamily="34" charset="-120"/>
              </a:rPr>
              <a:t>الصف</a:t>
            </a:r>
            <a:endParaRPr lang="ar-SA" sz="1300" dirty="0"/>
          </a:p>
        </p:txBody>
      </p:sp>
      <p:sp>
        <p:nvSpPr>
          <p:cNvPr id="20" name="Text 18"/>
          <p:cNvSpPr txBox="1"/>
          <p:nvPr/>
        </p:nvSpPr>
        <p:spPr>
          <a:xfrm>
            <a:off x="8997696"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21" name="title-part-5"/>
          <p:cNvSpPr/>
          <p:nvPr/>
        </p:nvSpPr>
        <p:spPr>
          <a:xfrm>
            <a:off x="9253728" y="1463040"/>
            <a:ext cx="1600200" cy="685800"/>
          </a:xfrm>
          <a:prstGeom prst="roundRect">
            <a:avLst>
              <a:gd name="adj" fmla="val 16000"/>
            </a:avLst>
          </a:prstGeom>
          <a:solidFill>
            <a:schemeClr val="bg2"/>
          </a:solidFill>
          <a:ln/>
        </p:spPr>
      </p:sp>
      <p:sp>
        <p:nvSpPr>
          <p:cNvPr id="22" name="Text 20"/>
          <p:cNvSpPr txBox="1"/>
          <p:nvPr/>
        </p:nvSpPr>
        <p:spPr>
          <a:xfrm>
            <a:off x="9253728"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Section</a:t>
            </a:r>
            <a:endParaRPr lang="en-US" sz="1600" dirty="0"/>
          </a:p>
        </p:txBody>
      </p:sp>
      <p:sp>
        <p:nvSpPr>
          <p:cNvPr id="23" name="Text 21"/>
          <p:cNvSpPr txBox="1"/>
          <p:nvPr/>
        </p:nvSpPr>
        <p:spPr>
          <a:xfrm>
            <a:off x="9253728" y="2212848"/>
            <a:ext cx="1600200" cy="365760"/>
          </a:xfrm>
          <a:prstGeom prst="rect">
            <a:avLst/>
          </a:prstGeom>
          <a:noFill/>
          <a:ln/>
        </p:spPr>
        <p:txBody>
          <a:bodyPr wrap="square" lIns="0" tIns="0" rIns="0" bIns="0" rtlCol="0" anchor="t"/>
          <a:lstStyle/>
          <a:p>
            <a:pPr rtl="1" algn="ctr" indent="0" marL="0">
              <a:buNone/>
            </a:pPr>
            <a:r>
              <a:rPr lang="ar-SA" altLang="en-US" sz="1300" dirty="0">
                <a:solidFill>
                  <a:schemeClr val="accent6"/>
                </a:solidFill>
                <a:latin typeface="Arial" pitchFamily="34" charset="0"/>
                <a:ea typeface="Arial" pitchFamily="34" charset="-122"/>
                <a:cs typeface="Arial" pitchFamily="34" charset="-120"/>
              </a:rPr>
              <a:t>الشعبة</a:t>
            </a:r>
            <a:endParaRPr lang="ar-SA" sz="1300" dirty="0"/>
          </a:p>
        </p:txBody>
      </p:sp>
      <p:sp>
        <p:nvSpPr>
          <p:cNvPr id="24" name="mock-window"/>
          <p:cNvSpPr/>
          <p:nvPr/>
        </p:nvSpPr>
        <p:spPr>
          <a:xfrm>
            <a:off x="548640" y="2880360"/>
            <a:ext cx="7680960" cy="3154680"/>
          </a:xfrm>
          <a:prstGeom prst="roundRect">
            <a:avLst>
              <a:gd name="adj" fmla="val 2899"/>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25" name="Shape 23"/>
          <p:cNvSpPr/>
          <p:nvPr/>
        </p:nvSpPr>
        <p:spPr>
          <a:xfrm>
            <a:off x="566928" y="2898648"/>
            <a:ext cx="7644384" cy="365760"/>
          </a:xfrm>
          <a:prstGeom prst="rect">
            <a:avLst/>
          </a:prstGeom>
          <a:solidFill>
            <a:srgbClr val="F3F2F1"/>
          </a:solidFill>
          <a:ln/>
        </p:spPr>
      </p:sp>
      <p:sp>
        <p:nvSpPr>
          <p:cNvPr id="26" name="Text 24"/>
          <p:cNvSpPr txBox="1"/>
          <p:nvPr/>
        </p:nvSpPr>
        <p:spPr>
          <a:xfrm>
            <a:off x="685800" y="2898648"/>
            <a:ext cx="74066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a:t>
            </a:r>
            <a:endParaRPr lang="en-US" sz="1200" dirty="0"/>
          </a:p>
        </p:txBody>
      </p:sp>
      <p:sp>
        <p:nvSpPr>
          <p:cNvPr id="27" name="Shape 25"/>
          <p:cNvSpPr/>
          <p:nvPr/>
        </p:nvSpPr>
        <p:spPr>
          <a:xfrm>
            <a:off x="777240" y="3429000"/>
            <a:ext cx="7223760" cy="2377440"/>
          </a:xfrm>
          <a:prstGeom prst="roundRect">
            <a:avLst>
              <a:gd name="adj" fmla="val 3077"/>
            </a:avLst>
          </a:prstGeom>
          <a:solidFill>
            <a:srgbClr val="FFFFFF"/>
          </a:solidFill>
          <a:ln w="12700">
            <a:solidFill>
              <a:srgbClr val="E1E5E8"/>
            </a:solidFill>
            <a:prstDash val="solid"/>
          </a:ln>
        </p:spPr>
      </p:sp>
      <p:sp>
        <p:nvSpPr>
          <p:cNvPr id="28" name="Shape 26"/>
          <p:cNvSpPr/>
          <p:nvPr/>
        </p:nvSpPr>
        <p:spPr>
          <a:xfrm>
            <a:off x="786384" y="3438144"/>
            <a:ext cx="7205472" cy="457200"/>
          </a:xfrm>
          <a:prstGeom prst="rect">
            <a:avLst/>
          </a:prstGeom>
          <a:solidFill>
            <a:srgbClr val="03787C"/>
          </a:solidFill>
          <a:ln/>
        </p:spPr>
      </p:sp>
      <p:sp>
        <p:nvSpPr>
          <p:cNvPr id="29" name="Text 27"/>
          <p:cNvSpPr txBox="1"/>
          <p:nvPr/>
        </p:nvSpPr>
        <p:spPr>
          <a:xfrm>
            <a:off x="1005840" y="4069080"/>
            <a:ext cx="6858000" cy="548640"/>
          </a:xfrm>
          <a:prstGeom prst="rect">
            <a:avLst/>
          </a:prstGeom>
          <a:noFill/>
          <a:ln/>
        </p:spPr>
        <p:txBody>
          <a:bodyPr wrap="square" lIns="0" tIns="0" rIns="0" bIns="0" rtlCol="0" anchor="ctr"/>
          <a:lstStyle/>
          <a:p>
            <a:pPr algn="l" indent="0" marL="0">
              <a:buNone/>
            </a:pPr>
            <a:r>
              <a:rPr lang="en-US" altLang="en-US" sz="1800" b="1" dirty="0">
                <a:solidFill>
                  <a:srgbClr val="201F1E"/>
                </a:solidFill>
                <a:latin typeface="Arial" pitchFamily="34" charset="0"/>
                <a:ea typeface="Arial" pitchFamily="34" charset="-122"/>
                <a:cs typeface="Arial" pitchFamily="34" charset="-120"/>
              </a:rPr>
              <a:t>Mid-Semester 1 Test 2026–2027 – Biology – Grade 10 – Boys</a:t>
            </a:r>
            <a:endParaRPr lang="en-US" sz="1800" dirty="0"/>
          </a:p>
        </p:txBody>
      </p:sp>
      <p:sp>
        <p:nvSpPr>
          <p:cNvPr id="30" name="highlight"/>
          <p:cNvSpPr/>
          <p:nvPr/>
        </p:nvSpPr>
        <p:spPr>
          <a:xfrm>
            <a:off x="914400" y="4023360"/>
            <a:ext cx="6949440" cy="640080"/>
          </a:xfrm>
          <a:prstGeom prst="roundRect">
            <a:avLst>
              <a:gd name="adj" fmla="val 8571"/>
            </a:avLst>
          </a:prstGeom>
          <a:ln w="31750">
            <a:solidFill>
              <a:srgbClr val="F2A900"/>
            </a:solidFill>
            <a:prstDash val="solid"/>
          </a:ln>
        </p:spPr>
      </p:sp>
      <p:sp>
        <p:nvSpPr>
          <p:cNvPr id="31" name="Text 29"/>
          <p:cNvSpPr txBox="1"/>
          <p:nvPr/>
        </p:nvSpPr>
        <p:spPr>
          <a:xfrm>
            <a:off x="1005840" y="4754880"/>
            <a:ext cx="6858000" cy="365760"/>
          </a:xfrm>
          <a:prstGeom prst="rect">
            <a:avLst/>
          </a:prstGeom>
          <a:noFill/>
          <a:ln/>
        </p:spPr>
        <p:txBody>
          <a:bodyPr wrap="square" lIns="0" tIns="0" rIns="0" bIns="0" rtlCol="0" anchor="ctr"/>
          <a:lstStyle/>
          <a:p>
            <a:pPr algn="l" indent="0" marL="0">
              <a:buNone/>
            </a:pPr>
            <a:r>
              <a:rPr lang="en-US" altLang="en-US" sz="1200" dirty="0">
                <a:solidFill>
                  <a:srgbClr val="8A8886"/>
                </a:solidFill>
                <a:latin typeface="Arial" pitchFamily="34" charset="0"/>
                <a:ea typeface="Arial" pitchFamily="34" charset="-122"/>
                <a:cs typeface="Arial" pitchFamily="34" charset="-120"/>
              </a:rPr>
              <a:t>Enter a description (student instructions go here)</a:t>
            </a:r>
            <a:endParaRPr lang="en-US" sz="1200" dirty="0"/>
          </a:p>
        </p:txBody>
      </p:sp>
      <p:sp>
        <p:nvSpPr>
          <p:cNvPr id="32" name="Shape 30"/>
          <p:cNvSpPr/>
          <p:nvPr/>
        </p:nvSpPr>
        <p:spPr>
          <a:xfrm>
            <a:off x="1005840" y="5138928"/>
            <a:ext cx="6675120" cy="0"/>
          </a:xfrm>
          <a:prstGeom prst="line">
            <a:avLst/>
          </a:prstGeom>
          <a:noFill/>
          <a:ln w="12700">
            <a:solidFill>
              <a:srgbClr val="C8C6C4"/>
            </a:solidFill>
            <a:prstDash val="solid"/>
          </a:ln>
        </p:spPr>
      </p:sp>
      <p:sp>
        <p:nvSpPr>
          <p:cNvPr id="33" name="title-notes"/>
          <p:cNvSpPr/>
          <p:nvPr/>
        </p:nvSpPr>
        <p:spPr>
          <a:xfrm>
            <a:off x="8549640" y="2880360"/>
            <a:ext cx="3090672" cy="3154680"/>
          </a:xfrm>
          <a:prstGeom prst="roundRect">
            <a:avLst>
              <a:gd name="adj" fmla="val 3550"/>
            </a:avLst>
          </a:prstGeom>
          <a:solidFill>
            <a:schemeClr val="bg2"/>
          </a:solidFill>
          <a:ln/>
        </p:spPr>
      </p:sp>
      <p:sp>
        <p:nvSpPr>
          <p:cNvPr id="34" name="Text 32"/>
          <p:cNvSpPr txBox="1"/>
          <p:nvPr/>
        </p:nvSpPr>
        <p:spPr>
          <a:xfrm>
            <a:off x="8732520" y="3017520"/>
            <a:ext cx="274320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مثال معتمد</a:t>
            </a:r>
            <a:endParaRPr lang="ar-SA" sz="1600" dirty="0"/>
          </a:p>
        </p:txBody>
      </p:sp>
      <p:sp>
        <p:nvSpPr>
          <p:cNvPr id="35" name="Text 33"/>
          <p:cNvSpPr txBox="1"/>
          <p:nvPr/>
        </p:nvSpPr>
        <p:spPr>
          <a:xfrm>
            <a:off x="8732520" y="3429000"/>
            <a:ext cx="274320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الأحياء – الصف العاشر – بنين</a:t>
            </a:r>
            <a:endParaRPr lang="ar-SA" sz="1400" dirty="0"/>
          </a:p>
        </p:txBody>
      </p:sp>
      <p:sp>
        <p:nvSpPr>
          <p:cNvPr id="36" name="Text 34"/>
          <p:cNvSpPr txBox="1"/>
          <p:nvPr/>
        </p:nvSpPr>
        <p:spPr>
          <a:xfrm>
            <a:off x="8732520" y="4023360"/>
            <a:ext cx="274320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لماذا؟</a:t>
            </a:r>
            <a:endParaRPr lang="ar-SA" sz="1600" dirty="0"/>
          </a:p>
        </p:txBody>
      </p:sp>
      <p:sp>
        <p:nvSpPr>
          <p:cNvPr id="37" name="Text 35"/>
          <p:cNvSpPr txBox="1"/>
          <p:nvPr/>
        </p:nvSpPr>
        <p:spPr>
          <a:xfrm>
            <a:off x="8732520" y="4434840"/>
            <a:ext cx="2743200" cy="13716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تسمية موحّدة تسهّل على رئيس القسم المتابعة والتوثيق في متتبّع الجاهزية.</a:t>
            </a:r>
            <a:endParaRPr lang="ar-SA" sz="1400" dirty="0"/>
          </a:p>
        </p:txBody>
      </p:sp>
      <p:sp>
        <p:nvSpPr>
          <p:cNvPr id="38"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تعليمات الطلاب القياسية في خانة الوصف</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3</a:t>
            </a:r>
            <a:endParaRPr lang="ar-SA" sz="2400" dirty="0"/>
          </a:p>
        </p:txBody>
      </p:sp>
      <p:sp>
        <p:nvSpPr>
          <p:cNvPr id="5" name="instruction-1"/>
          <p:cNvSpPr/>
          <p:nvPr/>
        </p:nvSpPr>
        <p:spPr>
          <a:xfrm>
            <a:off x="8074152" y="1417320"/>
            <a:ext cx="3566160" cy="1371600"/>
          </a:xfrm>
          <a:prstGeom prst="roundRect">
            <a:avLst>
              <a:gd name="adj" fmla="val 8000"/>
            </a:avLst>
          </a:prstGeom>
          <a:solidFill>
            <a:schemeClr val="bg2"/>
          </a:solidFill>
          <a:ln/>
        </p:spPr>
      </p:sp>
      <p:sp>
        <p:nvSpPr>
          <p:cNvPr id="6" name="Shape 4"/>
          <p:cNvSpPr/>
          <p:nvPr/>
        </p:nvSpPr>
        <p:spPr>
          <a:xfrm>
            <a:off x="11137392" y="1581912"/>
            <a:ext cx="365760" cy="365760"/>
          </a:xfrm>
          <a:prstGeom prst="ellipse">
            <a:avLst/>
          </a:prstGeom>
          <a:solidFill>
            <a:schemeClr val="accent1"/>
          </a:solidFill>
          <a:ln w="19050">
            <a:solidFill>
              <a:srgbClr val="FFFFFF"/>
            </a:solidFill>
            <a:prstDash val="solid"/>
          </a:ln>
        </p:spPr>
      </p:sp>
      <p:sp>
        <p:nvSpPr>
          <p:cNvPr id="7" name="Text 5"/>
          <p:cNvSpPr txBox="1"/>
          <p:nvPr/>
        </p:nvSpPr>
        <p:spPr>
          <a:xfrm>
            <a:off x="11137392" y="158191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1</a:t>
            </a:r>
            <a:endParaRPr lang="ar-SA" sz="1300" dirty="0"/>
          </a:p>
        </p:txBody>
      </p:sp>
      <p:pic>
        <p:nvPicPr>
          <p:cNvPr id="8" name="Image 0" descr="preencoded.png">    </p:cNvPr>
          <p:cNvPicPr>
            <a:picLocks noChangeAspect="1"/>
          </p:cNvPicPr>
          <p:nvPr/>
        </p:nvPicPr>
        <p:blipFill>
          <a:blip r:embed="rId1"/>
          <a:stretch>
            <a:fillRect/>
          </a:stretch>
        </p:blipFill>
        <p:spPr>
          <a:xfrm>
            <a:off x="8257032" y="1600200"/>
            <a:ext cx="292608" cy="292608"/>
          </a:xfrm>
          <a:prstGeom prst="rect">
            <a:avLst/>
          </a:prstGeom>
        </p:spPr>
      </p:pic>
      <p:sp>
        <p:nvSpPr>
          <p:cNvPr id="9" name="Text 6"/>
          <p:cNvSpPr txBox="1"/>
          <p:nvPr/>
        </p:nvSpPr>
        <p:spPr>
          <a:xfrm>
            <a:off x="8257032" y="198424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الدخول بحساب Microsoft 365 المدرسي والتأكد من فتح الاختبار الصحيح</a:t>
            </a:r>
            <a:endParaRPr lang="ar-SA" sz="1400" dirty="0"/>
          </a:p>
        </p:txBody>
      </p:sp>
      <p:sp>
        <p:nvSpPr>
          <p:cNvPr id="10" name="instruction-2"/>
          <p:cNvSpPr/>
          <p:nvPr/>
        </p:nvSpPr>
        <p:spPr>
          <a:xfrm>
            <a:off x="4311396" y="1417320"/>
            <a:ext cx="3566160" cy="1371600"/>
          </a:xfrm>
          <a:prstGeom prst="roundRect">
            <a:avLst>
              <a:gd name="adj" fmla="val 8000"/>
            </a:avLst>
          </a:prstGeom>
          <a:solidFill>
            <a:schemeClr val="bg2"/>
          </a:solidFill>
          <a:ln/>
        </p:spPr>
      </p:sp>
      <p:sp>
        <p:nvSpPr>
          <p:cNvPr id="11" name="Shape 8"/>
          <p:cNvSpPr/>
          <p:nvPr/>
        </p:nvSpPr>
        <p:spPr>
          <a:xfrm>
            <a:off x="7374636" y="1581912"/>
            <a:ext cx="365760" cy="365760"/>
          </a:xfrm>
          <a:prstGeom prst="ellipse">
            <a:avLst/>
          </a:prstGeom>
          <a:solidFill>
            <a:schemeClr val="accent1"/>
          </a:solidFill>
          <a:ln w="19050">
            <a:solidFill>
              <a:srgbClr val="FFFFFF"/>
            </a:solidFill>
            <a:prstDash val="solid"/>
          </a:ln>
        </p:spPr>
      </p:sp>
      <p:sp>
        <p:nvSpPr>
          <p:cNvPr id="12" name="Text 9"/>
          <p:cNvSpPr txBox="1"/>
          <p:nvPr/>
        </p:nvSpPr>
        <p:spPr>
          <a:xfrm>
            <a:off x="7374636" y="158191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2</a:t>
            </a:r>
            <a:endParaRPr lang="ar-SA" sz="1300" dirty="0"/>
          </a:p>
        </p:txBody>
      </p:sp>
      <p:pic>
        <p:nvPicPr>
          <p:cNvPr id="13" name="Image 1" descr="preencoded.png">    </p:cNvPr>
          <p:cNvPicPr>
            <a:picLocks noChangeAspect="1"/>
          </p:cNvPicPr>
          <p:nvPr/>
        </p:nvPicPr>
        <p:blipFill>
          <a:blip r:embed="rId2"/>
          <a:stretch>
            <a:fillRect/>
          </a:stretch>
        </p:blipFill>
        <p:spPr>
          <a:xfrm>
            <a:off x="4494276" y="1600200"/>
            <a:ext cx="292608" cy="292608"/>
          </a:xfrm>
          <a:prstGeom prst="rect">
            <a:avLst/>
          </a:prstGeom>
        </p:spPr>
      </p:pic>
      <p:sp>
        <p:nvSpPr>
          <p:cNvPr id="14" name="Text 10"/>
          <p:cNvSpPr txBox="1"/>
          <p:nvPr/>
        </p:nvSpPr>
        <p:spPr>
          <a:xfrm>
            <a:off x="4494276" y="198424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قراءة كل سؤال بعناية واتباع التعليمات</a:t>
            </a:r>
            <a:endParaRPr lang="ar-SA" sz="1400" dirty="0"/>
          </a:p>
        </p:txBody>
      </p:sp>
      <p:sp>
        <p:nvSpPr>
          <p:cNvPr id="15" name="instruction-3"/>
          <p:cNvSpPr/>
          <p:nvPr/>
        </p:nvSpPr>
        <p:spPr>
          <a:xfrm>
            <a:off x="548640" y="1417320"/>
            <a:ext cx="3566160" cy="1371600"/>
          </a:xfrm>
          <a:prstGeom prst="roundRect">
            <a:avLst>
              <a:gd name="adj" fmla="val 8000"/>
            </a:avLst>
          </a:prstGeom>
          <a:solidFill>
            <a:schemeClr val="bg2"/>
          </a:solidFill>
          <a:ln/>
        </p:spPr>
      </p:sp>
      <p:sp>
        <p:nvSpPr>
          <p:cNvPr id="16" name="Shape 12"/>
          <p:cNvSpPr/>
          <p:nvPr/>
        </p:nvSpPr>
        <p:spPr>
          <a:xfrm>
            <a:off x="3611880" y="1581912"/>
            <a:ext cx="365760" cy="365760"/>
          </a:xfrm>
          <a:prstGeom prst="ellipse">
            <a:avLst/>
          </a:prstGeom>
          <a:solidFill>
            <a:schemeClr val="accent1"/>
          </a:solidFill>
          <a:ln w="19050">
            <a:solidFill>
              <a:srgbClr val="FFFFFF"/>
            </a:solidFill>
            <a:prstDash val="solid"/>
          </a:ln>
        </p:spPr>
      </p:sp>
      <p:sp>
        <p:nvSpPr>
          <p:cNvPr id="17" name="Text 13"/>
          <p:cNvSpPr txBox="1"/>
          <p:nvPr/>
        </p:nvSpPr>
        <p:spPr>
          <a:xfrm>
            <a:off x="3611880" y="158191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3</a:t>
            </a:r>
            <a:endParaRPr lang="ar-SA" sz="1300" dirty="0"/>
          </a:p>
        </p:txBody>
      </p:sp>
      <p:pic>
        <p:nvPicPr>
          <p:cNvPr id="18" name="Image 2" descr="preencoded.png">    </p:cNvPr>
          <p:cNvPicPr>
            <a:picLocks noChangeAspect="1"/>
          </p:cNvPicPr>
          <p:nvPr/>
        </p:nvPicPr>
        <p:blipFill>
          <a:blip r:embed="rId3"/>
          <a:stretch>
            <a:fillRect/>
          </a:stretch>
        </p:blipFill>
        <p:spPr>
          <a:xfrm>
            <a:off x="731520" y="1600200"/>
            <a:ext cx="292608" cy="292608"/>
          </a:xfrm>
          <a:prstGeom prst="rect">
            <a:avLst/>
          </a:prstGeom>
        </p:spPr>
      </p:pic>
      <p:sp>
        <p:nvSpPr>
          <p:cNvPr id="19" name="Text 14"/>
          <p:cNvSpPr txBox="1"/>
          <p:nvPr/>
        </p:nvSpPr>
        <p:spPr>
          <a:xfrm>
            <a:off x="731520" y="198424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العمل باستقلالية دون تواصل أو مساعدة غير مصرّح بها</a:t>
            </a:r>
            <a:endParaRPr lang="ar-SA" sz="1400" dirty="0"/>
          </a:p>
        </p:txBody>
      </p:sp>
      <p:sp>
        <p:nvSpPr>
          <p:cNvPr id="20" name="instruction-4"/>
          <p:cNvSpPr/>
          <p:nvPr/>
        </p:nvSpPr>
        <p:spPr>
          <a:xfrm>
            <a:off x="8074152" y="2971800"/>
            <a:ext cx="3566160" cy="1371600"/>
          </a:xfrm>
          <a:prstGeom prst="roundRect">
            <a:avLst>
              <a:gd name="adj" fmla="val 8000"/>
            </a:avLst>
          </a:prstGeom>
          <a:solidFill>
            <a:schemeClr val="bg2"/>
          </a:solidFill>
          <a:ln/>
        </p:spPr>
      </p:sp>
      <p:sp>
        <p:nvSpPr>
          <p:cNvPr id="21" name="Shape 16"/>
          <p:cNvSpPr/>
          <p:nvPr/>
        </p:nvSpPr>
        <p:spPr>
          <a:xfrm>
            <a:off x="11137392" y="3136392"/>
            <a:ext cx="365760" cy="365760"/>
          </a:xfrm>
          <a:prstGeom prst="ellipse">
            <a:avLst/>
          </a:prstGeom>
          <a:solidFill>
            <a:schemeClr val="accent1"/>
          </a:solidFill>
          <a:ln w="19050">
            <a:solidFill>
              <a:srgbClr val="FFFFFF"/>
            </a:solidFill>
            <a:prstDash val="solid"/>
          </a:ln>
        </p:spPr>
      </p:sp>
      <p:sp>
        <p:nvSpPr>
          <p:cNvPr id="22" name="Text 17"/>
          <p:cNvSpPr txBox="1"/>
          <p:nvPr/>
        </p:nvSpPr>
        <p:spPr>
          <a:xfrm>
            <a:off x="11137392" y="313639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4</a:t>
            </a:r>
            <a:endParaRPr lang="ar-SA" sz="1300" dirty="0"/>
          </a:p>
        </p:txBody>
      </p:sp>
      <p:pic>
        <p:nvPicPr>
          <p:cNvPr id="23" name="Image 3" descr="preencoded.png">    </p:cNvPr>
          <p:cNvPicPr>
            <a:picLocks noChangeAspect="1"/>
          </p:cNvPicPr>
          <p:nvPr/>
        </p:nvPicPr>
        <p:blipFill>
          <a:blip r:embed="rId4"/>
          <a:stretch>
            <a:fillRect/>
          </a:stretch>
        </p:blipFill>
        <p:spPr>
          <a:xfrm>
            <a:off x="8257032" y="3154680"/>
            <a:ext cx="292608" cy="292608"/>
          </a:xfrm>
          <a:prstGeom prst="rect">
            <a:avLst/>
          </a:prstGeom>
        </p:spPr>
      </p:pic>
      <p:sp>
        <p:nvSpPr>
          <p:cNvPr id="24" name="Text 18"/>
          <p:cNvSpPr txBox="1"/>
          <p:nvPr/>
        </p:nvSpPr>
        <p:spPr>
          <a:xfrm>
            <a:off x="8257032" y="353872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لا ملاحظات ولا كتب ولا مواقع ولا أدوات ذكاء اصطناعي إلا بإذن المعلم</a:t>
            </a:r>
            <a:endParaRPr lang="ar-SA" sz="1400" dirty="0"/>
          </a:p>
        </p:txBody>
      </p:sp>
      <p:sp>
        <p:nvSpPr>
          <p:cNvPr id="25" name="instruction-5"/>
          <p:cNvSpPr/>
          <p:nvPr/>
        </p:nvSpPr>
        <p:spPr>
          <a:xfrm>
            <a:off x="4311396" y="2971800"/>
            <a:ext cx="3566160" cy="1371600"/>
          </a:xfrm>
          <a:prstGeom prst="roundRect">
            <a:avLst>
              <a:gd name="adj" fmla="val 8000"/>
            </a:avLst>
          </a:prstGeom>
          <a:solidFill>
            <a:schemeClr val="bg2"/>
          </a:solidFill>
          <a:ln/>
        </p:spPr>
      </p:sp>
      <p:sp>
        <p:nvSpPr>
          <p:cNvPr id="26" name="Shape 20"/>
          <p:cNvSpPr/>
          <p:nvPr/>
        </p:nvSpPr>
        <p:spPr>
          <a:xfrm>
            <a:off x="7374636" y="3136392"/>
            <a:ext cx="365760" cy="365760"/>
          </a:xfrm>
          <a:prstGeom prst="ellipse">
            <a:avLst/>
          </a:prstGeom>
          <a:solidFill>
            <a:schemeClr val="accent1"/>
          </a:solidFill>
          <a:ln w="19050">
            <a:solidFill>
              <a:srgbClr val="FFFFFF"/>
            </a:solidFill>
            <a:prstDash val="solid"/>
          </a:ln>
        </p:spPr>
      </p:sp>
      <p:sp>
        <p:nvSpPr>
          <p:cNvPr id="27" name="Text 21"/>
          <p:cNvSpPr txBox="1"/>
          <p:nvPr/>
        </p:nvSpPr>
        <p:spPr>
          <a:xfrm>
            <a:off x="7374636" y="313639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5</a:t>
            </a:r>
            <a:endParaRPr lang="ar-SA" sz="1300" dirty="0"/>
          </a:p>
        </p:txBody>
      </p:sp>
      <p:pic>
        <p:nvPicPr>
          <p:cNvPr id="28" name="Image 4" descr="preencoded.png">    </p:cNvPr>
          <p:cNvPicPr>
            <a:picLocks noChangeAspect="1"/>
          </p:cNvPicPr>
          <p:nvPr/>
        </p:nvPicPr>
        <p:blipFill>
          <a:blip r:embed="rId5"/>
          <a:stretch>
            <a:fillRect/>
          </a:stretch>
        </p:blipFill>
        <p:spPr>
          <a:xfrm>
            <a:off x="4494276" y="3154680"/>
            <a:ext cx="292608" cy="292608"/>
          </a:xfrm>
          <a:prstGeom prst="rect">
            <a:avLst/>
          </a:prstGeom>
        </p:spPr>
      </p:pic>
      <p:sp>
        <p:nvSpPr>
          <p:cNvPr id="29" name="Text 22"/>
          <p:cNvSpPr txBox="1"/>
          <p:nvPr/>
        </p:nvSpPr>
        <p:spPr>
          <a:xfrm>
            <a:off x="4494276" y="353872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التحقق من الاتصال بالإنترنت والجهاز قبل البدء</a:t>
            </a:r>
            <a:endParaRPr lang="ar-SA" sz="1400" dirty="0"/>
          </a:p>
        </p:txBody>
      </p:sp>
      <p:sp>
        <p:nvSpPr>
          <p:cNvPr id="30" name="instruction-6"/>
          <p:cNvSpPr/>
          <p:nvPr/>
        </p:nvSpPr>
        <p:spPr>
          <a:xfrm>
            <a:off x="548640" y="2971800"/>
            <a:ext cx="3566160" cy="1371600"/>
          </a:xfrm>
          <a:prstGeom prst="roundRect">
            <a:avLst>
              <a:gd name="adj" fmla="val 8000"/>
            </a:avLst>
          </a:prstGeom>
          <a:solidFill>
            <a:schemeClr val="bg2"/>
          </a:solidFill>
          <a:ln/>
        </p:spPr>
      </p:sp>
      <p:sp>
        <p:nvSpPr>
          <p:cNvPr id="31" name="Shape 24"/>
          <p:cNvSpPr/>
          <p:nvPr/>
        </p:nvSpPr>
        <p:spPr>
          <a:xfrm>
            <a:off x="3611880" y="3136392"/>
            <a:ext cx="365760" cy="365760"/>
          </a:xfrm>
          <a:prstGeom prst="ellipse">
            <a:avLst/>
          </a:prstGeom>
          <a:solidFill>
            <a:schemeClr val="accent1"/>
          </a:solidFill>
          <a:ln w="19050">
            <a:solidFill>
              <a:srgbClr val="FFFFFF"/>
            </a:solidFill>
            <a:prstDash val="solid"/>
          </a:ln>
        </p:spPr>
      </p:sp>
      <p:sp>
        <p:nvSpPr>
          <p:cNvPr id="32" name="Text 25"/>
          <p:cNvSpPr txBox="1"/>
          <p:nvPr/>
        </p:nvSpPr>
        <p:spPr>
          <a:xfrm>
            <a:off x="3611880" y="313639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6</a:t>
            </a:r>
            <a:endParaRPr lang="ar-SA" sz="1300" dirty="0"/>
          </a:p>
        </p:txBody>
      </p:sp>
      <p:pic>
        <p:nvPicPr>
          <p:cNvPr id="33" name="Image 5" descr="preencoded.png">    </p:cNvPr>
          <p:cNvPicPr>
            <a:picLocks noChangeAspect="1"/>
          </p:cNvPicPr>
          <p:nvPr/>
        </p:nvPicPr>
        <p:blipFill>
          <a:blip r:embed="rId6"/>
          <a:stretch>
            <a:fillRect/>
          </a:stretch>
        </p:blipFill>
        <p:spPr>
          <a:xfrm>
            <a:off x="731520" y="3154680"/>
            <a:ext cx="292608" cy="292608"/>
          </a:xfrm>
          <a:prstGeom prst="rect">
            <a:avLst/>
          </a:prstGeom>
        </p:spPr>
      </p:pic>
      <p:sp>
        <p:nvSpPr>
          <p:cNvPr id="34" name="Text 26"/>
          <p:cNvSpPr txBox="1"/>
          <p:nvPr/>
        </p:nvSpPr>
        <p:spPr>
          <a:xfrm>
            <a:off x="731520" y="353872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متابعة المؤقّت؛ قد يُسلَّم الاختبار تلقائياً عند انتهاء الوقت</a:t>
            </a:r>
            <a:endParaRPr lang="ar-SA" sz="1400" dirty="0"/>
          </a:p>
        </p:txBody>
      </p:sp>
      <p:sp>
        <p:nvSpPr>
          <p:cNvPr id="35" name="instruction-7"/>
          <p:cNvSpPr/>
          <p:nvPr/>
        </p:nvSpPr>
        <p:spPr>
          <a:xfrm>
            <a:off x="8074152" y="4526280"/>
            <a:ext cx="3566160" cy="1371600"/>
          </a:xfrm>
          <a:prstGeom prst="roundRect">
            <a:avLst>
              <a:gd name="adj" fmla="val 8000"/>
            </a:avLst>
          </a:prstGeom>
          <a:solidFill>
            <a:schemeClr val="bg2"/>
          </a:solidFill>
          <a:ln/>
        </p:spPr>
      </p:sp>
      <p:sp>
        <p:nvSpPr>
          <p:cNvPr id="36" name="Shape 28"/>
          <p:cNvSpPr/>
          <p:nvPr/>
        </p:nvSpPr>
        <p:spPr>
          <a:xfrm>
            <a:off x="11137392" y="4690872"/>
            <a:ext cx="365760" cy="365760"/>
          </a:xfrm>
          <a:prstGeom prst="ellipse">
            <a:avLst/>
          </a:prstGeom>
          <a:solidFill>
            <a:schemeClr val="accent1"/>
          </a:solidFill>
          <a:ln w="19050">
            <a:solidFill>
              <a:srgbClr val="FFFFFF"/>
            </a:solidFill>
            <a:prstDash val="solid"/>
          </a:ln>
        </p:spPr>
      </p:sp>
      <p:sp>
        <p:nvSpPr>
          <p:cNvPr id="37" name="Text 29"/>
          <p:cNvSpPr txBox="1"/>
          <p:nvPr/>
        </p:nvSpPr>
        <p:spPr>
          <a:xfrm>
            <a:off x="11137392" y="469087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7</a:t>
            </a:r>
            <a:endParaRPr lang="ar-SA" sz="1300" dirty="0"/>
          </a:p>
        </p:txBody>
      </p:sp>
      <p:pic>
        <p:nvPicPr>
          <p:cNvPr id="38" name="Image 6" descr="preencoded.png">    </p:cNvPr>
          <p:cNvPicPr>
            <a:picLocks noChangeAspect="1"/>
          </p:cNvPicPr>
          <p:nvPr/>
        </p:nvPicPr>
        <p:blipFill>
          <a:blip r:embed="rId7"/>
          <a:stretch>
            <a:fillRect/>
          </a:stretch>
        </p:blipFill>
        <p:spPr>
          <a:xfrm>
            <a:off x="8257032" y="4709160"/>
            <a:ext cx="292608" cy="292608"/>
          </a:xfrm>
          <a:prstGeom prst="rect">
            <a:avLst/>
          </a:prstGeom>
        </p:spPr>
      </p:pic>
      <p:sp>
        <p:nvSpPr>
          <p:cNvPr id="39" name="Text 30"/>
          <p:cNvSpPr txBox="1"/>
          <p:nvPr/>
        </p:nvSpPr>
        <p:spPr>
          <a:xfrm>
            <a:off x="8257032" y="509320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عدم مشاركة الأسئلة أو اللقطات أو الإجابات أو الرابط</a:t>
            </a:r>
            <a:endParaRPr lang="ar-SA" sz="1400" dirty="0"/>
          </a:p>
        </p:txBody>
      </p:sp>
      <p:sp>
        <p:nvSpPr>
          <p:cNvPr id="40" name="instruction-8"/>
          <p:cNvSpPr/>
          <p:nvPr/>
        </p:nvSpPr>
        <p:spPr>
          <a:xfrm>
            <a:off x="4311396" y="4526280"/>
            <a:ext cx="3566160" cy="1371600"/>
          </a:xfrm>
          <a:prstGeom prst="roundRect">
            <a:avLst>
              <a:gd name="adj" fmla="val 8000"/>
            </a:avLst>
          </a:prstGeom>
          <a:solidFill>
            <a:schemeClr val="bg2"/>
          </a:solidFill>
          <a:ln/>
        </p:spPr>
      </p:sp>
      <p:sp>
        <p:nvSpPr>
          <p:cNvPr id="41" name="Shape 32"/>
          <p:cNvSpPr/>
          <p:nvPr/>
        </p:nvSpPr>
        <p:spPr>
          <a:xfrm>
            <a:off x="7374636" y="4690872"/>
            <a:ext cx="365760" cy="365760"/>
          </a:xfrm>
          <a:prstGeom prst="ellipse">
            <a:avLst/>
          </a:prstGeom>
          <a:solidFill>
            <a:schemeClr val="accent1"/>
          </a:solidFill>
          <a:ln w="19050">
            <a:solidFill>
              <a:srgbClr val="FFFFFF"/>
            </a:solidFill>
            <a:prstDash val="solid"/>
          </a:ln>
        </p:spPr>
      </p:sp>
      <p:sp>
        <p:nvSpPr>
          <p:cNvPr id="42" name="Text 33"/>
          <p:cNvSpPr txBox="1"/>
          <p:nvPr/>
        </p:nvSpPr>
        <p:spPr>
          <a:xfrm>
            <a:off x="7374636" y="469087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8</a:t>
            </a:r>
            <a:endParaRPr lang="ar-SA" sz="1300" dirty="0"/>
          </a:p>
        </p:txBody>
      </p:sp>
      <p:pic>
        <p:nvPicPr>
          <p:cNvPr id="43" name="Image 7" descr="preencoded.png">    </p:cNvPr>
          <p:cNvPicPr>
            <a:picLocks noChangeAspect="1"/>
          </p:cNvPicPr>
          <p:nvPr/>
        </p:nvPicPr>
        <p:blipFill>
          <a:blip r:embed="rId8"/>
          <a:stretch>
            <a:fillRect/>
          </a:stretch>
        </p:blipFill>
        <p:spPr>
          <a:xfrm>
            <a:off x="4494276" y="4709160"/>
            <a:ext cx="292608" cy="292608"/>
          </a:xfrm>
          <a:prstGeom prst="rect">
            <a:avLst/>
          </a:prstGeom>
        </p:spPr>
      </p:pic>
      <p:sp>
        <p:nvSpPr>
          <p:cNvPr id="44" name="Text 34"/>
          <p:cNvSpPr txBox="1"/>
          <p:nvPr/>
        </p:nvSpPr>
        <p:spPr>
          <a:xfrm>
            <a:off x="4494276" y="509320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الإبلاغ فوراً عن أي مشكلة تقنية للمعلم أو رئيس القسم</a:t>
            </a:r>
            <a:endParaRPr lang="ar-SA" sz="1400" dirty="0"/>
          </a:p>
        </p:txBody>
      </p:sp>
      <p:sp>
        <p:nvSpPr>
          <p:cNvPr id="45" name="instruction-9"/>
          <p:cNvSpPr/>
          <p:nvPr/>
        </p:nvSpPr>
        <p:spPr>
          <a:xfrm>
            <a:off x="548640" y="4526280"/>
            <a:ext cx="3566160" cy="1371600"/>
          </a:xfrm>
          <a:prstGeom prst="roundRect">
            <a:avLst>
              <a:gd name="adj" fmla="val 8000"/>
            </a:avLst>
          </a:prstGeom>
          <a:solidFill>
            <a:schemeClr val="bg2"/>
          </a:solidFill>
          <a:ln/>
        </p:spPr>
      </p:sp>
      <p:sp>
        <p:nvSpPr>
          <p:cNvPr id="46" name="Shape 36"/>
          <p:cNvSpPr/>
          <p:nvPr/>
        </p:nvSpPr>
        <p:spPr>
          <a:xfrm>
            <a:off x="3611880" y="4690872"/>
            <a:ext cx="365760" cy="365760"/>
          </a:xfrm>
          <a:prstGeom prst="ellipse">
            <a:avLst/>
          </a:prstGeom>
          <a:solidFill>
            <a:schemeClr val="accent1"/>
          </a:solidFill>
          <a:ln w="19050">
            <a:solidFill>
              <a:srgbClr val="FFFFFF"/>
            </a:solidFill>
            <a:prstDash val="solid"/>
          </a:ln>
        </p:spPr>
      </p:sp>
      <p:sp>
        <p:nvSpPr>
          <p:cNvPr id="47" name="Text 37"/>
          <p:cNvSpPr txBox="1"/>
          <p:nvPr/>
        </p:nvSpPr>
        <p:spPr>
          <a:xfrm>
            <a:off x="3611880" y="4690872"/>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9</a:t>
            </a:r>
            <a:endParaRPr lang="ar-SA" sz="1300" dirty="0"/>
          </a:p>
        </p:txBody>
      </p:sp>
      <p:pic>
        <p:nvPicPr>
          <p:cNvPr id="48" name="Image 8" descr="preencoded.png">    </p:cNvPr>
          <p:cNvPicPr>
            <a:picLocks noChangeAspect="1"/>
          </p:cNvPicPr>
          <p:nvPr/>
        </p:nvPicPr>
        <p:blipFill>
          <a:blip r:embed="rId9"/>
          <a:stretch>
            <a:fillRect/>
          </a:stretch>
        </p:blipFill>
        <p:spPr>
          <a:xfrm>
            <a:off x="731520" y="4709160"/>
            <a:ext cx="292608" cy="292608"/>
          </a:xfrm>
          <a:prstGeom prst="rect">
            <a:avLst/>
          </a:prstGeom>
        </p:spPr>
      </p:pic>
      <p:sp>
        <p:nvSpPr>
          <p:cNvPr id="49" name="Text 38"/>
          <p:cNvSpPr txBox="1"/>
          <p:nvPr/>
        </p:nvSpPr>
        <p:spPr>
          <a:xfrm>
            <a:off x="731520" y="5093208"/>
            <a:ext cx="320040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الغش أو انتحال الشخصية يُعالج وفق سياسة المدرسة</a:t>
            </a:r>
            <a:endParaRPr lang="ar-SA" sz="1400" dirty="0"/>
          </a:p>
        </p:txBody>
      </p:sp>
      <p:sp>
        <p:nvSpPr>
          <p:cNvPr id="50" name="Text 39"/>
          <p:cNvSpPr txBox="1"/>
          <p:nvPr/>
        </p:nvSpPr>
        <p:spPr>
          <a:xfrm>
            <a:off x="548640" y="6053328"/>
            <a:ext cx="11091672" cy="292608"/>
          </a:xfrm>
          <a:prstGeom prst="rect">
            <a:avLst/>
          </a:prstGeom>
          <a:noFill/>
          <a:ln/>
        </p:spPr>
        <p:txBody>
          <a:bodyPr wrap="square" lIns="0" tIns="0" rIns="0" bIns="0" rtlCol="0" anchor="t"/>
          <a:lstStyle/>
          <a:p>
            <a:pPr rtl="1" algn="r" indent="0" marL="0">
              <a:buNone/>
            </a:pPr>
            <a:r>
              <a:rPr lang="ar-SA" altLang="en-US" sz="1100" i="1" dirty="0">
                <a:solidFill>
                  <a:schemeClr val="accent6"/>
                </a:solidFill>
                <a:latin typeface="Arial" pitchFamily="34" charset="0"/>
                <a:ea typeface="Arial" pitchFamily="34" charset="-122"/>
                <a:cs typeface="Arial" pitchFamily="34" charset="-120"/>
              </a:rPr>
              <a:t>النص الإنجليزي الكامل للتعليمات متاح في ملاحظات المتحدث لهذه الشريحة للنسخ المباشر</a:t>
            </a:r>
            <a:endParaRPr lang="ar-SA" sz="1100" dirty="0"/>
          </a:p>
        </p:txBody>
      </p:sp>
      <p:sp>
        <p:nvSpPr>
          <p:cNvPr id="5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إضافة الأسئلة واختيار النوع المناسب</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4</a:t>
            </a:r>
            <a:endParaRPr lang="ar-SA" sz="2400" dirty="0"/>
          </a:p>
        </p:txBody>
      </p:sp>
      <p:sp>
        <p:nvSpPr>
          <p:cNvPr id="5" name="mock-window"/>
          <p:cNvSpPr/>
          <p:nvPr/>
        </p:nvSpPr>
        <p:spPr>
          <a:xfrm>
            <a:off x="548640" y="1417320"/>
            <a:ext cx="3931920" cy="4617720"/>
          </a:xfrm>
          <a:prstGeom prst="roundRect">
            <a:avLst>
              <a:gd name="adj" fmla="val 2326"/>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66928" y="1435608"/>
            <a:ext cx="3895344" cy="365760"/>
          </a:xfrm>
          <a:prstGeom prst="rect">
            <a:avLst/>
          </a:prstGeom>
          <a:solidFill>
            <a:srgbClr val="F3F2F1"/>
          </a:solidFill>
          <a:ln/>
        </p:spPr>
      </p:sp>
      <p:sp>
        <p:nvSpPr>
          <p:cNvPr id="7" name="Text 5"/>
          <p:cNvSpPr txBox="1"/>
          <p:nvPr/>
        </p:nvSpPr>
        <p:spPr>
          <a:xfrm>
            <a:off x="685800" y="1435608"/>
            <a:ext cx="365760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a:t>
            </a:r>
            <a:endParaRPr lang="en-US" sz="1200" dirty="0"/>
          </a:p>
        </p:txBody>
      </p:sp>
      <p:sp>
        <p:nvSpPr>
          <p:cNvPr id="8" name="Shape 6"/>
          <p:cNvSpPr/>
          <p:nvPr/>
        </p:nvSpPr>
        <p:spPr>
          <a:xfrm>
            <a:off x="777240" y="2011680"/>
            <a:ext cx="1463040" cy="411480"/>
          </a:xfrm>
          <a:prstGeom prst="roundRect">
            <a:avLst>
              <a:gd name="adj" fmla="val 13333"/>
            </a:avLst>
          </a:prstGeom>
          <a:solidFill>
            <a:srgbClr val="FFFFFF"/>
          </a:solidFill>
          <a:ln w="12700">
            <a:solidFill>
              <a:srgbClr val="8A8886"/>
            </a:solidFill>
            <a:prstDash val="solid"/>
          </a:ln>
        </p:spPr>
      </p:sp>
      <p:sp>
        <p:nvSpPr>
          <p:cNvPr id="9" name="Text 7"/>
          <p:cNvSpPr txBox="1"/>
          <p:nvPr/>
        </p:nvSpPr>
        <p:spPr>
          <a:xfrm>
            <a:off x="868680" y="2011680"/>
            <a:ext cx="1371600" cy="41148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  Add new</a:t>
            </a:r>
            <a:endParaRPr lang="en-US" sz="1300" dirty="0"/>
          </a:p>
        </p:txBody>
      </p:sp>
      <p:sp>
        <p:nvSpPr>
          <p:cNvPr id="10" name="highlight"/>
          <p:cNvSpPr/>
          <p:nvPr/>
        </p:nvSpPr>
        <p:spPr>
          <a:xfrm>
            <a:off x="731520" y="1965960"/>
            <a:ext cx="1554480" cy="502920"/>
          </a:xfrm>
          <a:prstGeom prst="roundRect">
            <a:avLst>
              <a:gd name="adj" fmla="val 10909"/>
            </a:avLst>
          </a:prstGeom>
          <a:ln w="31750">
            <a:solidFill>
              <a:srgbClr val="F2A900"/>
            </a:solidFill>
            <a:prstDash val="solid"/>
          </a:ln>
        </p:spPr>
      </p:sp>
      <p:sp>
        <p:nvSpPr>
          <p:cNvPr id="11" name="Shape 9"/>
          <p:cNvSpPr/>
          <p:nvPr/>
        </p:nvSpPr>
        <p:spPr>
          <a:xfrm>
            <a:off x="777240" y="2697480"/>
            <a:ext cx="3474720" cy="502920"/>
          </a:xfrm>
          <a:prstGeom prst="roundRect">
            <a:avLst>
              <a:gd name="adj" fmla="val 10909"/>
            </a:avLst>
          </a:prstGeom>
          <a:solidFill>
            <a:srgbClr val="E3F1F1"/>
          </a:solidFill>
          <a:ln w="12700">
            <a:solidFill>
              <a:srgbClr val="03787C"/>
            </a:solidFill>
            <a:prstDash val="solid"/>
          </a:ln>
        </p:spPr>
      </p:sp>
      <p:pic>
        <p:nvPicPr>
          <p:cNvPr id="12" name="Image 0" descr="preencoded.png">    </p:cNvPr>
          <p:cNvPicPr>
            <a:picLocks noChangeAspect="1"/>
          </p:cNvPicPr>
          <p:nvPr/>
        </p:nvPicPr>
        <p:blipFill>
          <a:blip r:embed="rId1"/>
          <a:stretch>
            <a:fillRect/>
          </a:stretch>
        </p:blipFill>
        <p:spPr>
          <a:xfrm>
            <a:off x="914400" y="2825496"/>
            <a:ext cx="246888" cy="246888"/>
          </a:xfrm>
          <a:prstGeom prst="rect">
            <a:avLst/>
          </a:prstGeom>
        </p:spPr>
      </p:pic>
      <p:sp>
        <p:nvSpPr>
          <p:cNvPr id="13" name="Text 10"/>
          <p:cNvSpPr txBox="1"/>
          <p:nvPr/>
        </p:nvSpPr>
        <p:spPr>
          <a:xfrm>
            <a:off x="1298448" y="2697480"/>
            <a:ext cx="2834640" cy="502920"/>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Choice</a:t>
            </a:r>
            <a:endParaRPr lang="en-US" sz="1300" dirty="0"/>
          </a:p>
        </p:txBody>
      </p:sp>
      <p:sp>
        <p:nvSpPr>
          <p:cNvPr id="14" name="Shape 11"/>
          <p:cNvSpPr/>
          <p:nvPr/>
        </p:nvSpPr>
        <p:spPr>
          <a:xfrm>
            <a:off x="777240" y="3319272"/>
            <a:ext cx="3474720" cy="502920"/>
          </a:xfrm>
          <a:prstGeom prst="roundRect">
            <a:avLst>
              <a:gd name="adj" fmla="val 10909"/>
            </a:avLst>
          </a:prstGeom>
          <a:solidFill>
            <a:srgbClr val="E3F1F1"/>
          </a:solidFill>
          <a:ln w="12700">
            <a:solidFill>
              <a:srgbClr val="03787C"/>
            </a:solidFill>
            <a:prstDash val="solid"/>
          </a:ln>
        </p:spPr>
      </p:sp>
      <p:pic>
        <p:nvPicPr>
          <p:cNvPr id="15" name="Image 1" descr="preencoded.png">    </p:cNvPr>
          <p:cNvPicPr>
            <a:picLocks noChangeAspect="1"/>
          </p:cNvPicPr>
          <p:nvPr/>
        </p:nvPicPr>
        <p:blipFill>
          <a:blip r:embed="rId2"/>
          <a:stretch>
            <a:fillRect/>
          </a:stretch>
        </p:blipFill>
        <p:spPr>
          <a:xfrm>
            <a:off x="914400" y="3447288"/>
            <a:ext cx="246888" cy="246888"/>
          </a:xfrm>
          <a:prstGeom prst="rect">
            <a:avLst/>
          </a:prstGeom>
        </p:spPr>
      </p:pic>
      <p:sp>
        <p:nvSpPr>
          <p:cNvPr id="16" name="Text 12"/>
          <p:cNvSpPr txBox="1"/>
          <p:nvPr/>
        </p:nvSpPr>
        <p:spPr>
          <a:xfrm>
            <a:off x="1298448" y="3319272"/>
            <a:ext cx="2834640" cy="502920"/>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Text</a:t>
            </a:r>
            <a:endParaRPr lang="en-US" sz="1300" dirty="0"/>
          </a:p>
        </p:txBody>
      </p:sp>
      <p:sp>
        <p:nvSpPr>
          <p:cNvPr id="17" name="Shape 13"/>
          <p:cNvSpPr/>
          <p:nvPr/>
        </p:nvSpPr>
        <p:spPr>
          <a:xfrm>
            <a:off x="777240" y="3941064"/>
            <a:ext cx="3474720" cy="502920"/>
          </a:xfrm>
          <a:prstGeom prst="roundRect">
            <a:avLst>
              <a:gd name="adj" fmla="val 10909"/>
            </a:avLst>
          </a:prstGeom>
          <a:solidFill>
            <a:srgbClr val="F8F8F8"/>
          </a:solidFill>
          <a:ln w="12700">
            <a:solidFill>
              <a:srgbClr val="E1E1E1"/>
            </a:solidFill>
            <a:prstDash val="solid"/>
          </a:ln>
        </p:spPr>
      </p:sp>
      <p:pic>
        <p:nvPicPr>
          <p:cNvPr id="18" name="Image 2" descr="preencoded.png">    </p:cNvPr>
          <p:cNvPicPr>
            <a:picLocks noChangeAspect="1"/>
          </p:cNvPicPr>
          <p:nvPr/>
        </p:nvPicPr>
        <p:blipFill>
          <a:blip r:embed="rId3"/>
          <a:stretch>
            <a:fillRect/>
          </a:stretch>
        </p:blipFill>
        <p:spPr>
          <a:xfrm>
            <a:off x="914400" y="4069080"/>
            <a:ext cx="246888" cy="246888"/>
          </a:xfrm>
          <a:prstGeom prst="rect">
            <a:avLst/>
          </a:prstGeom>
        </p:spPr>
      </p:pic>
      <p:sp>
        <p:nvSpPr>
          <p:cNvPr id="19" name="Text 14"/>
          <p:cNvSpPr txBox="1"/>
          <p:nvPr/>
        </p:nvSpPr>
        <p:spPr>
          <a:xfrm>
            <a:off x="1298448" y="3941064"/>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Rating</a:t>
            </a:r>
            <a:endParaRPr lang="en-US" sz="1300" dirty="0"/>
          </a:p>
        </p:txBody>
      </p:sp>
      <p:sp>
        <p:nvSpPr>
          <p:cNvPr id="20" name="Shape 15"/>
          <p:cNvSpPr/>
          <p:nvPr/>
        </p:nvSpPr>
        <p:spPr>
          <a:xfrm>
            <a:off x="777240" y="4562856"/>
            <a:ext cx="3474720" cy="502920"/>
          </a:xfrm>
          <a:prstGeom prst="roundRect">
            <a:avLst>
              <a:gd name="adj" fmla="val 10909"/>
            </a:avLst>
          </a:prstGeom>
          <a:solidFill>
            <a:srgbClr val="F8F8F8"/>
          </a:solidFill>
          <a:ln w="12700">
            <a:solidFill>
              <a:srgbClr val="E1E1E1"/>
            </a:solidFill>
            <a:prstDash val="solid"/>
          </a:ln>
        </p:spPr>
      </p:sp>
      <p:pic>
        <p:nvPicPr>
          <p:cNvPr id="21" name="Image 3" descr="preencoded.png">    </p:cNvPr>
          <p:cNvPicPr>
            <a:picLocks noChangeAspect="1"/>
          </p:cNvPicPr>
          <p:nvPr/>
        </p:nvPicPr>
        <p:blipFill>
          <a:blip r:embed="rId4"/>
          <a:stretch>
            <a:fillRect/>
          </a:stretch>
        </p:blipFill>
        <p:spPr>
          <a:xfrm>
            <a:off x="914400" y="4690872"/>
            <a:ext cx="246888" cy="246888"/>
          </a:xfrm>
          <a:prstGeom prst="rect">
            <a:avLst/>
          </a:prstGeom>
        </p:spPr>
      </p:pic>
      <p:sp>
        <p:nvSpPr>
          <p:cNvPr id="22" name="Text 16"/>
          <p:cNvSpPr txBox="1"/>
          <p:nvPr/>
        </p:nvSpPr>
        <p:spPr>
          <a:xfrm>
            <a:off x="1298448" y="4562856"/>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Date</a:t>
            </a:r>
            <a:endParaRPr lang="en-US" sz="1300" dirty="0"/>
          </a:p>
        </p:txBody>
      </p:sp>
      <p:sp>
        <p:nvSpPr>
          <p:cNvPr id="23" name="Shape 17"/>
          <p:cNvSpPr/>
          <p:nvPr/>
        </p:nvSpPr>
        <p:spPr>
          <a:xfrm>
            <a:off x="777240" y="5184648"/>
            <a:ext cx="3474720" cy="502920"/>
          </a:xfrm>
          <a:prstGeom prst="roundRect">
            <a:avLst>
              <a:gd name="adj" fmla="val 10909"/>
            </a:avLst>
          </a:prstGeom>
          <a:solidFill>
            <a:srgbClr val="F8F8F8"/>
          </a:solidFill>
          <a:ln w="12700">
            <a:solidFill>
              <a:srgbClr val="E1E1E1"/>
            </a:solidFill>
            <a:prstDash val="solid"/>
          </a:ln>
        </p:spPr>
      </p:sp>
      <p:pic>
        <p:nvPicPr>
          <p:cNvPr id="24" name="Image 4" descr="preencoded.png">    </p:cNvPr>
          <p:cNvPicPr>
            <a:picLocks noChangeAspect="1"/>
          </p:cNvPicPr>
          <p:nvPr/>
        </p:nvPicPr>
        <p:blipFill>
          <a:blip r:embed="rId5"/>
          <a:stretch>
            <a:fillRect/>
          </a:stretch>
        </p:blipFill>
        <p:spPr>
          <a:xfrm>
            <a:off x="914400" y="5312664"/>
            <a:ext cx="246888" cy="246888"/>
          </a:xfrm>
          <a:prstGeom prst="rect">
            <a:avLst/>
          </a:prstGeom>
        </p:spPr>
      </p:pic>
      <p:sp>
        <p:nvSpPr>
          <p:cNvPr id="25" name="Text 18"/>
          <p:cNvSpPr txBox="1"/>
          <p:nvPr/>
        </p:nvSpPr>
        <p:spPr>
          <a:xfrm>
            <a:off x="1298448" y="5184648"/>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More (Ranking, Likert, Upload…)</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754880" y="1417320"/>
          <a:ext cx="6885432" cy="914400"/>
        </p:xfrm>
        <a:graphic>
          <a:graphicData uri="http://schemas.openxmlformats.org/drawingml/2006/table">
            <a:tbl>
              <a:tblPr/>
              <a:tblGrid>
                <a:gridCol w="3502152"/>
                <a:gridCol w="1737360"/>
                <a:gridCol w="1645920"/>
              </a:tblGrid>
              <a:tr h="749808">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متطلب الإعداد</a:t>
                      </a:r>
                      <a:endParaRPr lang="ar-SA"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في Forms</a:t>
                      </a:r>
                      <a:endParaRPr lang="ar-SA"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نوع السؤال</a:t>
                      </a:r>
                      <a:endParaRPr lang="ar-SA"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749808">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إجابة صحيحة واحدة واضحة، إلا إذا طُلبت عدة إجابات صراحة</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Choice</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اختيار من متعدد</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749808">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عبارات دقيقة تقيس الفهم لا التخمين</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Choice بخيارين</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صواب / خطأ</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749808">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تحديد الصيغة المطلوبة والإجابات المقبولة ومعايير التصحيح</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Text</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إجابة قصيرة</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749808">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إعداد إجابة نموذجية أو سلّم تصحيح</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Text + Long answer</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إجابة مطوّلة</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749808">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جميع القيم والوحدات ورسوم واضحة مع التسميات</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Choice / Text مع صورة</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رقمي / مصوّر</a:t>
                      </a:r>
                      <a:endParaRPr lang="ar-SA"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bl>
          </a:graphicData>
        </a:graphic>
      </p:graphicFrame>
      <p:sp>
        <p:nvSpPr>
          <p:cNvPr id="2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الإجابة الصحيحة والدرجات وخيارات السؤال</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4</a:t>
            </a:r>
            <a:endParaRPr lang="ar-SA" sz="2400" dirty="0"/>
          </a:p>
        </p:txBody>
      </p:sp>
      <p:sp>
        <p:nvSpPr>
          <p:cNvPr id="5" name="mock-window"/>
          <p:cNvSpPr/>
          <p:nvPr/>
        </p:nvSpPr>
        <p:spPr>
          <a:xfrm>
            <a:off x="548640" y="1417320"/>
            <a:ext cx="640080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66928" y="1435608"/>
            <a:ext cx="6364224" cy="365760"/>
          </a:xfrm>
          <a:prstGeom prst="rect">
            <a:avLst/>
          </a:prstGeom>
          <a:solidFill>
            <a:srgbClr val="F3F2F1"/>
          </a:solidFill>
          <a:ln/>
        </p:spPr>
      </p:sp>
      <p:sp>
        <p:nvSpPr>
          <p:cNvPr id="7" name="Text 5"/>
          <p:cNvSpPr txBox="1"/>
          <p:nvPr/>
        </p:nvSpPr>
        <p:spPr>
          <a:xfrm>
            <a:off x="685800" y="1435608"/>
            <a:ext cx="612648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 — Question 1</a:t>
            </a:r>
            <a:endParaRPr lang="en-US" sz="1200" dirty="0"/>
          </a:p>
        </p:txBody>
      </p:sp>
      <p:sp>
        <p:nvSpPr>
          <p:cNvPr id="8" name="Text 6"/>
          <p:cNvSpPr txBox="1"/>
          <p:nvPr/>
        </p:nvSpPr>
        <p:spPr>
          <a:xfrm>
            <a:off x="822960" y="1965960"/>
            <a:ext cx="5943600" cy="411480"/>
          </a:xfrm>
          <a:prstGeom prst="rect">
            <a:avLst/>
          </a:prstGeom>
          <a:noFill/>
          <a:ln/>
        </p:spPr>
        <p:txBody>
          <a:bodyPr wrap="square" lIns="0" tIns="0" rIns="0" bIns="0" rtlCol="0" anchor="ctr"/>
          <a:lstStyle/>
          <a:p>
            <a:pPr algn="l" indent="0" marL="0">
              <a:buNone/>
            </a:pPr>
            <a:r>
              <a:rPr lang="en-US" altLang="en-US" sz="1400" b="1" dirty="0">
                <a:solidFill>
                  <a:srgbClr val="323130"/>
                </a:solidFill>
                <a:latin typeface="Arial" pitchFamily="34" charset="0"/>
                <a:ea typeface="Arial" pitchFamily="34" charset="-122"/>
                <a:cs typeface="Arial" pitchFamily="34" charset="-120"/>
              </a:rPr>
              <a:t>1.  What is the basic structural unit of all living organisms?</a:t>
            </a:r>
            <a:endParaRPr lang="en-US" sz="1400" dirty="0"/>
          </a:p>
        </p:txBody>
      </p:sp>
      <p:sp>
        <p:nvSpPr>
          <p:cNvPr id="9" name="Shape 7"/>
          <p:cNvSpPr/>
          <p:nvPr/>
        </p:nvSpPr>
        <p:spPr>
          <a:xfrm>
            <a:off x="822960" y="2514600"/>
            <a:ext cx="4206240" cy="384048"/>
          </a:xfrm>
          <a:prstGeom prst="roundRect">
            <a:avLst>
              <a:gd name="adj" fmla="val 11905"/>
            </a:avLst>
          </a:prstGeom>
          <a:solidFill>
            <a:srgbClr val="F8F8F8"/>
          </a:solidFill>
          <a:ln w="12700">
            <a:solidFill>
              <a:srgbClr val="E1E1E1"/>
            </a:solidFill>
            <a:prstDash val="solid"/>
          </a:ln>
        </p:spPr>
      </p:sp>
      <p:sp>
        <p:nvSpPr>
          <p:cNvPr id="10" name="Shape 8"/>
          <p:cNvSpPr/>
          <p:nvPr/>
        </p:nvSpPr>
        <p:spPr>
          <a:xfrm>
            <a:off x="932688" y="2606040"/>
            <a:ext cx="201168" cy="201168"/>
          </a:xfrm>
          <a:prstGeom prst="ellipse">
            <a:avLst/>
          </a:prstGeom>
          <a:solidFill>
            <a:srgbClr val="FFFFFF"/>
          </a:solidFill>
          <a:ln w="15875">
            <a:solidFill>
              <a:srgbClr val="8A8886"/>
            </a:solidFill>
            <a:prstDash val="solid"/>
          </a:ln>
        </p:spPr>
      </p:sp>
      <p:sp>
        <p:nvSpPr>
          <p:cNvPr id="11" name="Text 9"/>
          <p:cNvSpPr txBox="1"/>
          <p:nvPr/>
        </p:nvSpPr>
        <p:spPr>
          <a:xfrm>
            <a:off x="1261872" y="2514600"/>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Tissue</a:t>
            </a:r>
            <a:endParaRPr lang="en-US" sz="1300" dirty="0"/>
          </a:p>
        </p:txBody>
      </p:sp>
      <p:sp>
        <p:nvSpPr>
          <p:cNvPr id="12" name="Shape 10"/>
          <p:cNvSpPr/>
          <p:nvPr/>
        </p:nvSpPr>
        <p:spPr>
          <a:xfrm>
            <a:off x="822960" y="2990088"/>
            <a:ext cx="4206240" cy="384048"/>
          </a:xfrm>
          <a:prstGeom prst="roundRect">
            <a:avLst>
              <a:gd name="adj" fmla="val 11905"/>
            </a:avLst>
          </a:prstGeom>
          <a:solidFill>
            <a:srgbClr val="E7F4EC"/>
          </a:solidFill>
          <a:ln w="12700">
            <a:solidFill>
              <a:srgbClr val="2E8B57"/>
            </a:solidFill>
            <a:prstDash val="solid"/>
          </a:ln>
        </p:spPr>
      </p:sp>
      <p:sp>
        <p:nvSpPr>
          <p:cNvPr id="13" name="Shape 11"/>
          <p:cNvSpPr/>
          <p:nvPr/>
        </p:nvSpPr>
        <p:spPr>
          <a:xfrm>
            <a:off x="932688" y="3081528"/>
            <a:ext cx="201168" cy="201168"/>
          </a:xfrm>
          <a:prstGeom prst="ellipse">
            <a:avLst/>
          </a:prstGeom>
          <a:solidFill>
            <a:srgbClr val="FFFFFF"/>
          </a:solidFill>
          <a:ln w="15875">
            <a:solidFill>
              <a:srgbClr val="8A8886"/>
            </a:solidFill>
            <a:prstDash val="solid"/>
          </a:ln>
        </p:spPr>
      </p:sp>
      <p:sp>
        <p:nvSpPr>
          <p:cNvPr id="14" name="Text 12"/>
          <p:cNvSpPr txBox="1"/>
          <p:nvPr/>
        </p:nvSpPr>
        <p:spPr>
          <a:xfrm>
            <a:off x="1261872" y="2990088"/>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Cell</a:t>
            </a:r>
            <a:endParaRPr lang="en-US" sz="1300" dirty="0"/>
          </a:p>
        </p:txBody>
      </p:sp>
      <p:sp>
        <p:nvSpPr>
          <p:cNvPr id="15" name="Text 13"/>
          <p:cNvSpPr txBox="1"/>
          <p:nvPr/>
        </p:nvSpPr>
        <p:spPr>
          <a:xfrm>
            <a:off x="3520440" y="2990088"/>
            <a:ext cx="1463040" cy="384048"/>
          </a:xfrm>
          <a:prstGeom prst="rect">
            <a:avLst/>
          </a:prstGeom>
          <a:noFill/>
          <a:ln/>
        </p:spPr>
        <p:txBody>
          <a:bodyPr wrap="square" lIns="0" tIns="0" rIns="0" bIns="0" rtlCol="0" anchor="ctr"/>
          <a:lstStyle/>
          <a:p>
            <a:pPr algn="l" indent="0" marL="0">
              <a:buNone/>
            </a:pPr>
            <a:r>
              <a:rPr lang="en-US" altLang="en-US" sz="1100" b="1" dirty="0">
                <a:solidFill>
                  <a:srgbClr val="2E8B57"/>
                </a:solidFill>
                <a:latin typeface="Arial" pitchFamily="34" charset="0"/>
                <a:ea typeface="Arial" pitchFamily="34" charset="-122"/>
                <a:cs typeface="Arial" pitchFamily="34" charset="-120"/>
              </a:rPr>
              <a:t>✓ Correct answer</a:t>
            </a:r>
            <a:endParaRPr lang="en-US" sz="1100" dirty="0"/>
          </a:p>
        </p:txBody>
      </p:sp>
      <p:sp>
        <p:nvSpPr>
          <p:cNvPr id="16" name="Shape 14"/>
          <p:cNvSpPr/>
          <p:nvPr/>
        </p:nvSpPr>
        <p:spPr>
          <a:xfrm>
            <a:off x="822960" y="3465576"/>
            <a:ext cx="4206240" cy="384048"/>
          </a:xfrm>
          <a:prstGeom prst="roundRect">
            <a:avLst>
              <a:gd name="adj" fmla="val 11905"/>
            </a:avLst>
          </a:prstGeom>
          <a:solidFill>
            <a:srgbClr val="F8F8F8"/>
          </a:solidFill>
          <a:ln w="12700">
            <a:solidFill>
              <a:srgbClr val="E1E1E1"/>
            </a:solidFill>
            <a:prstDash val="solid"/>
          </a:ln>
        </p:spPr>
      </p:sp>
      <p:sp>
        <p:nvSpPr>
          <p:cNvPr id="17" name="Shape 15"/>
          <p:cNvSpPr/>
          <p:nvPr/>
        </p:nvSpPr>
        <p:spPr>
          <a:xfrm>
            <a:off x="932688" y="3557016"/>
            <a:ext cx="201168" cy="201168"/>
          </a:xfrm>
          <a:prstGeom prst="ellipse">
            <a:avLst/>
          </a:prstGeom>
          <a:solidFill>
            <a:srgbClr val="FFFFFF"/>
          </a:solidFill>
          <a:ln w="15875">
            <a:solidFill>
              <a:srgbClr val="8A8886"/>
            </a:solidFill>
            <a:prstDash val="solid"/>
          </a:ln>
        </p:spPr>
      </p:sp>
      <p:sp>
        <p:nvSpPr>
          <p:cNvPr id="18" name="Text 16"/>
          <p:cNvSpPr txBox="1"/>
          <p:nvPr/>
        </p:nvSpPr>
        <p:spPr>
          <a:xfrm>
            <a:off x="1261872" y="3465576"/>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Organ</a:t>
            </a:r>
            <a:endParaRPr lang="en-US" sz="1300" dirty="0"/>
          </a:p>
        </p:txBody>
      </p:sp>
      <p:sp>
        <p:nvSpPr>
          <p:cNvPr id="19" name="Shape 17"/>
          <p:cNvSpPr/>
          <p:nvPr/>
        </p:nvSpPr>
        <p:spPr>
          <a:xfrm>
            <a:off x="822960" y="3941064"/>
            <a:ext cx="4206240" cy="384048"/>
          </a:xfrm>
          <a:prstGeom prst="roundRect">
            <a:avLst>
              <a:gd name="adj" fmla="val 11905"/>
            </a:avLst>
          </a:prstGeom>
          <a:solidFill>
            <a:srgbClr val="F8F8F8"/>
          </a:solidFill>
          <a:ln w="12700">
            <a:solidFill>
              <a:srgbClr val="E1E1E1"/>
            </a:solidFill>
            <a:prstDash val="solid"/>
          </a:ln>
        </p:spPr>
      </p:sp>
      <p:sp>
        <p:nvSpPr>
          <p:cNvPr id="20" name="Shape 18"/>
          <p:cNvSpPr/>
          <p:nvPr/>
        </p:nvSpPr>
        <p:spPr>
          <a:xfrm>
            <a:off x="932688" y="4032504"/>
            <a:ext cx="201168" cy="201168"/>
          </a:xfrm>
          <a:prstGeom prst="ellipse">
            <a:avLst/>
          </a:prstGeom>
          <a:solidFill>
            <a:srgbClr val="FFFFFF"/>
          </a:solidFill>
          <a:ln w="15875">
            <a:solidFill>
              <a:srgbClr val="8A8886"/>
            </a:solidFill>
            <a:prstDash val="solid"/>
          </a:ln>
        </p:spPr>
      </p:sp>
      <p:sp>
        <p:nvSpPr>
          <p:cNvPr id="21" name="Text 19"/>
          <p:cNvSpPr txBox="1"/>
          <p:nvPr/>
        </p:nvSpPr>
        <p:spPr>
          <a:xfrm>
            <a:off x="1261872" y="3941064"/>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Organ system</a:t>
            </a:r>
            <a:endParaRPr lang="en-US" sz="1300" dirty="0"/>
          </a:p>
        </p:txBody>
      </p:sp>
      <p:sp>
        <p:nvSpPr>
          <p:cNvPr id="22" name="Shape 20"/>
          <p:cNvSpPr/>
          <p:nvPr/>
        </p:nvSpPr>
        <p:spPr>
          <a:xfrm>
            <a:off x="5120640" y="3008376"/>
            <a:ext cx="329184" cy="329184"/>
          </a:xfrm>
          <a:prstGeom prst="ellipse">
            <a:avLst/>
          </a:prstGeom>
          <a:solidFill>
            <a:schemeClr val="accent2"/>
          </a:solidFill>
          <a:ln w="19050">
            <a:solidFill>
              <a:srgbClr val="FFFFFF"/>
            </a:solidFill>
            <a:prstDash val="solid"/>
          </a:ln>
        </p:spPr>
      </p:sp>
      <p:sp>
        <p:nvSpPr>
          <p:cNvPr id="23" name="Text 21"/>
          <p:cNvSpPr txBox="1"/>
          <p:nvPr/>
        </p:nvSpPr>
        <p:spPr>
          <a:xfrm>
            <a:off x="5120640" y="3008376"/>
            <a:ext cx="329184" cy="329184"/>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1</a:t>
            </a:r>
            <a:endParaRPr lang="ar-SA" sz="1300" dirty="0"/>
          </a:p>
        </p:txBody>
      </p:sp>
      <p:sp>
        <p:nvSpPr>
          <p:cNvPr id="24" name="Text 22"/>
          <p:cNvSpPr txBox="1"/>
          <p:nvPr/>
        </p:nvSpPr>
        <p:spPr>
          <a:xfrm>
            <a:off x="822960" y="4526280"/>
            <a:ext cx="731520" cy="36576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Points:</a:t>
            </a:r>
            <a:endParaRPr lang="en-US" sz="1300" dirty="0"/>
          </a:p>
        </p:txBody>
      </p:sp>
      <p:sp>
        <p:nvSpPr>
          <p:cNvPr id="25" name="Shape 23"/>
          <p:cNvSpPr/>
          <p:nvPr/>
        </p:nvSpPr>
        <p:spPr>
          <a:xfrm>
            <a:off x="1572768" y="4544568"/>
            <a:ext cx="548640" cy="329184"/>
          </a:xfrm>
          <a:prstGeom prst="rect">
            <a:avLst/>
          </a:prstGeom>
          <a:solidFill>
            <a:srgbClr val="FFFFFF"/>
          </a:solidFill>
          <a:ln w="12700">
            <a:solidFill>
              <a:srgbClr val="8A8886"/>
            </a:solidFill>
            <a:prstDash val="solid"/>
          </a:ln>
        </p:spPr>
      </p:sp>
      <p:sp>
        <p:nvSpPr>
          <p:cNvPr id="26" name="Text 24"/>
          <p:cNvSpPr txBox="1"/>
          <p:nvPr/>
        </p:nvSpPr>
        <p:spPr>
          <a:xfrm>
            <a:off x="1572768" y="4544568"/>
            <a:ext cx="548640" cy="329184"/>
          </a:xfrm>
          <a:prstGeom prst="rect">
            <a:avLst/>
          </a:prstGeom>
          <a:noFill/>
          <a:ln/>
        </p:spPr>
        <p:txBody>
          <a:bodyPr wrap="square" lIns="0" tIns="0" rIns="0" bIns="0" rtlCol="0" anchor="ctr"/>
          <a:lstStyle/>
          <a:p>
            <a:pPr algn="ctr" indent="0" marL="0">
              <a:buNone/>
            </a:pPr>
            <a:r>
              <a:rPr lang="en-US" altLang="en-US" sz="1300" dirty="0">
                <a:solidFill>
                  <a:srgbClr val="323130"/>
                </a:solidFill>
                <a:latin typeface="Arial" pitchFamily="34" charset="0"/>
                <a:ea typeface="Arial" pitchFamily="34" charset="-122"/>
                <a:cs typeface="Arial" pitchFamily="34" charset="-120"/>
              </a:rPr>
              <a:t>2</a:t>
            </a:r>
            <a:endParaRPr lang="en-US" sz="1300" dirty="0"/>
          </a:p>
        </p:txBody>
      </p:sp>
      <p:sp>
        <p:nvSpPr>
          <p:cNvPr id="27" name="Shape 25"/>
          <p:cNvSpPr/>
          <p:nvPr/>
        </p:nvSpPr>
        <p:spPr>
          <a:xfrm>
            <a:off x="2212848" y="4544568"/>
            <a:ext cx="329184" cy="329184"/>
          </a:xfrm>
          <a:prstGeom prst="ellipse">
            <a:avLst/>
          </a:prstGeom>
          <a:solidFill>
            <a:schemeClr val="accent2"/>
          </a:solidFill>
          <a:ln w="19050">
            <a:solidFill>
              <a:srgbClr val="FFFFFF"/>
            </a:solidFill>
            <a:prstDash val="solid"/>
          </a:ln>
        </p:spPr>
      </p:sp>
      <p:sp>
        <p:nvSpPr>
          <p:cNvPr id="28" name="Text 26"/>
          <p:cNvSpPr txBox="1"/>
          <p:nvPr/>
        </p:nvSpPr>
        <p:spPr>
          <a:xfrm>
            <a:off x="2212848" y="4544568"/>
            <a:ext cx="329184" cy="329184"/>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2</a:t>
            </a:r>
            <a:endParaRPr lang="ar-SA" sz="1300" dirty="0"/>
          </a:p>
        </p:txBody>
      </p:sp>
      <p:sp>
        <p:nvSpPr>
          <p:cNvPr id="29" name="Text 27"/>
          <p:cNvSpPr txBox="1"/>
          <p:nvPr/>
        </p:nvSpPr>
        <p:spPr>
          <a:xfrm>
            <a:off x="822960" y="5074920"/>
            <a:ext cx="1463040" cy="32004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Multiple answers</a:t>
            </a:r>
            <a:endParaRPr lang="en-US" sz="1200" dirty="0"/>
          </a:p>
        </p:txBody>
      </p:sp>
      <p:sp>
        <p:nvSpPr>
          <p:cNvPr id="30" name="Shape 28"/>
          <p:cNvSpPr/>
          <p:nvPr/>
        </p:nvSpPr>
        <p:spPr>
          <a:xfrm>
            <a:off x="2286000" y="5120640"/>
            <a:ext cx="420624" cy="219456"/>
          </a:xfrm>
          <a:prstGeom prst="roundRect">
            <a:avLst>
              <a:gd name="adj" fmla="val 50000"/>
            </a:avLst>
          </a:prstGeom>
          <a:solidFill>
            <a:srgbClr val="FFFFFF"/>
          </a:solidFill>
          <a:ln w="12700">
            <a:solidFill>
              <a:srgbClr val="8A8886"/>
            </a:solidFill>
            <a:prstDash val="solid"/>
          </a:ln>
        </p:spPr>
      </p:sp>
      <p:sp>
        <p:nvSpPr>
          <p:cNvPr id="31" name="Shape 29"/>
          <p:cNvSpPr/>
          <p:nvPr/>
        </p:nvSpPr>
        <p:spPr>
          <a:xfrm>
            <a:off x="2322576" y="5157216"/>
            <a:ext cx="146304" cy="146304"/>
          </a:xfrm>
          <a:prstGeom prst="ellipse">
            <a:avLst/>
          </a:prstGeom>
          <a:solidFill>
            <a:srgbClr val="605E5C"/>
          </a:solidFill>
          <a:ln/>
        </p:spPr>
      </p:sp>
      <p:sp>
        <p:nvSpPr>
          <p:cNvPr id="32" name="Text 30"/>
          <p:cNvSpPr txBox="1"/>
          <p:nvPr/>
        </p:nvSpPr>
        <p:spPr>
          <a:xfrm>
            <a:off x="2971800" y="5074920"/>
            <a:ext cx="822960" cy="32004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Required</a:t>
            </a:r>
            <a:endParaRPr lang="en-US" sz="1200" dirty="0"/>
          </a:p>
        </p:txBody>
      </p:sp>
      <p:sp>
        <p:nvSpPr>
          <p:cNvPr id="33" name="Shape 31"/>
          <p:cNvSpPr/>
          <p:nvPr/>
        </p:nvSpPr>
        <p:spPr>
          <a:xfrm>
            <a:off x="3794760" y="5120640"/>
            <a:ext cx="420624" cy="219456"/>
          </a:xfrm>
          <a:prstGeom prst="roundRect">
            <a:avLst>
              <a:gd name="adj" fmla="val 50000"/>
            </a:avLst>
          </a:prstGeom>
          <a:solidFill>
            <a:srgbClr val="03787C"/>
          </a:solidFill>
          <a:ln w="12700">
            <a:solidFill>
              <a:srgbClr val="03787C"/>
            </a:solidFill>
            <a:prstDash val="solid"/>
          </a:ln>
        </p:spPr>
      </p:sp>
      <p:sp>
        <p:nvSpPr>
          <p:cNvPr id="34" name="Shape 32"/>
          <p:cNvSpPr/>
          <p:nvPr/>
        </p:nvSpPr>
        <p:spPr>
          <a:xfrm>
            <a:off x="4023360" y="5157216"/>
            <a:ext cx="146304" cy="146304"/>
          </a:xfrm>
          <a:prstGeom prst="ellipse">
            <a:avLst/>
          </a:prstGeom>
          <a:solidFill>
            <a:srgbClr val="FFFFFF"/>
          </a:solidFill>
          <a:ln/>
        </p:spPr>
      </p:sp>
      <p:sp>
        <p:nvSpPr>
          <p:cNvPr id="35" name="Shape 33"/>
          <p:cNvSpPr/>
          <p:nvPr/>
        </p:nvSpPr>
        <p:spPr>
          <a:xfrm>
            <a:off x="4279392" y="5074920"/>
            <a:ext cx="329184" cy="329184"/>
          </a:xfrm>
          <a:prstGeom prst="ellipse">
            <a:avLst/>
          </a:prstGeom>
          <a:solidFill>
            <a:schemeClr val="accent2"/>
          </a:solidFill>
          <a:ln w="19050">
            <a:solidFill>
              <a:srgbClr val="FFFFFF"/>
            </a:solidFill>
            <a:prstDash val="solid"/>
          </a:ln>
        </p:spPr>
      </p:sp>
      <p:sp>
        <p:nvSpPr>
          <p:cNvPr id="36" name="Text 34"/>
          <p:cNvSpPr txBox="1"/>
          <p:nvPr/>
        </p:nvSpPr>
        <p:spPr>
          <a:xfrm>
            <a:off x="4279392" y="5074920"/>
            <a:ext cx="329184" cy="329184"/>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3</a:t>
            </a:r>
            <a:endParaRPr lang="ar-SA" sz="1300" dirty="0"/>
          </a:p>
        </p:txBody>
      </p:sp>
      <p:sp>
        <p:nvSpPr>
          <p:cNvPr id="37" name="Text 35"/>
          <p:cNvSpPr txBox="1"/>
          <p:nvPr/>
        </p:nvSpPr>
        <p:spPr>
          <a:xfrm>
            <a:off x="6263640" y="5074920"/>
            <a:ext cx="457200" cy="320040"/>
          </a:xfrm>
          <a:prstGeom prst="rect">
            <a:avLst/>
          </a:prstGeom>
          <a:noFill/>
          <a:ln/>
        </p:spPr>
        <p:txBody>
          <a:bodyPr wrap="square" lIns="0" tIns="0" rIns="0" bIns="0" rtlCol="0" anchor="ctr"/>
          <a:lstStyle/>
          <a:p>
            <a:pPr algn="ctr" indent="0" marL="0">
              <a:buNone/>
            </a:pPr>
            <a:r>
              <a:rPr lang="en-US" altLang="en-US" sz="1400" b="1" dirty="0">
                <a:solidFill>
                  <a:srgbClr val="323130"/>
                </a:solidFill>
                <a:latin typeface="Arial" pitchFamily="34" charset="0"/>
                <a:ea typeface="Arial" pitchFamily="34" charset="-122"/>
                <a:cs typeface="Arial" pitchFamily="34" charset="-120"/>
              </a:rPr>
              <a:t>•••</a:t>
            </a:r>
            <a:endParaRPr lang="en-US" sz="1400" dirty="0"/>
          </a:p>
        </p:txBody>
      </p:sp>
      <p:sp>
        <p:nvSpPr>
          <p:cNvPr id="38" name="Shape 36"/>
          <p:cNvSpPr/>
          <p:nvPr/>
        </p:nvSpPr>
        <p:spPr>
          <a:xfrm>
            <a:off x="4800600" y="5440680"/>
            <a:ext cx="1965960" cy="502920"/>
          </a:xfrm>
          <a:prstGeom prst="roundRect">
            <a:avLst>
              <a:gd name="adj" fmla="val 9091"/>
            </a:avLst>
          </a:prstGeom>
          <a:solidFill>
            <a:srgbClr val="FFFFFF"/>
          </a:solidFill>
          <a:ln w="12700">
            <a:solidFill>
              <a:srgbClr val="C8C6C4"/>
            </a:solidFill>
            <a:prstDash val="solid"/>
          </a:ln>
          <a:effectLst>
            <a:outerShdw sx="100000" sy="100000" kx="0" ky="0" algn="bl" rotWithShape="0" blurRad="76200" dist="25400" dir="5400000">
              <a:srgbClr val="000000">
                <a:alpha val="14000"/>
              </a:srgbClr>
            </a:outerShdw>
          </a:effectLst>
        </p:spPr>
      </p:sp>
      <p:sp>
        <p:nvSpPr>
          <p:cNvPr id="39" name="Text 37"/>
          <p:cNvSpPr txBox="1"/>
          <p:nvPr/>
        </p:nvSpPr>
        <p:spPr>
          <a:xfrm>
            <a:off x="4892040" y="5440680"/>
            <a:ext cx="1828800" cy="502920"/>
          </a:xfrm>
          <a:prstGeom prst="rect">
            <a:avLst/>
          </a:prstGeom>
          <a:noFill/>
          <a:ln/>
        </p:spPr>
        <p:txBody>
          <a:bodyPr wrap="square" lIns="0" tIns="0" rIns="0" bIns="0" rtlCol="0" anchor="ctr"/>
          <a:lstStyle/>
          <a:p>
            <a:pPr algn="l" indent="0" marL="0">
              <a:buNone/>
            </a:pPr>
            <a:r>
              <a:rPr lang="en-US" altLang="en-US" sz="1100" dirty="0">
                <a:solidFill>
                  <a:srgbClr val="323130"/>
                </a:solidFill>
                <a:latin typeface="Arial" pitchFamily="34" charset="0"/>
                <a:ea typeface="Arial" pitchFamily="34" charset="-122"/>
                <a:cs typeface="Arial" pitchFamily="34" charset="-120"/>
              </a:rPr>
              <a:t>Shuffle options   |   Math</a:t>
            </a:r>
            <a:endParaRPr lang="en-US" sz="1100" dirty="0"/>
          </a:p>
        </p:txBody>
      </p:sp>
      <p:sp>
        <p:nvSpPr>
          <p:cNvPr id="40" name="Shape 38"/>
          <p:cNvSpPr/>
          <p:nvPr/>
        </p:nvSpPr>
        <p:spPr>
          <a:xfrm>
            <a:off x="6355080" y="4709160"/>
            <a:ext cx="329184" cy="329184"/>
          </a:xfrm>
          <a:prstGeom prst="ellipse">
            <a:avLst/>
          </a:prstGeom>
          <a:solidFill>
            <a:schemeClr val="accent2"/>
          </a:solidFill>
          <a:ln w="19050">
            <a:solidFill>
              <a:srgbClr val="FFFFFF"/>
            </a:solidFill>
            <a:prstDash val="solid"/>
          </a:ln>
        </p:spPr>
      </p:sp>
      <p:sp>
        <p:nvSpPr>
          <p:cNvPr id="41" name="Text 39"/>
          <p:cNvSpPr txBox="1"/>
          <p:nvPr/>
        </p:nvSpPr>
        <p:spPr>
          <a:xfrm>
            <a:off x="6355080" y="4709160"/>
            <a:ext cx="329184" cy="329184"/>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4</a:t>
            </a:r>
            <a:endParaRPr lang="ar-SA" sz="1300" dirty="0"/>
          </a:p>
        </p:txBody>
      </p:sp>
      <p:sp>
        <p:nvSpPr>
          <p:cNvPr id="42" name="Shape 40"/>
          <p:cNvSpPr/>
          <p:nvPr/>
        </p:nvSpPr>
        <p:spPr>
          <a:xfrm>
            <a:off x="11247120" y="1508760"/>
            <a:ext cx="384048" cy="384048"/>
          </a:xfrm>
          <a:prstGeom prst="ellipse">
            <a:avLst/>
          </a:prstGeom>
          <a:solidFill>
            <a:schemeClr val="accent2"/>
          </a:solidFill>
          <a:ln w="19050">
            <a:solidFill>
              <a:srgbClr val="FFFFFF"/>
            </a:solidFill>
            <a:prstDash val="solid"/>
          </a:ln>
        </p:spPr>
      </p:sp>
      <p:sp>
        <p:nvSpPr>
          <p:cNvPr id="43" name="Text 41"/>
          <p:cNvSpPr txBox="1"/>
          <p:nvPr/>
        </p:nvSpPr>
        <p:spPr>
          <a:xfrm>
            <a:off x="11247120" y="150876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1</a:t>
            </a:r>
            <a:endParaRPr lang="ar-SA" sz="1300" dirty="0"/>
          </a:p>
        </p:txBody>
      </p:sp>
      <p:sp>
        <p:nvSpPr>
          <p:cNvPr id="44" name="Text 42"/>
          <p:cNvSpPr txBox="1"/>
          <p:nvPr/>
        </p:nvSpPr>
        <p:spPr>
          <a:xfrm>
            <a:off x="7315200" y="1463040"/>
            <a:ext cx="3840480" cy="384048"/>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حدّد الإجابة الصحيحة</a:t>
            </a:r>
            <a:endParaRPr lang="ar-SA" sz="1600" dirty="0"/>
          </a:p>
        </p:txBody>
      </p:sp>
      <p:sp>
        <p:nvSpPr>
          <p:cNvPr id="45" name="Text 43"/>
          <p:cNvSpPr txBox="1"/>
          <p:nvPr/>
        </p:nvSpPr>
        <p:spPr>
          <a:xfrm>
            <a:off x="7315200" y="1865376"/>
            <a:ext cx="38404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بعلامة الصح بجانب الخيار الصحيح</a:t>
            </a:r>
            <a:endParaRPr lang="ar-SA" sz="1400" dirty="0"/>
          </a:p>
        </p:txBody>
      </p:sp>
      <p:sp>
        <p:nvSpPr>
          <p:cNvPr id="46" name="Shape 44"/>
          <p:cNvSpPr/>
          <p:nvPr/>
        </p:nvSpPr>
        <p:spPr>
          <a:xfrm>
            <a:off x="11247120" y="2441448"/>
            <a:ext cx="384048" cy="384048"/>
          </a:xfrm>
          <a:prstGeom prst="ellipse">
            <a:avLst/>
          </a:prstGeom>
          <a:solidFill>
            <a:schemeClr val="accent2"/>
          </a:solidFill>
          <a:ln w="19050">
            <a:solidFill>
              <a:srgbClr val="FFFFFF"/>
            </a:solidFill>
            <a:prstDash val="solid"/>
          </a:ln>
        </p:spPr>
      </p:sp>
      <p:sp>
        <p:nvSpPr>
          <p:cNvPr id="47" name="Text 45"/>
          <p:cNvSpPr txBox="1"/>
          <p:nvPr/>
        </p:nvSpPr>
        <p:spPr>
          <a:xfrm>
            <a:off x="11247120" y="2441448"/>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2</a:t>
            </a:r>
            <a:endParaRPr lang="ar-SA" sz="1300" dirty="0"/>
          </a:p>
        </p:txBody>
      </p:sp>
      <p:sp>
        <p:nvSpPr>
          <p:cNvPr id="48" name="Text 46"/>
          <p:cNvSpPr txBox="1"/>
          <p:nvPr/>
        </p:nvSpPr>
        <p:spPr>
          <a:xfrm>
            <a:off x="7315200" y="2395728"/>
            <a:ext cx="3840480" cy="384048"/>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اكتب درجة كل سؤال</a:t>
            </a:r>
            <a:endParaRPr lang="ar-SA" sz="1600" dirty="0"/>
          </a:p>
        </p:txBody>
      </p:sp>
      <p:sp>
        <p:nvSpPr>
          <p:cNvPr id="49" name="Text 47"/>
          <p:cNvSpPr txBox="1"/>
          <p:nvPr/>
        </p:nvSpPr>
        <p:spPr>
          <a:xfrm>
            <a:off x="7315200" y="2798064"/>
            <a:ext cx="38404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Points تظهر للطالب بجانب السؤال</a:t>
            </a:r>
            <a:endParaRPr lang="ar-SA" sz="1400" dirty="0"/>
          </a:p>
        </p:txBody>
      </p:sp>
      <p:sp>
        <p:nvSpPr>
          <p:cNvPr id="50" name="Shape 48"/>
          <p:cNvSpPr/>
          <p:nvPr/>
        </p:nvSpPr>
        <p:spPr>
          <a:xfrm>
            <a:off x="11247120" y="3374136"/>
            <a:ext cx="384048" cy="384048"/>
          </a:xfrm>
          <a:prstGeom prst="ellipse">
            <a:avLst/>
          </a:prstGeom>
          <a:solidFill>
            <a:schemeClr val="accent2"/>
          </a:solidFill>
          <a:ln w="19050">
            <a:solidFill>
              <a:srgbClr val="FFFFFF"/>
            </a:solidFill>
            <a:prstDash val="solid"/>
          </a:ln>
        </p:spPr>
      </p:sp>
      <p:sp>
        <p:nvSpPr>
          <p:cNvPr id="51" name="Text 49"/>
          <p:cNvSpPr txBox="1"/>
          <p:nvPr/>
        </p:nvSpPr>
        <p:spPr>
          <a:xfrm>
            <a:off x="11247120" y="3374136"/>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3</a:t>
            </a:r>
            <a:endParaRPr lang="ar-SA" sz="1300" dirty="0"/>
          </a:p>
        </p:txBody>
      </p:sp>
      <p:sp>
        <p:nvSpPr>
          <p:cNvPr id="52" name="Text 50"/>
          <p:cNvSpPr txBox="1"/>
          <p:nvPr/>
        </p:nvSpPr>
        <p:spPr>
          <a:xfrm>
            <a:off x="7315200" y="3328416"/>
            <a:ext cx="3840480" cy="384048"/>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فعّل Required</a:t>
            </a:r>
            <a:endParaRPr lang="ar-SA" sz="1600" dirty="0"/>
          </a:p>
        </p:txBody>
      </p:sp>
      <p:sp>
        <p:nvSpPr>
          <p:cNvPr id="53" name="Text 51"/>
          <p:cNvSpPr txBox="1"/>
          <p:nvPr/>
        </p:nvSpPr>
        <p:spPr>
          <a:xfrm>
            <a:off x="7315200" y="3730752"/>
            <a:ext cx="38404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لكل سؤال مُقيَّم</a:t>
            </a:r>
            <a:endParaRPr lang="ar-SA" sz="1400" dirty="0"/>
          </a:p>
        </p:txBody>
      </p:sp>
      <p:sp>
        <p:nvSpPr>
          <p:cNvPr id="54" name="Shape 52"/>
          <p:cNvSpPr/>
          <p:nvPr/>
        </p:nvSpPr>
        <p:spPr>
          <a:xfrm>
            <a:off x="11247120" y="4306824"/>
            <a:ext cx="384048" cy="384048"/>
          </a:xfrm>
          <a:prstGeom prst="ellipse">
            <a:avLst/>
          </a:prstGeom>
          <a:solidFill>
            <a:schemeClr val="accent2"/>
          </a:solidFill>
          <a:ln w="19050">
            <a:solidFill>
              <a:srgbClr val="FFFFFF"/>
            </a:solidFill>
            <a:prstDash val="solid"/>
          </a:ln>
        </p:spPr>
      </p:sp>
      <p:sp>
        <p:nvSpPr>
          <p:cNvPr id="55" name="Text 53"/>
          <p:cNvSpPr txBox="1"/>
          <p:nvPr/>
        </p:nvSpPr>
        <p:spPr>
          <a:xfrm>
            <a:off x="11247120" y="4306824"/>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4</a:t>
            </a:r>
            <a:endParaRPr lang="ar-SA" sz="1300" dirty="0"/>
          </a:p>
        </p:txBody>
      </p:sp>
      <p:sp>
        <p:nvSpPr>
          <p:cNvPr id="56" name="Text 54"/>
          <p:cNvSpPr txBox="1"/>
          <p:nvPr/>
        </p:nvSpPr>
        <p:spPr>
          <a:xfrm>
            <a:off x="7315200" y="4261104"/>
            <a:ext cx="3840480" cy="384048"/>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خلط الخيارات من •••</a:t>
            </a:r>
            <a:endParaRPr lang="ar-SA" sz="1600" dirty="0"/>
          </a:p>
        </p:txBody>
      </p:sp>
      <p:sp>
        <p:nvSpPr>
          <p:cNvPr id="57" name="Text 55"/>
          <p:cNvSpPr txBox="1"/>
          <p:nvPr/>
        </p:nvSpPr>
        <p:spPr>
          <a:xfrm>
            <a:off x="7315200" y="4663440"/>
            <a:ext cx="3840480" cy="4114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Shuffle options؛ انتبه لخيار «جميع ما سبق»</a:t>
            </a:r>
            <a:endParaRPr lang="ar-SA" sz="1400" dirty="0"/>
          </a:p>
        </p:txBody>
      </p:sp>
      <p:sp>
        <p:nvSpPr>
          <p:cNvPr id="58" name="total-check"/>
          <p:cNvSpPr/>
          <p:nvPr/>
        </p:nvSpPr>
        <p:spPr>
          <a:xfrm>
            <a:off x="7315200" y="5257800"/>
            <a:ext cx="4325112" cy="777240"/>
          </a:xfrm>
          <a:prstGeom prst="roundRect">
            <a:avLst>
              <a:gd name="adj" fmla="val 14118"/>
            </a:avLst>
          </a:prstGeom>
          <a:solidFill>
            <a:srgbClr val="FFF4D6"/>
          </a:solidFill>
          <a:ln/>
        </p:spPr>
      </p:sp>
      <p:pic>
        <p:nvPicPr>
          <p:cNvPr id="59" name="Image 0" descr="preencoded.png">    </p:cNvPr>
          <p:cNvPicPr>
            <a:picLocks noChangeAspect="1"/>
          </p:cNvPicPr>
          <p:nvPr/>
        </p:nvPicPr>
        <p:blipFill>
          <a:blip r:embed="rId1"/>
          <a:stretch>
            <a:fillRect/>
          </a:stretch>
        </p:blipFill>
        <p:spPr>
          <a:xfrm>
            <a:off x="11155680" y="5468112"/>
            <a:ext cx="347472" cy="347472"/>
          </a:xfrm>
          <a:prstGeom prst="rect">
            <a:avLst/>
          </a:prstGeom>
        </p:spPr>
      </p:pic>
      <p:sp>
        <p:nvSpPr>
          <p:cNvPr id="60" name="Text 57"/>
          <p:cNvSpPr txBox="1"/>
          <p:nvPr/>
        </p:nvSpPr>
        <p:spPr>
          <a:xfrm>
            <a:off x="7452360" y="5257800"/>
            <a:ext cx="3611880" cy="777240"/>
          </a:xfrm>
          <a:prstGeom prst="rect">
            <a:avLst/>
          </a:prstGeom>
          <a:noFill/>
          <a:ln/>
        </p:spPr>
        <p:txBody>
          <a:bodyPr wrap="square" lIns="0" tIns="0" rIns="0" bIns="0" rtlCol="0" anchor="ctr"/>
          <a:lstStyle/>
          <a:p>
            <a:pPr rtl="1" algn="r" indent="0" marL="0">
              <a:buNone/>
            </a:pPr>
            <a:r>
              <a:rPr lang="ar-SA" altLang="en-US" sz="1400" b="1" dirty="0">
                <a:solidFill>
                  <a:schemeClr val="tx1"/>
                </a:solidFill>
                <a:latin typeface="Arial" pitchFamily="34" charset="0"/>
                <a:ea typeface="Arial" pitchFamily="34" charset="-122"/>
                <a:cs typeface="Arial" pitchFamily="34" charset="-120"/>
              </a:rPr>
              <a:t>تحقّق أن مجموع النقاط = الدرجة الكلية المعتمدة</a:t>
            </a:r>
            <a:endParaRPr lang="ar-SA" sz="1400" dirty="0"/>
          </a:p>
        </p:txBody>
      </p:sp>
      <p:sp>
        <p:nvSpPr>
          <p:cNvPr id="6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مراجعة جودة المحتوى قبل الإعدادات</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quality-1"/>
          <p:cNvSpPr/>
          <p:nvPr/>
        </p:nvSpPr>
        <p:spPr>
          <a:xfrm>
            <a:off x="8074152" y="1463040"/>
            <a:ext cx="3566160" cy="2148840"/>
          </a:xfrm>
          <a:prstGeom prst="roundRect">
            <a:avLst>
              <a:gd name="adj" fmla="val 5106"/>
            </a:avLst>
          </a:prstGeom>
          <a:solidFill>
            <a:schemeClr val="bg2"/>
          </a:solidFill>
          <a:ln/>
        </p:spPr>
      </p:sp>
      <p:sp>
        <p:nvSpPr>
          <p:cNvPr id="6" name="Shape 3"/>
          <p:cNvSpPr/>
          <p:nvPr/>
        </p:nvSpPr>
        <p:spPr>
          <a:xfrm>
            <a:off x="10954512" y="1664208"/>
            <a:ext cx="502920" cy="50292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11082528" y="1792224"/>
            <a:ext cx="246888" cy="246888"/>
          </a:xfrm>
          <a:prstGeom prst="rect">
            <a:avLst/>
          </a:prstGeom>
        </p:spPr>
      </p:pic>
      <p:sp>
        <p:nvSpPr>
          <p:cNvPr id="8" name="Text 4"/>
          <p:cNvSpPr txBox="1"/>
          <p:nvPr/>
        </p:nvSpPr>
        <p:spPr>
          <a:xfrm>
            <a:off x="8257032" y="170992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التوافق مع خطة العمل</a:t>
            </a:r>
            <a:endParaRPr lang="ar-SA" sz="1700" dirty="0"/>
          </a:p>
        </p:txBody>
      </p:sp>
      <p:sp>
        <p:nvSpPr>
          <p:cNvPr id="9" name="Text 5"/>
          <p:cNvSpPr txBox="1"/>
          <p:nvPr/>
        </p:nvSpPr>
        <p:spPr>
          <a:xfrm>
            <a:off x="8257032" y="228600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كل سؤال مرتبط بخطة العمل المعتمدة ونواتج التعلم وما دُرِّس حتى تاريخ الاختبار</a:t>
            </a:r>
            <a:endParaRPr lang="ar-SA" sz="1400" dirty="0"/>
          </a:p>
        </p:txBody>
      </p:sp>
      <p:sp>
        <p:nvSpPr>
          <p:cNvPr id="10" name="quality-2"/>
          <p:cNvSpPr/>
          <p:nvPr/>
        </p:nvSpPr>
        <p:spPr>
          <a:xfrm>
            <a:off x="4311396" y="1463040"/>
            <a:ext cx="3566160" cy="2148840"/>
          </a:xfrm>
          <a:prstGeom prst="roundRect">
            <a:avLst>
              <a:gd name="adj" fmla="val 5106"/>
            </a:avLst>
          </a:prstGeom>
          <a:solidFill>
            <a:schemeClr val="bg2"/>
          </a:solidFill>
          <a:ln/>
        </p:spPr>
      </p:sp>
      <p:sp>
        <p:nvSpPr>
          <p:cNvPr id="11" name="Shape 7"/>
          <p:cNvSpPr/>
          <p:nvPr/>
        </p:nvSpPr>
        <p:spPr>
          <a:xfrm>
            <a:off x="7191756" y="1664208"/>
            <a:ext cx="502920" cy="50292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7319772" y="1792224"/>
            <a:ext cx="246888" cy="246888"/>
          </a:xfrm>
          <a:prstGeom prst="rect">
            <a:avLst/>
          </a:prstGeom>
        </p:spPr>
      </p:pic>
      <p:sp>
        <p:nvSpPr>
          <p:cNvPr id="13" name="Text 8"/>
          <p:cNvSpPr txBox="1"/>
          <p:nvPr/>
        </p:nvSpPr>
        <p:spPr>
          <a:xfrm>
            <a:off x="4494276" y="170992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توازن المستويات</a:t>
            </a:r>
            <a:endParaRPr lang="ar-SA" sz="1700" dirty="0"/>
          </a:p>
        </p:txBody>
      </p:sp>
      <p:sp>
        <p:nvSpPr>
          <p:cNvPr id="14" name="Text 9"/>
          <p:cNvSpPr txBox="1"/>
          <p:nvPr/>
        </p:nvSpPr>
        <p:spPr>
          <a:xfrm>
            <a:off x="4494276" y="228600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معرفة وفهم وتطبيق ومهارات تفكير عليا تناسب المادة والصف</a:t>
            </a:r>
            <a:endParaRPr lang="ar-SA" sz="1400" dirty="0"/>
          </a:p>
        </p:txBody>
      </p:sp>
      <p:sp>
        <p:nvSpPr>
          <p:cNvPr id="15" name="quality-3"/>
          <p:cNvSpPr/>
          <p:nvPr/>
        </p:nvSpPr>
        <p:spPr>
          <a:xfrm>
            <a:off x="548640" y="1463040"/>
            <a:ext cx="3566160" cy="2148840"/>
          </a:xfrm>
          <a:prstGeom prst="roundRect">
            <a:avLst>
              <a:gd name="adj" fmla="val 5106"/>
            </a:avLst>
          </a:prstGeom>
          <a:solidFill>
            <a:schemeClr val="bg2"/>
          </a:solidFill>
          <a:ln/>
        </p:spPr>
      </p:sp>
      <p:sp>
        <p:nvSpPr>
          <p:cNvPr id="16" name="Shape 11"/>
          <p:cNvSpPr/>
          <p:nvPr/>
        </p:nvSpPr>
        <p:spPr>
          <a:xfrm>
            <a:off x="3429000" y="1664208"/>
            <a:ext cx="502920" cy="50292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3557016" y="1792224"/>
            <a:ext cx="246888" cy="246888"/>
          </a:xfrm>
          <a:prstGeom prst="rect">
            <a:avLst/>
          </a:prstGeom>
        </p:spPr>
      </p:pic>
      <p:sp>
        <p:nvSpPr>
          <p:cNvPr id="18" name="Text 12"/>
          <p:cNvSpPr txBox="1"/>
          <p:nvPr/>
        </p:nvSpPr>
        <p:spPr>
          <a:xfrm>
            <a:off x="731520" y="170992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صياغة واضحة</a:t>
            </a:r>
            <a:endParaRPr lang="ar-SA" sz="1700" dirty="0"/>
          </a:p>
        </p:txBody>
      </p:sp>
      <p:sp>
        <p:nvSpPr>
          <p:cNvPr id="19" name="Text 13"/>
          <p:cNvSpPr txBox="1"/>
          <p:nvPr/>
        </p:nvSpPr>
        <p:spPr>
          <a:xfrm>
            <a:off x="731520" y="228600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لغة مناسبة للعمر، دون غموض أو مشتّتات مخادعة أو تكرار أو محتوى غير مُدرَّس</a:t>
            </a:r>
            <a:endParaRPr lang="ar-SA" sz="1400" dirty="0"/>
          </a:p>
        </p:txBody>
      </p:sp>
      <p:sp>
        <p:nvSpPr>
          <p:cNvPr id="20" name="quality-4"/>
          <p:cNvSpPr/>
          <p:nvPr/>
        </p:nvSpPr>
        <p:spPr>
          <a:xfrm>
            <a:off x="8074152" y="3840480"/>
            <a:ext cx="3566160" cy="2148840"/>
          </a:xfrm>
          <a:prstGeom prst="roundRect">
            <a:avLst>
              <a:gd name="adj" fmla="val 5106"/>
            </a:avLst>
          </a:prstGeom>
          <a:solidFill>
            <a:schemeClr val="bg2"/>
          </a:solidFill>
          <a:ln/>
        </p:spPr>
      </p:sp>
      <p:sp>
        <p:nvSpPr>
          <p:cNvPr id="21" name="Shape 15"/>
          <p:cNvSpPr/>
          <p:nvPr/>
        </p:nvSpPr>
        <p:spPr>
          <a:xfrm>
            <a:off x="10954512" y="4041648"/>
            <a:ext cx="502920" cy="50292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11082528" y="4169664"/>
            <a:ext cx="246888" cy="246888"/>
          </a:xfrm>
          <a:prstGeom prst="rect">
            <a:avLst/>
          </a:prstGeom>
        </p:spPr>
      </p:pic>
      <p:sp>
        <p:nvSpPr>
          <p:cNvPr id="23" name="Text 16"/>
          <p:cNvSpPr txBox="1"/>
          <p:nvPr/>
        </p:nvSpPr>
        <p:spPr>
          <a:xfrm>
            <a:off x="8257032" y="408736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الدرجات والزمن</a:t>
            </a:r>
            <a:endParaRPr lang="ar-SA" sz="1700" dirty="0"/>
          </a:p>
        </p:txBody>
      </p:sp>
      <p:sp>
        <p:nvSpPr>
          <p:cNvPr id="24" name="Text 17"/>
          <p:cNvSpPr txBox="1"/>
          <p:nvPr/>
        </p:nvSpPr>
        <p:spPr>
          <a:xfrm>
            <a:off x="8257032" y="466344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الدرجة الكلية والمدة المعتمدتان، وقيمة كل سؤال ظاهرة ومجموعها صحيح</a:t>
            </a:r>
            <a:endParaRPr lang="ar-SA" sz="1400" dirty="0"/>
          </a:p>
        </p:txBody>
      </p:sp>
      <p:sp>
        <p:nvSpPr>
          <p:cNvPr id="25" name="quality-5"/>
          <p:cNvSpPr/>
          <p:nvPr/>
        </p:nvSpPr>
        <p:spPr>
          <a:xfrm>
            <a:off x="4311396" y="3840480"/>
            <a:ext cx="3566160" cy="2148840"/>
          </a:xfrm>
          <a:prstGeom prst="roundRect">
            <a:avLst>
              <a:gd name="adj" fmla="val 5106"/>
            </a:avLst>
          </a:prstGeom>
          <a:solidFill>
            <a:schemeClr val="bg2"/>
          </a:solidFill>
          <a:ln/>
        </p:spPr>
      </p:sp>
      <p:sp>
        <p:nvSpPr>
          <p:cNvPr id="26" name="Shape 19"/>
          <p:cNvSpPr/>
          <p:nvPr/>
        </p:nvSpPr>
        <p:spPr>
          <a:xfrm>
            <a:off x="7191756" y="4041648"/>
            <a:ext cx="502920" cy="502920"/>
          </a:xfrm>
          <a:prstGeom prst="ellipse">
            <a:avLst/>
          </a:prstGeom>
          <a:solidFill>
            <a:schemeClr val="accent1"/>
          </a:solidFill>
          <a:ln/>
        </p:spPr>
      </p:sp>
      <p:pic>
        <p:nvPicPr>
          <p:cNvPr id="27" name="Image 5" descr="preencoded.png">    </p:cNvPr>
          <p:cNvPicPr>
            <a:picLocks noChangeAspect="1"/>
          </p:cNvPicPr>
          <p:nvPr/>
        </p:nvPicPr>
        <p:blipFill>
          <a:blip r:embed="rId6"/>
          <a:stretch>
            <a:fillRect/>
          </a:stretch>
        </p:blipFill>
        <p:spPr>
          <a:xfrm>
            <a:off x="7319772" y="4169664"/>
            <a:ext cx="246888" cy="246888"/>
          </a:xfrm>
          <a:prstGeom prst="rect">
            <a:avLst/>
          </a:prstGeom>
        </p:spPr>
      </p:pic>
      <p:sp>
        <p:nvSpPr>
          <p:cNvPr id="28" name="Text 20"/>
          <p:cNvSpPr txBox="1"/>
          <p:nvPr/>
        </p:nvSpPr>
        <p:spPr>
          <a:xfrm>
            <a:off x="4494276" y="408736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التدقيق</a:t>
            </a:r>
            <a:endParaRPr lang="ar-SA" sz="1700" dirty="0"/>
          </a:p>
        </p:txBody>
      </p:sp>
      <p:sp>
        <p:nvSpPr>
          <p:cNvPr id="29" name="Text 21"/>
          <p:cNvSpPr txBox="1"/>
          <p:nvPr/>
        </p:nvSpPr>
        <p:spPr>
          <a:xfrm>
            <a:off x="4494276" y="466344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الإملاء والقواعد والمصطلحات العلمية والمعادلات والرسوم والحسابات</a:t>
            </a:r>
            <a:endParaRPr lang="ar-SA" sz="1400" dirty="0"/>
          </a:p>
        </p:txBody>
      </p:sp>
      <p:sp>
        <p:nvSpPr>
          <p:cNvPr id="30" name="quality-6"/>
          <p:cNvSpPr/>
          <p:nvPr/>
        </p:nvSpPr>
        <p:spPr>
          <a:xfrm>
            <a:off x="548640" y="3840480"/>
            <a:ext cx="3566160" cy="2148840"/>
          </a:xfrm>
          <a:prstGeom prst="roundRect">
            <a:avLst>
              <a:gd name="adj" fmla="val 5106"/>
            </a:avLst>
          </a:prstGeom>
          <a:solidFill>
            <a:schemeClr val="bg2"/>
          </a:solidFill>
          <a:ln/>
        </p:spPr>
      </p:sp>
      <p:sp>
        <p:nvSpPr>
          <p:cNvPr id="31" name="Shape 23"/>
          <p:cNvSpPr/>
          <p:nvPr/>
        </p:nvSpPr>
        <p:spPr>
          <a:xfrm>
            <a:off x="3429000" y="4041648"/>
            <a:ext cx="502920" cy="502920"/>
          </a:xfrm>
          <a:prstGeom prst="ellipse">
            <a:avLst/>
          </a:prstGeom>
          <a:solidFill>
            <a:schemeClr val="accent1"/>
          </a:solidFill>
          <a:ln/>
        </p:spPr>
      </p:sp>
      <p:pic>
        <p:nvPicPr>
          <p:cNvPr id="32" name="Image 6" descr="preencoded.png">    </p:cNvPr>
          <p:cNvPicPr>
            <a:picLocks noChangeAspect="1"/>
          </p:cNvPicPr>
          <p:nvPr/>
        </p:nvPicPr>
        <p:blipFill>
          <a:blip r:embed="rId7"/>
          <a:stretch>
            <a:fillRect/>
          </a:stretch>
        </p:blipFill>
        <p:spPr>
          <a:xfrm>
            <a:off x="3557016" y="4169664"/>
            <a:ext cx="246888" cy="246888"/>
          </a:xfrm>
          <a:prstGeom prst="rect">
            <a:avLst/>
          </a:prstGeom>
        </p:spPr>
      </p:pic>
      <p:sp>
        <p:nvSpPr>
          <p:cNvPr id="33" name="Text 24"/>
          <p:cNvSpPr txBox="1"/>
          <p:nvPr/>
        </p:nvSpPr>
        <p:spPr>
          <a:xfrm>
            <a:off x="731520" y="4087368"/>
            <a:ext cx="26060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التنسيق بين المعلمين</a:t>
            </a:r>
            <a:endParaRPr lang="ar-SA" sz="1700" dirty="0"/>
          </a:p>
        </p:txBody>
      </p:sp>
      <p:sp>
        <p:nvSpPr>
          <p:cNvPr id="34" name="Text 25"/>
          <p:cNvSpPr txBox="1"/>
          <p:nvPr/>
        </p:nvSpPr>
        <p:spPr>
          <a:xfrm>
            <a:off x="731520" y="4663440"/>
            <a:ext cx="3200400" cy="11887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تغطية ومعايير وصعوبة متقاربة لمعلمي المادة والصف نفسيهما</a:t>
            </a:r>
            <a:endParaRPr lang="ar-SA" sz="1400" dirty="0"/>
          </a:p>
        </p:txBody>
      </p:sp>
      <p:sp>
        <p:nvSpPr>
          <p:cNvPr id="3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الإعدادات: من يمكنه الاستجابة</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5</a:t>
            </a:r>
            <a:endParaRPr lang="ar-SA" sz="2400" dirty="0"/>
          </a:p>
        </p:txBody>
      </p:sp>
      <p:sp>
        <p:nvSpPr>
          <p:cNvPr id="5" name="mock-window"/>
          <p:cNvSpPr/>
          <p:nvPr/>
        </p:nvSpPr>
        <p:spPr>
          <a:xfrm>
            <a:off x="548640" y="1417320"/>
            <a:ext cx="630936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66928" y="1435608"/>
            <a:ext cx="6272784" cy="365760"/>
          </a:xfrm>
          <a:prstGeom prst="rect">
            <a:avLst/>
          </a:prstGeom>
          <a:solidFill>
            <a:srgbClr val="F3F2F1"/>
          </a:solidFill>
          <a:ln/>
        </p:spPr>
      </p:sp>
      <p:sp>
        <p:nvSpPr>
          <p:cNvPr id="7" name="Text 5"/>
          <p:cNvSpPr txBox="1"/>
          <p:nvPr/>
        </p:nvSpPr>
        <p:spPr>
          <a:xfrm>
            <a:off x="685800" y="1435608"/>
            <a:ext cx="60350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Settings</a:t>
            </a:r>
            <a:endParaRPr lang="en-US" sz="1200" dirty="0"/>
          </a:p>
        </p:txBody>
      </p:sp>
      <p:sp>
        <p:nvSpPr>
          <p:cNvPr id="8" name="Text 6"/>
          <p:cNvSpPr txBox="1"/>
          <p:nvPr/>
        </p:nvSpPr>
        <p:spPr>
          <a:xfrm>
            <a:off x="5120640" y="1435608"/>
            <a:ext cx="1645920" cy="365760"/>
          </a:xfrm>
          <a:prstGeom prst="rect">
            <a:avLst/>
          </a:prstGeom>
          <a:noFill/>
          <a:ln/>
        </p:spPr>
        <p:txBody>
          <a:bodyPr wrap="square" lIns="0" tIns="0" rIns="0" bIns="0" rtlCol="0" anchor="ctr"/>
          <a:lstStyle/>
          <a:p>
            <a:pPr algn="r" indent="0" marL="0">
              <a:buNone/>
            </a:pPr>
            <a:r>
              <a:rPr lang="en-US" altLang="en-US" sz="1100" dirty="0">
                <a:solidFill>
                  <a:srgbClr val="605E5C"/>
                </a:solidFill>
                <a:latin typeface="Arial" pitchFamily="34" charset="0"/>
                <a:ea typeface="Arial" pitchFamily="34" charset="-122"/>
                <a:cs typeface="Arial" pitchFamily="34" charset="-120"/>
              </a:rPr>
              <a:t>•••  ›  Settings</a:t>
            </a:r>
            <a:endParaRPr lang="en-US" sz="1100" dirty="0"/>
          </a:p>
        </p:txBody>
      </p:sp>
      <p:sp>
        <p:nvSpPr>
          <p:cNvPr id="9" name="Text 7"/>
          <p:cNvSpPr txBox="1"/>
          <p:nvPr/>
        </p:nvSpPr>
        <p:spPr>
          <a:xfrm>
            <a:off x="822960" y="1965960"/>
            <a:ext cx="4572000" cy="365760"/>
          </a:xfrm>
          <a:prstGeom prst="rect">
            <a:avLst/>
          </a:prstGeom>
          <a:noFill/>
          <a:ln/>
        </p:spPr>
        <p:txBody>
          <a:bodyPr wrap="square" lIns="0" tIns="0" rIns="0" bIns="0" rtlCol="0" anchor="ctr"/>
          <a:lstStyle/>
          <a:p>
            <a:pPr algn="l" indent="0" marL="0">
              <a:buNone/>
            </a:pPr>
            <a:r>
              <a:rPr lang="en-US" altLang="en-US" sz="1400" b="1" dirty="0">
                <a:solidFill>
                  <a:srgbClr val="323130"/>
                </a:solidFill>
                <a:latin typeface="Arial" pitchFamily="34" charset="0"/>
                <a:ea typeface="Arial" pitchFamily="34" charset="-122"/>
                <a:cs typeface="Arial" pitchFamily="34" charset="-120"/>
              </a:rPr>
              <a:t>Who can fill out this form</a:t>
            </a:r>
            <a:endParaRPr lang="en-US" sz="1400" dirty="0"/>
          </a:p>
        </p:txBody>
      </p:sp>
      <p:sp>
        <p:nvSpPr>
          <p:cNvPr id="10" name="Shape 8"/>
          <p:cNvSpPr/>
          <p:nvPr/>
        </p:nvSpPr>
        <p:spPr>
          <a:xfrm>
            <a:off x="868680" y="2514600"/>
            <a:ext cx="201168" cy="201168"/>
          </a:xfrm>
          <a:prstGeom prst="ellipse">
            <a:avLst/>
          </a:prstGeom>
          <a:solidFill>
            <a:srgbClr val="FFFFFF"/>
          </a:solidFill>
          <a:ln w="15875">
            <a:solidFill>
              <a:srgbClr val="8A8886"/>
            </a:solidFill>
            <a:prstDash val="solid"/>
          </a:ln>
        </p:spPr>
      </p:sp>
      <p:sp>
        <p:nvSpPr>
          <p:cNvPr id="11" name="Text 9"/>
          <p:cNvSpPr txBox="1"/>
          <p:nvPr/>
        </p:nvSpPr>
        <p:spPr>
          <a:xfrm>
            <a:off x="1188720" y="2450592"/>
            <a:ext cx="3657600" cy="329184"/>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Anyone can respond</a:t>
            </a:r>
            <a:endParaRPr lang="en-US" sz="1300" dirty="0"/>
          </a:p>
        </p:txBody>
      </p:sp>
      <p:sp>
        <p:nvSpPr>
          <p:cNvPr id="12" name="Shape 10"/>
          <p:cNvSpPr/>
          <p:nvPr/>
        </p:nvSpPr>
        <p:spPr>
          <a:xfrm>
            <a:off x="868680" y="2971800"/>
            <a:ext cx="201168" cy="201168"/>
          </a:xfrm>
          <a:prstGeom prst="ellipse">
            <a:avLst/>
          </a:prstGeom>
          <a:solidFill>
            <a:srgbClr val="FFFFFF"/>
          </a:solidFill>
          <a:ln w="15875">
            <a:solidFill>
              <a:srgbClr val="03787C"/>
            </a:solidFill>
            <a:prstDash val="solid"/>
          </a:ln>
        </p:spPr>
      </p:sp>
      <p:sp>
        <p:nvSpPr>
          <p:cNvPr id="13" name="Shape 11"/>
          <p:cNvSpPr/>
          <p:nvPr/>
        </p:nvSpPr>
        <p:spPr>
          <a:xfrm>
            <a:off x="918972" y="3022092"/>
            <a:ext cx="100584" cy="100584"/>
          </a:xfrm>
          <a:prstGeom prst="ellipse">
            <a:avLst/>
          </a:prstGeom>
          <a:solidFill>
            <a:srgbClr val="03787C"/>
          </a:solidFill>
          <a:ln/>
        </p:spPr>
      </p:sp>
      <p:sp>
        <p:nvSpPr>
          <p:cNvPr id="14" name="Text 12"/>
          <p:cNvSpPr txBox="1"/>
          <p:nvPr/>
        </p:nvSpPr>
        <p:spPr>
          <a:xfrm>
            <a:off x="1188720" y="2907792"/>
            <a:ext cx="4572000" cy="329184"/>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Only people in my organization can respond</a:t>
            </a:r>
            <a:endParaRPr lang="en-US" sz="1300" dirty="0"/>
          </a:p>
        </p:txBody>
      </p:sp>
      <p:sp>
        <p:nvSpPr>
          <p:cNvPr id="15" name="highlight"/>
          <p:cNvSpPr/>
          <p:nvPr/>
        </p:nvSpPr>
        <p:spPr>
          <a:xfrm>
            <a:off x="777240" y="2852928"/>
            <a:ext cx="5394960" cy="438912"/>
          </a:xfrm>
          <a:prstGeom prst="roundRect">
            <a:avLst>
              <a:gd name="adj" fmla="val 12500"/>
            </a:avLst>
          </a:prstGeom>
          <a:ln w="31750">
            <a:solidFill>
              <a:srgbClr val="F2A900"/>
            </a:solidFill>
            <a:prstDash val="solid"/>
          </a:ln>
        </p:spPr>
      </p:sp>
      <p:sp>
        <p:nvSpPr>
          <p:cNvPr id="16" name="Shape 14"/>
          <p:cNvSpPr/>
          <p:nvPr/>
        </p:nvSpPr>
        <p:spPr>
          <a:xfrm>
            <a:off x="6263640" y="2880360"/>
            <a:ext cx="365760" cy="365760"/>
          </a:xfrm>
          <a:prstGeom prst="ellipse">
            <a:avLst/>
          </a:prstGeom>
          <a:solidFill>
            <a:schemeClr val="accent2"/>
          </a:solidFill>
          <a:ln w="19050">
            <a:solidFill>
              <a:srgbClr val="FFFFFF"/>
            </a:solidFill>
            <a:prstDash val="solid"/>
          </a:ln>
        </p:spPr>
      </p:sp>
      <p:sp>
        <p:nvSpPr>
          <p:cNvPr id="17" name="Text 15"/>
          <p:cNvSpPr txBox="1"/>
          <p:nvPr/>
        </p:nvSpPr>
        <p:spPr>
          <a:xfrm>
            <a:off x="6263640" y="288036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1</a:t>
            </a:r>
            <a:endParaRPr lang="ar-SA" sz="1300" dirty="0"/>
          </a:p>
        </p:txBody>
      </p:sp>
      <p:sp>
        <p:nvSpPr>
          <p:cNvPr id="18" name="Shape 16"/>
          <p:cNvSpPr/>
          <p:nvPr/>
        </p:nvSpPr>
        <p:spPr>
          <a:xfrm>
            <a:off x="1280160" y="3474720"/>
            <a:ext cx="201168" cy="201168"/>
          </a:xfrm>
          <a:prstGeom prst="roundRect">
            <a:avLst>
              <a:gd name="adj" fmla="val 13636"/>
            </a:avLst>
          </a:prstGeom>
          <a:solidFill>
            <a:srgbClr val="03787C"/>
          </a:solidFill>
          <a:ln w="12700">
            <a:solidFill>
              <a:srgbClr val="03787C"/>
            </a:solidFill>
            <a:prstDash val="solid"/>
          </a:ln>
        </p:spPr>
      </p:sp>
      <p:sp>
        <p:nvSpPr>
          <p:cNvPr id="19" name="Text 17"/>
          <p:cNvSpPr txBox="1"/>
          <p:nvPr/>
        </p:nvSpPr>
        <p:spPr>
          <a:xfrm>
            <a:off x="1280160" y="3474720"/>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0" name="Text 18"/>
          <p:cNvSpPr txBox="1"/>
          <p:nvPr/>
        </p:nvSpPr>
        <p:spPr>
          <a:xfrm>
            <a:off x="1600200" y="3410712"/>
            <a:ext cx="2743200" cy="329184"/>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Record name</a:t>
            </a:r>
            <a:endParaRPr lang="en-US" sz="1300" dirty="0"/>
          </a:p>
        </p:txBody>
      </p:sp>
      <p:sp>
        <p:nvSpPr>
          <p:cNvPr id="21" name="Shape 19"/>
          <p:cNvSpPr/>
          <p:nvPr/>
        </p:nvSpPr>
        <p:spPr>
          <a:xfrm>
            <a:off x="3108960" y="3401568"/>
            <a:ext cx="347472" cy="347472"/>
          </a:xfrm>
          <a:prstGeom prst="ellipse">
            <a:avLst/>
          </a:prstGeom>
          <a:solidFill>
            <a:schemeClr val="accent2"/>
          </a:solidFill>
          <a:ln w="19050">
            <a:solidFill>
              <a:srgbClr val="FFFFFF"/>
            </a:solidFill>
            <a:prstDash val="solid"/>
          </a:ln>
        </p:spPr>
      </p:sp>
      <p:sp>
        <p:nvSpPr>
          <p:cNvPr id="22" name="Text 20"/>
          <p:cNvSpPr txBox="1"/>
          <p:nvPr/>
        </p:nvSpPr>
        <p:spPr>
          <a:xfrm>
            <a:off x="3108960" y="3401568"/>
            <a:ext cx="347472" cy="347472"/>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2</a:t>
            </a:r>
            <a:endParaRPr lang="ar-SA" sz="1300" dirty="0"/>
          </a:p>
        </p:txBody>
      </p:sp>
      <p:sp>
        <p:nvSpPr>
          <p:cNvPr id="23" name="Shape 21"/>
          <p:cNvSpPr/>
          <p:nvPr/>
        </p:nvSpPr>
        <p:spPr>
          <a:xfrm>
            <a:off x="1280160" y="3931920"/>
            <a:ext cx="201168" cy="201168"/>
          </a:xfrm>
          <a:prstGeom prst="roundRect">
            <a:avLst>
              <a:gd name="adj" fmla="val 13636"/>
            </a:avLst>
          </a:prstGeom>
          <a:solidFill>
            <a:srgbClr val="03787C"/>
          </a:solidFill>
          <a:ln w="12700">
            <a:solidFill>
              <a:srgbClr val="03787C"/>
            </a:solidFill>
            <a:prstDash val="solid"/>
          </a:ln>
        </p:spPr>
      </p:sp>
      <p:sp>
        <p:nvSpPr>
          <p:cNvPr id="24" name="Text 22"/>
          <p:cNvSpPr txBox="1"/>
          <p:nvPr/>
        </p:nvSpPr>
        <p:spPr>
          <a:xfrm>
            <a:off x="1280160" y="3931920"/>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5" name="Text 23"/>
          <p:cNvSpPr txBox="1"/>
          <p:nvPr/>
        </p:nvSpPr>
        <p:spPr>
          <a:xfrm>
            <a:off x="1600200" y="3867912"/>
            <a:ext cx="2743200" cy="329184"/>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One response per person</a:t>
            </a:r>
            <a:endParaRPr lang="en-US" sz="1300" dirty="0"/>
          </a:p>
        </p:txBody>
      </p:sp>
      <p:sp>
        <p:nvSpPr>
          <p:cNvPr id="26" name="Shape 24"/>
          <p:cNvSpPr/>
          <p:nvPr/>
        </p:nvSpPr>
        <p:spPr>
          <a:xfrm>
            <a:off x="3977640" y="3858768"/>
            <a:ext cx="347472" cy="347472"/>
          </a:xfrm>
          <a:prstGeom prst="ellipse">
            <a:avLst/>
          </a:prstGeom>
          <a:solidFill>
            <a:schemeClr val="accent2"/>
          </a:solidFill>
          <a:ln w="19050">
            <a:solidFill>
              <a:srgbClr val="FFFFFF"/>
            </a:solidFill>
            <a:prstDash val="solid"/>
          </a:ln>
        </p:spPr>
      </p:sp>
      <p:sp>
        <p:nvSpPr>
          <p:cNvPr id="27" name="Text 25"/>
          <p:cNvSpPr txBox="1"/>
          <p:nvPr/>
        </p:nvSpPr>
        <p:spPr>
          <a:xfrm>
            <a:off x="3977640" y="3858768"/>
            <a:ext cx="347472" cy="347472"/>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3</a:t>
            </a:r>
            <a:endParaRPr lang="ar-SA" sz="1300" dirty="0"/>
          </a:p>
        </p:txBody>
      </p:sp>
      <p:sp>
        <p:nvSpPr>
          <p:cNvPr id="28" name="Shape 26"/>
          <p:cNvSpPr/>
          <p:nvPr/>
        </p:nvSpPr>
        <p:spPr>
          <a:xfrm>
            <a:off x="868680" y="4434840"/>
            <a:ext cx="201168" cy="201168"/>
          </a:xfrm>
          <a:prstGeom prst="ellipse">
            <a:avLst/>
          </a:prstGeom>
          <a:solidFill>
            <a:srgbClr val="FFFFFF"/>
          </a:solidFill>
          <a:ln w="15875">
            <a:solidFill>
              <a:srgbClr val="8A8886"/>
            </a:solidFill>
            <a:prstDash val="solid"/>
          </a:ln>
        </p:spPr>
      </p:sp>
      <p:sp>
        <p:nvSpPr>
          <p:cNvPr id="29" name="Text 27"/>
          <p:cNvSpPr txBox="1"/>
          <p:nvPr/>
        </p:nvSpPr>
        <p:spPr>
          <a:xfrm>
            <a:off x="1188720" y="4370832"/>
            <a:ext cx="4572000" cy="329184"/>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Specific people in my organization can respond</a:t>
            </a:r>
            <a:endParaRPr lang="en-US" sz="1300" dirty="0"/>
          </a:p>
        </p:txBody>
      </p:sp>
      <p:sp>
        <p:nvSpPr>
          <p:cNvPr id="30" name="Shape 28"/>
          <p:cNvSpPr/>
          <p:nvPr/>
        </p:nvSpPr>
        <p:spPr>
          <a:xfrm>
            <a:off x="822960" y="4937760"/>
            <a:ext cx="5760720" cy="0"/>
          </a:xfrm>
          <a:prstGeom prst="line">
            <a:avLst/>
          </a:prstGeom>
          <a:noFill/>
          <a:ln w="12700">
            <a:solidFill>
              <a:srgbClr val="E1E1E1"/>
            </a:solidFill>
            <a:prstDash val="solid"/>
          </a:ln>
        </p:spPr>
      </p:sp>
      <p:sp>
        <p:nvSpPr>
          <p:cNvPr id="31" name="Text 29"/>
          <p:cNvSpPr txBox="1"/>
          <p:nvPr/>
        </p:nvSpPr>
        <p:spPr>
          <a:xfrm>
            <a:off x="822960" y="5074920"/>
            <a:ext cx="4572000" cy="365760"/>
          </a:xfrm>
          <a:prstGeom prst="rect">
            <a:avLst/>
          </a:prstGeom>
          <a:noFill/>
          <a:ln/>
        </p:spPr>
        <p:txBody>
          <a:bodyPr wrap="square" lIns="0" tIns="0" rIns="0" bIns="0" rtlCol="0" anchor="ctr"/>
          <a:lstStyle/>
          <a:p>
            <a:pPr algn="l" indent="0" marL="0">
              <a:buNone/>
            </a:pPr>
            <a:r>
              <a:rPr lang="en-US" altLang="en-US" sz="1300" b="1" dirty="0">
                <a:solidFill>
                  <a:srgbClr val="8A8886"/>
                </a:solidFill>
                <a:latin typeface="Arial" pitchFamily="34" charset="0"/>
                <a:ea typeface="Arial" pitchFamily="34" charset="-122"/>
                <a:cs typeface="Arial" pitchFamily="34" charset="-120"/>
              </a:rPr>
              <a:t>Options for responses  ›  (next slide)</a:t>
            </a:r>
            <a:endParaRPr lang="en-US" sz="1300" dirty="0"/>
          </a:p>
        </p:txBody>
      </p:sp>
      <p:sp>
        <p:nvSpPr>
          <p:cNvPr id="32" name="Shape 30"/>
          <p:cNvSpPr/>
          <p:nvPr/>
        </p:nvSpPr>
        <p:spPr>
          <a:xfrm>
            <a:off x="11247120" y="1508760"/>
            <a:ext cx="384048" cy="384048"/>
          </a:xfrm>
          <a:prstGeom prst="ellipse">
            <a:avLst/>
          </a:prstGeom>
          <a:solidFill>
            <a:schemeClr val="accent2"/>
          </a:solidFill>
          <a:ln w="19050">
            <a:solidFill>
              <a:srgbClr val="FFFFFF"/>
            </a:solidFill>
            <a:prstDash val="solid"/>
          </a:ln>
        </p:spPr>
      </p:sp>
      <p:sp>
        <p:nvSpPr>
          <p:cNvPr id="33" name="Text 31"/>
          <p:cNvSpPr txBox="1"/>
          <p:nvPr/>
        </p:nvSpPr>
        <p:spPr>
          <a:xfrm>
            <a:off x="11247120" y="150876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1</a:t>
            </a:r>
            <a:endParaRPr lang="ar-SA" sz="1300" dirty="0"/>
          </a:p>
        </p:txBody>
      </p:sp>
      <p:sp>
        <p:nvSpPr>
          <p:cNvPr id="34" name="Text 32"/>
          <p:cNvSpPr txBox="1"/>
          <p:nvPr/>
        </p:nvSpPr>
        <p:spPr>
          <a:xfrm>
            <a:off x="7223760" y="1463040"/>
            <a:ext cx="393192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فقط الأشخاص في مؤسستي</a:t>
            </a:r>
            <a:endParaRPr lang="ar-SA" sz="1700" dirty="0"/>
          </a:p>
        </p:txBody>
      </p:sp>
      <p:sp>
        <p:nvSpPr>
          <p:cNvPr id="35" name="Text 33"/>
          <p:cNvSpPr txBox="1"/>
          <p:nvPr/>
        </p:nvSpPr>
        <p:spPr>
          <a:xfrm>
            <a:off x="7223760" y="1901952"/>
            <a:ext cx="393192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Only people in my organization — حين يملك جميع الطلاب حسابات مدرسية فعّالة</a:t>
            </a:r>
            <a:endParaRPr lang="ar-SA" sz="1400" dirty="0"/>
          </a:p>
        </p:txBody>
      </p:sp>
      <p:sp>
        <p:nvSpPr>
          <p:cNvPr id="36" name="Shape 34"/>
          <p:cNvSpPr/>
          <p:nvPr/>
        </p:nvSpPr>
        <p:spPr>
          <a:xfrm>
            <a:off x="11247120" y="2834640"/>
            <a:ext cx="384048" cy="384048"/>
          </a:xfrm>
          <a:prstGeom prst="ellipse">
            <a:avLst/>
          </a:prstGeom>
          <a:solidFill>
            <a:schemeClr val="accent2"/>
          </a:solidFill>
          <a:ln w="19050">
            <a:solidFill>
              <a:srgbClr val="FFFFFF"/>
            </a:solidFill>
            <a:prstDash val="solid"/>
          </a:ln>
        </p:spPr>
      </p:sp>
      <p:sp>
        <p:nvSpPr>
          <p:cNvPr id="37" name="Text 35"/>
          <p:cNvSpPr txBox="1"/>
          <p:nvPr/>
        </p:nvSpPr>
        <p:spPr>
          <a:xfrm>
            <a:off x="11247120" y="283464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2</a:t>
            </a:r>
            <a:endParaRPr lang="ar-SA" sz="1300" dirty="0"/>
          </a:p>
        </p:txBody>
      </p:sp>
      <p:sp>
        <p:nvSpPr>
          <p:cNvPr id="38" name="Text 36"/>
          <p:cNvSpPr txBox="1"/>
          <p:nvPr/>
        </p:nvSpPr>
        <p:spPr>
          <a:xfrm>
            <a:off x="7223760" y="2788920"/>
            <a:ext cx="393192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تسجيل الاسم</a:t>
            </a:r>
            <a:endParaRPr lang="ar-SA" sz="1700" dirty="0"/>
          </a:p>
        </p:txBody>
      </p:sp>
      <p:sp>
        <p:nvSpPr>
          <p:cNvPr id="39" name="Text 37"/>
          <p:cNvSpPr txBox="1"/>
          <p:nvPr/>
        </p:nvSpPr>
        <p:spPr>
          <a:xfrm>
            <a:off x="7223760" y="3227832"/>
            <a:ext cx="393192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Record name — يرتبط كل ردّ بالطالب المسجّل دخوله</a:t>
            </a:r>
            <a:endParaRPr lang="ar-SA" sz="1400" dirty="0"/>
          </a:p>
        </p:txBody>
      </p:sp>
      <p:sp>
        <p:nvSpPr>
          <p:cNvPr id="40" name="Shape 38"/>
          <p:cNvSpPr/>
          <p:nvPr/>
        </p:nvSpPr>
        <p:spPr>
          <a:xfrm>
            <a:off x="11247120" y="4160520"/>
            <a:ext cx="384048" cy="384048"/>
          </a:xfrm>
          <a:prstGeom prst="ellipse">
            <a:avLst/>
          </a:prstGeom>
          <a:solidFill>
            <a:schemeClr val="accent2"/>
          </a:solidFill>
          <a:ln w="19050">
            <a:solidFill>
              <a:srgbClr val="FFFFFF"/>
            </a:solidFill>
            <a:prstDash val="solid"/>
          </a:ln>
        </p:spPr>
      </p:sp>
      <p:sp>
        <p:nvSpPr>
          <p:cNvPr id="41" name="Text 39"/>
          <p:cNvSpPr txBox="1"/>
          <p:nvPr/>
        </p:nvSpPr>
        <p:spPr>
          <a:xfrm>
            <a:off x="11247120" y="4160520"/>
            <a:ext cx="384048" cy="384048"/>
          </a:xfrm>
          <a:prstGeom prst="rect">
            <a:avLst/>
          </a:prstGeom>
          <a:noFill/>
          <a:ln/>
        </p:spPr>
        <p:txBody>
          <a:bodyPr wrap="square" lIns="0" tIns="0" rIns="0" bIns="0" rtlCol="0" anchor="ctr"/>
          <a:lstStyle/>
          <a:p>
            <a:pPr rtl="1" algn="ctr" indent="0" marL="0">
              <a:buNone/>
            </a:pPr>
            <a:r>
              <a:rPr lang="ar-SA" altLang="en-US" sz="1300" b="1" dirty="0">
                <a:solidFill>
                  <a:schemeClr val="tx1"/>
                </a:solidFill>
                <a:latin typeface="Arial" pitchFamily="34" charset="0"/>
                <a:ea typeface="Arial" pitchFamily="34" charset="-122"/>
                <a:cs typeface="Arial" pitchFamily="34" charset="-120"/>
              </a:rPr>
              <a:t>3</a:t>
            </a:r>
            <a:endParaRPr lang="ar-SA" sz="1300" dirty="0"/>
          </a:p>
        </p:txBody>
      </p:sp>
      <p:sp>
        <p:nvSpPr>
          <p:cNvPr id="42" name="Text 40"/>
          <p:cNvSpPr txBox="1"/>
          <p:nvPr/>
        </p:nvSpPr>
        <p:spPr>
          <a:xfrm>
            <a:off x="7223760" y="4114800"/>
            <a:ext cx="393192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ردّ واحد لكل شخص</a:t>
            </a:r>
            <a:endParaRPr lang="ar-SA" sz="1700" dirty="0"/>
          </a:p>
        </p:txBody>
      </p:sp>
      <p:sp>
        <p:nvSpPr>
          <p:cNvPr id="43" name="Text 41"/>
          <p:cNvSpPr txBox="1"/>
          <p:nvPr/>
        </p:nvSpPr>
        <p:spPr>
          <a:xfrm>
            <a:off x="7223760" y="4553712"/>
            <a:ext cx="393192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One response per person — لمنع التسليم المتكرّر</a:t>
            </a:r>
            <a:endParaRPr lang="ar-SA" sz="1400" dirty="0"/>
          </a:p>
        </p:txBody>
      </p:sp>
      <p:sp>
        <p:nvSpPr>
          <p:cNvPr id="44" name="path-note"/>
          <p:cNvSpPr/>
          <p:nvPr/>
        </p:nvSpPr>
        <p:spPr>
          <a:xfrm>
            <a:off x="7223760" y="5440680"/>
            <a:ext cx="4416552" cy="594360"/>
          </a:xfrm>
          <a:prstGeom prst="roundRect">
            <a:avLst>
              <a:gd name="adj" fmla="val 18462"/>
            </a:avLst>
          </a:prstGeom>
          <a:solidFill>
            <a:srgbClr val="F3F0FD"/>
          </a:solidFill>
          <a:ln/>
        </p:spPr>
      </p:sp>
      <p:sp>
        <p:nvSpPr>
          <p:cNvPr id="45" name="Text 43"/>
          <p:cNvSpPr txBox="1"/>
          <p:nvPr/>
        </p:nvSpPr>
        <p:spPr>
          <a:xfrm>
            <a:off x="7360920" y="5440680"/>
            <a:ext cx="4160520" cy="594360"/>
          </a:xfrm>
          <a:prstGeom prst="rect">
            <a:avLst/>
          </a:prstGeom>
          <a:noFill/>
          <a:ln/>
        </p:spPr>
        <p:txBody>
          <a:bodyPr wrap="square" lIns="0" tIns="0" rIns="0" bIns="0" rtlCol="0" anchor="ctr"/>
          <a:lstStyle/>
          <a:p>
            <a:pPr rtl="1" algn="r" indent="0" marL="0">
              <a:buNone/>
            </a:pPr>
            <a:r>
              <a:rPr lang="ar-SA" altLang="en-US" sz="1400" b="1" dirty="0">
                <a:solidFill>
                  <a:schemeClr val="accent3"/>
                </a:solidFill>
                <a:latin typeface="Arial" pitchFamily="34" charset="0"/>
                <a:ea typeface="Arial" pitchFamily="34" charset="-122"/>
                <a:cs typeface="Arial" pitchFamily="34" charset="-120"/>
              </a:rPr>
              <a:t>المسار: ••• أعلى الصفحة ثم Settings</a:t>
            </a:r>
            <a:endParaRPr lang="ar-SA" sz="1400" dirty="0"/>
          </a:p>
        </p:txBody>
      </p:sp>
      <p:sp>
        <p:nvSpPr>
          <p:cNvPr id="4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الإعدادات: الوقت والإتاحة وإخفاء النتائج</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5</a:t>
            </a:r>
            <a:endParaRPr lang="ar-SA" sz="2400" dirty="0"/>
          </a:p>
        </p:txBody>
      </p:sp>
      <p:sp>
        <p:nvSpPr>
          <p:cNvPr id="5" name="mock-window"/>
          <p:cNvSpPr/>
          <p:nvPr/>
        </p:nvSpPr>
        <p:spPr>
          <a:xfrm>
            <a:off x="548640" y="1417320"/>
            <a:ext cx="630936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66928" y="1435608"/>
            <a:ext cx="6272784" cy="365760"/>
          </a:xfrm>
          <a:prstGeom prst="rect">
            <a:avLst/>
          </a:prstGeom>
          <a:solidFill>
            <a:srgbClr val="F3F2F1"/>
          </a:solidFill>
          <a:ln/>
        </p:spPr>
      </p:sp>
      <p:sp>
        <p:nvSpPr>
          <p:cNvPr id="7" name="Text 5"/>
          <p:cNvSpPr txBox="1"/>
          <p:nvPr/>
        </p:nvSpPr>
        <p:spPr>
          <a:xfrm>
            <a:off x="685800" y="1435608"/>
            <a:ext cx="60350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Settings — Options for responses</a:t>
            </a:r>
            <a:endParaRPr lang="en-US" sz="1200" dirty="0"/>
          </a:p>
        </p:txBody>
      </p:sp>
      <p:sp>
        <p:nvSpPr>
          <p:cNvPr id="8" name="Shape 6"/>
          <p:cNvSpPr/>
          <p:nvPr/>
        </p:nvSpPr>
        <p:spPr>
          <a:xfrm>
            <a:off x="868680" y="2029968"/>
            <a:ext cx="201168" cy="201168"/>
          </a:xfrm>
          <a:prstGeom prst="roundRect">
            <a:avLst>
              <a:gd name="adj" fmla="val 13636"/>
            </a:avLst>
          </a:prstGeom>
          <a:solidFill>
            <a:srgbClr val="03787C"/>
          </a:solidFill>
          <a:ln w="12700">
            <a:solidFill>
              <a:srgbClr val="03787C"/>
            </a:solidFill>
            <a:prstDash val="solid"/>
          </a:ln>
        </p:spPr>
      </p:sp>
      <p:sp>
        <p:nvSpPr>
          <p:cNvPr id="9" name="Text 7"/>
          <p:cNvSpPr txBox="1"/>
          <p:nvPr/>
        </p:nvSpPr>
        <p:spPr>
          <a:xfrm>
            <a:off x="868680" y="202996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0" name="Text 8"/>
          <p:cNvSpPr txBox="1"/>
          <p:nvPr/>
        </p:nvSpPr>
        <p:spPr>
          <a:xfrm>
            <a:off x="1188720" y="196596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Accept responses</a:t>
            </a:r>
            <a:endParaRPr lang="en-US" sz="1300" dirty="0"/>
          </a:p>
        </p:txBody>
      </p:sp>
      <p:sp>
        <p:nvSpPr>
          <p:cNvPr id="11" name="Shape 9"/>
          <p:cNvSpPr/>
          <p:nvPr/>
        </p:nvSpPr>
        <p:spPr>
          <a:xfrm>
            <a:off x="868680" y="2578608"/>
            <a:ext cx="201168" cy="201168"/>
          </a:xfrm>
          <a:prstGeom prst="roundRect">
            <a:avLst>
              <a:gd name="adj" fmla="val 13636"/>
            </a:avLst>
          </a:prstGeom>
          <a:solidFill>
            <a:srgbClr val="03787C"/>
          </a:solidFill>
          <a:ln w="12700">
            <a:solidFill>
              <a:srgbClr val="03787C"/>
            </a:solidFill>
            <a:prstDash val="solid"/>
          </a:ln>
        </p:spPr>
      </p:sp>
      <p:sp>
        <p:nvSpPr>
          <p:cNvPr id="12" name="Text 10"/>
          <p:cNvSpPr txBox="1"/>
          <p:nvPr/>
        </p:nvSpPr>
        <p:spPr>
          <a:xfrm>
            <a:off x="868680" y="257860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1188720" y="251460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Start date</a:t>
            </a:r>
            <a:endParaRPr lang="en-US" sz="1300" dirty="0"/>
          </a:p>
        </p:txBody>
      </p:sp>
      <p:sp>
        <p:nvSpPr>
          <p:cNvPr id="14" name="Shape 12"/>
          <p:cNvSpPr/>
          <p:nvPr/>
        </p:nvSpPr>
        <p:spPr>
          <a:xfrm>
            <a:off x="3383280" y="2523744"/>
            <a:ext cx="2651760" cy="310896"/>
          </a:xfrm>
          <a:prstGeom prst="rect">
            <a:avLst/>
          </a:prstGeom>
          <a:solidFill>
            <a:srgbClr val="F8F8F8"/>
          </a:solidFill>
          <a:ln w="9525">
            <a:solidFill>
              <a:srgbClr val="8A8886"/>
            </a:solidFill>
            <a:prstDash val="solid"/>
          </a:ln>
        </p:spPr>
      </p:sp>
      <p:sp>
        <p:nvSpPr>
          <p:cNvPr id="15" name="Text 13"/>
          <p:cNvSpPr txBox="1"/>
          <p:nvPr/>
        </p:nvSpPr>
        <p:spPr>
          <a:xfrm>
            <a:off x="3474720" y="252374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Test day   8:00 AM</a:t>
            </a:r>
            <a:endParaRPr lang="en-US" sz="1200" dirty="0"/>
          </a:p>
        </p:txBody>
      </p:sp>
      <p:sp>
        <p:nvSpPr>
          <p:cNvPr id="16" name="Shape 14"/>
          <p:cNvSpPr/>
          <p:nvPr/>
        </p:nvSpPr>
        <p:spPr>
          <a:xfrm>
            <a:off x="868680" y="3127248"/>
            <a:ext cx="201168" cy="201168"/>
          </a:xfrm>
          <a:prstGeom prst="roundRect">
            <a:avLst>
              <a:gd name="adj" fmla="val 13636"/>
            </a:avLst>
          </a:prstGeom>
          <a:solidFill>
            <a:srgbClr val="03787C"/>
          </a:solidFill>
          <a:ln w="12700">
            <a:solidFill>
              <a:srgbClr val="03787C"/>
            </a:solidFill>
            <a:prstDash val="solid"/>
          </a:ln>
        </p:spPr>
      </p:sp>
      <p:sp>
        <p:nvSpPr>
          <p:cNvPr id="17" name="Text 15"/>
          <p:cNvSpPr txBox="1"/>
          <p:nvPr/>
        </p:nvSpPr>
        <p:spPr>
          <a:xfrm>
            <a:off x="868680" y="312724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8" name="Text 16"/>
          <p:cNvSpPr txBox="1"/>
          <p:nvPr/>
        </p:nvSpPr>
        <p:spPr>
          <a:xfrm>
            <a:off x="1188720" y="306324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End date</a:t>
            </a:r>
            <a:endParaRPr lang="en-US" sz="1300" dirty="0"/>
          </a:p>
        </p:txBody>
      </p:sp>
      <p:sp>
        <p:nvSpPr>
          <p:cNvPr id="19" name="Shape 17"/>
          <p:cNvSpPr/>
          <p:nvPr/>
        </p:nvSpPr>
        <p:spPr>
          <a:xfrm>
            <a:off x="3383280" y="3072384"/>
            <a:ext cx="2651760" cy="310896"/>
          </a:xfrm>
          <a:prstGeom prst="rect">
            <a:avLst/>
          </a:prstGeom>
          <a:solidFill>
            <a:srgbClr val="F8F8F8"/>
          </a:solidFill>
          <a:ln w="9525">
            <a:solidFill>
              <a:srgbClr val="8A8886"/>
            </a:solidFill>
            <a:prstDash val="solid"/>
          </a:ln>
        </p:spPr>
      </p:sp>
      <p:sp>
        <p:nvSpPr>
          <p:cNvPr id="20" name="Text 18"/>
          <p:cNvSpPr txBox="1"/>
          <p:nvPr/>
        </p:nvSpPr>
        <p:spPr>
          <a:xfrm>
            <a:off x="3474720" y="307238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Test day   8:50 AM</a:t>
            </a:r>
            <a:endParaRPr lang="en-US" sz="1200" dirty="0"/>
          </a:p>
        </p:txBody>
      </p:sp>
      <p:sp>
        <p:nvSpPr>
          <p:cNvPr id="21" name="Shape 19"/>
          <p:cNvSpPr/>
          <p:nvPr/>
        </p:nvSpPr>
        <p:spPr>
          <a:xfrm>
            <a:off x="868680" y="3675888"/>
            <a:ext cx="201168" cy="201168"/>
          </a:xfrm>
          <a:prstGeom prst="roundRect">
            <a:avLst>
              <a:gd name="adj" fmla="val 13636"/>
            </a:avLst>
          </a:prstGeom>
          <a:solidFill>
            <a:srgbClr val="03787C"/>
          </a:solidFill>
          <a:ln w="12700">
            <a:solidFill>
              <a:srgbClr val="03787C"/>
            </a:solidFill>
            <a:prstDash val="solid"/>
          </a:ln>
        </p:spPr>
      </p:sp>
      <p:sp>
        <p:nvSpPr>
          <p:cNvPr id="22" name="Text 20"/>
          <p:cNvSpPr txBox="1"/>
          <p:nvPr/>
        </p:nvSpPr>
        <p:spPr>
          <a:xfrm>
            <a:off x="868680" y="367588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3" name="Text 21"/>
          <p:cNvSpPr txBox="1"/>
          <p:nvPr/>
        </p:nvSpPr>
        <p:spPr>
          <a:xfrm>
            <a:off x="1188720" y="361188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Shuffle questions</a:t>
            </a:r>
            <a:endParaRPr lang="en-US" sz="1300" dirty="0"/>
          </a:p>
        </p:txBody>
      </p:sp>
      <p:sp>
        <p:nvSpPr>
          <p:cNvPr id="24" name="Shape 22"/>
          <p:cNvSpPr/>
          <p:nvPr/>
        </p:nvSpPr>
        <p:spPr>
          <a:xfrm>
            <a:off x="3383280" y="3621024"/>
            <a:ext cx="2651760" cy="310896"/>
          </a:xfrm>
          <a:prstGeom prst="rect">
            <a:avLst/>
          </a:prstGeom>
          <a:solidFill>
            <a:srgbClr val="FFFFFF"/>
          </a:solidFill>
          <a:ln w="9525">
            <a:solidFill>
              <a:srgbClr val="FFFFFF"/>
            </a:solidFill>
            <a:prstDash val="solid"/>
          </a:ln>
        </p:spPr>
      </p:sp>
      <p:sp>
        <p:nvSpPr>
          <p:cNvPr id="25" name="Text 23"/>
          <p:cNvSpPr txBox="1"/>
          <p:nvPr/>
        </p:nvSpPr>
        <p:spPr>
          <a:xfrm>
            <a:off x="3474720" y="3621024"/>
            <a:ext cx="2560320" cy="310896"/>
          </a:xfrm>
          <a:prstGeom prst="rect">
            <a:avLst/>
          </a:prstGeom>
          <a:noFill/>
          <a:ln/>
        </p:spPr>
        <p:txBody>
          <a:bodyPr wrap="square" lIns="0" tIns="0" rIns="0" bIns="0" rtlCol="0" anchor="ctr"/>
          <a:lstStyle/>
          <a:p>
            <a:pPr algn="l" indent="0" marL="0">
              <a:buNone/>
            </a:pPr>
            <a:r>
              <a:rPr lang="en-US" altLang="en-US" sz="1200" dirty="0">
                <a:solidFill>
                  <a:srgbClr val="8A8886"/>
                </a:solidFill>
                <a:latin typeface="Arial" pitchFamily="34" charset="0"/>
                <a:ea typeface="Arial" pitchFamily="34" charset="-122"/>
                <a:cs typeface="Arial" pitchFamily="34" charset="-120"/>
              </a:rPr>
              <a:t>when appropriate</a:t>
            </a:r>
            <a:endParaRPr lang="en-US" sz="1200" dirty="0"/>
          </a:p>
        </p:txBody>
      </p:sp>
      <p:sp>
        <p:nvSpPr>
          <p:cNvPr id="26" name="Shape 24"/>
          <p:cNvSpPr/>
          <p:nvPr/>
        </p:nvSpPr>
        <p:spPr>
          <a:xfrm>
            <a:off x="868680" y="4224528"/>
            <a:ext cx="201168" cy="201168"/>
          </a:xfrm>
          <a:prstGeom prst="roundRect">
            <a:avLst>
              <a:gd name="adj" fmla="val 13636"/>
            </a:avLst>
          </a:prstGeom>
          <a:solidFill>
            <a:srgbClr val="03787C"/>
          </a:solidFill>
          <a:ln w="12700">
            <a:solidFill>
              <a:srgbClr val="03787C"/>
            </a:solidFill>
            <a:prstDash val="solid"/>
          </a:ln>
        </p:spPr>
      </p:sp>
      <p:sp>
        <p:nvSpPr>
          <p:cNvPr id="27" name="Text 25"/>
          <p:cNvSpPr txBox="1"/>
          <p:nvPr/>
        </p:nvSpPr>
        <p:spPr>
          <a:xfrm>
            <a:off x="868680" y="422452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8" name="Text 26"/>
          <p:cNvSpPr txBox="1"/>
          <p:nvPr/>
        </p:nvSpPr>
        <p:spPr>
          <a:xfrm>
            <a:off x="1188720" y="416052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Set time duration</a:t>
            </a:r>
            <a:endParaRPr lang="en-US" sz="1300" dirty="0"/>
          </a:p>
        </p:txBody>
      </p:sp>
      <p:sp>
        <p:nvSpPr>
          <p:cNvPr id="29" name="Shape 27"/>
          <p:cNvSpPr/>
          <p:nvPr/>
        </p:nvSpPr>
        <p:spPr>
          <a:xfrm>
            <a:off x="3383280" y="4169664"/>
            <a:ext cx="2651760" cy="310896"/>
          </a:xfrm>
          <a:prstGeom prst="rect">
            <a:avLst/>
          </a:prstGeom>
          <a:solidFill>
            <a:srgbClr val="F8F8F8"/>
          </a:solidFill>
          <a:ln w="9525">
            <a:solidFill>
              <a:srgbClr val="8A8886"/>
            </a:solidFill>
            <a:prstDash val="solid"/>
          </a:ln>
        </p:spPr>
      </p:sp>
      <p:sp>
        <p:nvSpPr>
          <p:cNvPr id="30" name="Text 28"/>
          <p:cNvSpPr txBox="1"/>
          <p:nvPr/>
        </p:nvSpPr>
        <p:spPr>
          <a:xfrm>
            <a:off x="3474720" y="416966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50  minutes</a:t>
            </a:r>
            <a:endParaRPr lang="en-US" sz="1200" dirty="0"/>
          </a:p>
        </p:txBody>
      </p:sp>
      <p:sp>
        <p:nvSpPr>
          <p:cNvPr id="31" name="highlight"/>
          <p:cNvSpPr/>
          <p:nvPr/>
        </p:nvSpPr>
        <p:spPr>
          <a:xfrm>
            <a:off x="3310128" y="2468880"/>
            <a:ext cx="2798064" cy="1005840"/>
          </a:xfrm>
          <a:prstGeom prst="roundRect">
            <a:avLst>
              <a:gd name="adj" fmla="val 5455"/>
            </a:avLst>
          </a:prstGeom>
          <a:ln w="31750">
            <a:solidFill>
              <a:srgbClr val="F2A900"/>
            </a:solidFill>
            <a:prstDash val="solid"/>
          </a:ln>
        </p:spPr>
      </p:sp>
      <p:sp>
        <p:nvSpPr>
          <p:cNvPr id="32" name="highlight"/>
          <p:cNvSpPr/>
          <p:nvPr/>
        </p:nvSpPr>
        <p:spPr>
          <a:xfrm>
            <a:off x="3310128" y="4142232"/>
            <a:ext cx="2798064" cy="457200"/>
          </a:xfrm>
          <a:prstGeom prst="roundRect">
            <a:avLst>
              <a:gd name="adj" fmla="val 12000"/>
            </a:avLst>
          </a:prstGeom>
          <a:ln w="31750">
            <a:solidFill>
              <a:srgbClr val="F2A900"/>
            </a:solidFill>
            <a:prstDash val="solid"/>
          </a:ln>
        </p:spPr>
      </p:sp>
      <p:sp>
        <p:nvSpPr>
          <p:cNvPr id="33" name="Shape 31"/>
          <p:cNvSpPr/>
          <p:nvPr/>
        </p:nvSpPr>
        <p:spPr>
          <a:xfrm>
            <a:off x="822960" y="4846320"/>
            <a:ext cx="5760720" cy="0"/>
          </a:xfrm>
          <a:prstGeom prst="line">
            <a:avLst/>
          </a:prstGeom>
          <a:noFill/>
          <a:ln w="12700">
            <a:solidFill>
              <a:srgbClr val="E1E1E1"/>
            </a:solidFill>
            <a:prstDash val="solid"/>
          </a:ln>
        </p:spPr>
      </p:sp>
      <p:sp>
        <p:nvSpPr>
          <p:cNvPr id="34" name="Text 32"/>
          <p:cNvSpPr txBox="1"/>
          <p:nvPr/>
        </p:nvSpPr>
        <p:spPr>
          <a:xfrm>
            <a:off x="822960" y="4937760"/>
            <a:ext cx="2743200" cy="329184"/>
          </a:xfrm>
          <a:prstGeom prst="rect">
            <a:avLst/>
          </a:prstGeom>
          <a:noFill/>
          <a:ln/>
        </p:spPr>
        <p:txBody>
          <a:bodyPr wrap="square" lIns="0" tIns="0" rIns="0" bIns="0" rtlCol="0" anchor="ctr"/>
          <a:lstStyle/>
          <a:p>
            <a:pPr algn="l" indent="0" marL="0">
              <a:buNone/>
            </a:pPr>
            <a:r>
              <a:rPr lang="en-US" altLang="en-US" sz="1300" b="1" dirty="0">
                <a:solidFill>
                  <a:srgbClr val="605E5C"/>
                </a:solidFill>
                <a:latin typeface="Arial" pitchFamily="34" charset="0"/>
                <a:ea typeface="Arial" pitchFamily="34" charset="-122"/>
                <a:cs typeface="Arial" pitchFamily="34" charset="-120"/>
              </a:rPr>
              <a:t>Quiz options</a:t>
            </a:r>
            <a:endParaRPr lang="en-US" sz="1300" dirty="0"/>
          </a:p>
        </p:txBody>
      </p:sp>
      <p:sp>
        <p:nvSpPr>
          <p:cNvPr id="35" name="Text 33"/>
          <p:cNvSpPr txBox="1"/>
          <p:nvPr/>
        </p:nvSpPr>
        <p:spPr>
          <a:xfrm>
            <a:off x="822960" y="5349240"/>
            <a:ext cx="292608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Show results automatically</a:t>
            </a:r>
            <a:endParaRPr lang="en-US" sz="1300" dirty="0"/>
          </a:p>
        </p:txBody>
      </p:sp>
      <p:sp>
        <p:nvSpPr>
          <p:cNvPr id="36" name="Shape 34"/>
          <p:cNvSpPr/>
          <p:nvPr/>
        </p:nvSpPr>
        <p:spPr>
          <a:xfrm>
            <a:off x="3794760" y="5404104"/>
            <a:ext cx="420624" cy="219456"/>
          </a:xfrm>
          <a:prstGeom prst="roundRect">
            <a:avLst>
              <a:gd name="adj" fmla="val 50000"/>
            </a:avLst>
          </a:prstGeom>
          <a:solidFill>
            <a:srgbClr val="FFFFFF"/>
          </a:solidFill>
          <a:ln w="12700">
            <a:solidFill>
              <a:srgbClr val="8A8886"/>
            </a:solidFill>
            <a:prstDash val="solid"/>
          </a:ln>
        </p:spPr>
      </p:sp>
      <p:sp>
        <p:nvSpPr>
          <p:cNvPr id="37" name="Shape 35"/>
          <p:cNvSpPr/>
          <p:nvPr/>
        </p:nvSpPr>
        <p:spPr>
          <a:xfrm>
            <a:off x="3831336" y="5440680"/>
            <a:ext cx="146304" cy="146304"/>
          </a:xfrm>
          <a:prstGeom prst="ellipse">
            <a:avLst/>
          </a:prstGeom>
          <a:solidFill>
            <a:srgbClr val="605E5C"/>
          </a:solidFill>
          <a:ln/>
        </p:spPr>
      </p:sp>
      <p:sp>
        <p:nvSpPr>
          <p:cNvPr id="38" name="Text 36"/>
          <p:cNvSpPr txBox="1"/>
          <p:nvPr/>
        </p:nvSpPr>
        <p:spPr>
          <a:xfrm>
            <a:off x="4297680" y="5349240"/>
            <a:ext cx="548640" cy="329184"/>
          </a:xfrm>
          <a:prstGeom prst="rect">
            <a:avLst/>
          </a:prstGeom>
          <a:noFill/>
          <a:ln/>
        </p:spPr>
        <p:txBody>
          <a:bodyPr wrap="square" lIns="0" tIns="0" rIns="0" bIns="0" rtlCol="0" anchor="ctr"/>
          <a:lstStyle/>
          <a:p>
            <a:pPr algn="l" indent="0" marL="0">
              <a:buNone/>
            </a:pPr>
            <a:r>
              <a:rPr lang="en-US" altLang="en-US" sz="1200" b="1" dirty="0">
                <a:solidFill>
                  <a:srgbClr val="C0392B"/>
                </a:solidFill>
                <a:latin typeface="Arial" pitchFamily="34" charset="0"/>
                <a:ea typeface="Arial" pitchFamily="34" charset="-122"/>
                <a:cs typeface="Arial" pitchFamily="34" charset="-120"/>
              </a:rPr>
              <a:t>OFF</a:t>
            </a:r>
            <a:endParaRPr lang="en-US" sz="1200" dirty="0"/>
          </a:p>
        </p:txBody>
      </p:sp>
      <p:sp>
        <p:nvSpPr>
          <p:cNvPr id="39" name="highlight"/>
          <p:cNvSpPr/>
          <p:nvPr/>
        </p:nvSpPr>
        <p:spPr>
          <a:xfrm>
            <a:off x="749808" y="5285232"/>
            <a:ext cx="4206240" cy="457200"/>
          </a:xfrm>
          <a:prstGeom prst="roundRect">
            <a:avLst>
              <a:gd name="adj" fmla="val 12000"/>
            </a:avLst>
          </a:prstGeom>
          <a:ln w="31750">
            <a:solidFill>
              <a:srgbClr val="F2A900"/>
            </a:solidFill>
            <a:prstDash val="solid"/>
          </a:ln>
        </p:spPr>
      </p:sp>
      <p:sp>
        <p:nvSpPr>
          <p:cNvPr id="40" name="time-window"/>
          <p:cNvSpPr/>
          <p:nvPr/>
        </p:nvSpPr>
        <p:spPr>
          <a:xfrm>
            <a:off x="7223760" y="1417320"/>
            <a:ext cx="4416552" cy="2331720"/>
          </a:xfrm>
          <a:prstGeom prst="roundRect">
            <a:avLst>
              <a:gd name="adj" fmla="val 4706"/>
            </a:avLst>
          </a:prstGeom>
          <a:solidFill>
            <a:schemeClr val="bg2"/>
          </a:solidFill>
          <a:ln/>
        </p:spPr>
      </p:sp>
      <p:sp>
        <p:nvSpPr>
          <p:cNvPr id="41" name="Text 39"/>
          <p:cNvSpPr txBox="1"/>
          <p:nvPr/>
        </p:nvSpPr>
        <p:spPr>
          <a:xfrm>
            <a:off x="7406640" y="1508760"/>
            <a:ext cx="406908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نافذة الحصة الصفرية</a:t>
            </a:r>
            <a:endParaRPr lang="ar-SA" sz="1700" dirty="0"/>
          </a:p>
        </p:txBody>
      </p:sp>
      <p:sp>
        <p:nvSpPr>
          <p:cNvPr id="42" name="Shape 40"/>
          <p:cNvSpPr/>
          <p:nvPr/>
        </p:nvSpPr>
        <p:spPr>
          <a:xfrm>
            <a:off x="7589520" y="2331720"/>
            <a:ext cx="3703320" cy="457200"/>
          </a:xfrm>
          <a:prstGeom prst="roundRect">
            <a:avLst>
              <a:gd name="adj" fmla="val 50000"/>
            </a:avLst>
          </a:prstGeom>
          <a:solidFill>
            <a:schemeClr val="accent1"/>
          </a:solidFill>
          <a:ln/>
        </p:spPr>
      </p:sp>
      <p:sp>
        <p:nvSpPr>
          <p:cNvPr id="43" name="Text 41"/>
          <p:cNvSpPr txBox="1"/>
          <p:nvPr/>
        </p:nvSpPr>
        <p:spPr>
          <a:xfrm>
            <a:off x="7589520" y="2331720"/>
            <a:ext cx="370332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Arial" pitchFamily="34" charset="0"/>
                <a:ea typeface="Arial" pitchFamily="34" charset="-122"/>
                <a:cs typeface="Arial" pitchFamily="34" charset="-120"/>
              </a:rPr>
              <a:t>50 دقيقة</a:t>
            </a:r>
            <a:endParaRPr lang="ar-SA" sz="1600" dirty="0"/>
          </a:p>
        </p:txBody>
      </p:sp>
      <p:sp>
        <p:nvSpPr>
          <p:cNvPr id="44" name="Text 42"/>
          <p:cNvSpPr txBox="1"/>
          <p:nvPr/>
        </p:nvSpPr>
        <p:spPr>
          <a:xfrm>
            <a:off x="10835640" y="2880360"/>
            <a:ext cx="731520" cy="36576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8:00</a:t>
            </a:r>
            <a:endParaRPr lang="en-US" sz="1600" dirty="0"/>
          </a:p>
        </p:txBody>
      </p:sp>
      <p:sp>
        <p:nvSpPr>
          <p:cNvPr id="45" name="Text 43"/>
          <p:cNvSpPr txBox="1"/>
          <p:nvPr/>
        </p:nvSpPr>
        <p:spPr>
          <a:xfrm>
            <a:off x="7315200" y="2880360"/>
            <a:ext cx="731520" cy="36576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8:50</a:t>
            </a:r>
            <a:endParaRPr lang="en-US" sz="1600" dirty="0"/>
          </a:p>
        </p:txBody>
      </p:sp>
      <p:sp>
        <p:nvSpPr>
          <p:cNvPr id="46" name="Text 44"/>
          <p:cNvSpPr txBox="1"/>
          <p:nvPr/>
        </p:nvSpPr>
        <p:spPr>
          <a:xfrm>
            <a:off x="10835640" y="3246120"/>
            <a:ext cx="731520" cy="320040"/>
          </a:xfrm>
          <a:prstGeom prst="rect">
            <a:avLst/>
          </a:prstGeom>
          <a:noFill/>
          <a:ln/>
        </p:spPr>
        <p:txBody>
          <a:bodyPr wrap="square" lIns="0" tIns="0" rIns="0" bIns="0" rtlCol="0" anchor="t"/>
          <a:lstStyle/>
          <a:p>
            <a:pPr rtl="1" algn="ctr" indent="0" marL="0">
              <a:buNone/>
            </a:pPr>
            <a:r>
              <a:rPr lang="ar-SA" altLang="en-US" sz="1200" dirty="0">
                <a:solidFill>
                  <a:schemeClr val="accent6"/>
                </a:solidFill>
                <a:latin typeface="Arial" pitchFamily="34" charset="0"/>
                <a:ea typeface="Arial" pitchFamily="34" charset="-122"/>
                <a:cs typeface="Arial" pitchFamily="34" charset="-120"/>
              </a:rPr>
              <a:t>البدء</a:t>
            </a:r>
            <a:endParaRPr lang="ar-SA" sz="1200" dirty="0"/>
          </a:p>
        </p:txBody>
      </p:sp>
      <p:sp>
        <p:nvSpPr>
          <p:cNvPr id="47" name="Text 45"/>
          <p:cNvSpPr txBox="1"/>
          <p:nvPr/>
        </p:nvSpPr>
        <p:spPr>
          <a:xfrm>
            <a:off x="7315200" y="3246120"/>
            <a:ext cx="731520" cy="320040"/>
          </a:xfrm>
          <a:prstGeom prst="rect">
            <a:avLst/>
          </a:prstGeom>
          <a:noFill/>
          <a:ln/>
        </p:spPr>
        <p:txBody>
          <a:bodyPr wrap="square" lIns="0" tIns="0" rIns="0" bIns="0" rtlCol="0" anchor="t"/>
          <a:lstStyle/>
          <a:p>
            <a:pPr rtl="1" algn="ctr" indent="0" marL="0">
              <a:buNone/>
            </a:pPr>
            <a:r>
              <a:rPr lang="ar-SA" altLang="en-US" sz="1200" dirty="0">
                <a:solidFill>
                  <a:schemeClr val="accent6"/>
                </a:solidFill>
                <a:latin typeface="Arial" pitchFamily="34" charset="0"/>
                <a:ea typeface="Arial" pitchFamily="34" charset="-122"/>
                <a:cs typeface="Arial" pitchFamily="34" charset="-120"/>
              </a:rPr>
              <a:t>الإغلاق</a:t>
            </a:r>
            <a:endParaRPr lang="ar-SA" sz="1200" dirty="0"/>
          </a:p>
        </p:txBody>
      </p:sp>
      <p:sp>
        <p:nvSpPr>
          <p:cNvPr id="48" name="Text 46"/>
          <p:cNvSpPr txBox="1"/>
          <p:nvPr/>
        </p:nvSpPr>
        <p:spPr>
          <a:xfrm>
            <a:off x="8229600" y="2926080"/>
            <a:ext cx="2468880" cy="320040"/>
          </a:xfrm>
          <a:prstGeom prst="rect">
            <a:avLst/>
          </a:prstGeom>
          <a:noFill/>
          <a:ln/>
        </p:spPr>
        <p:txBody>
          <a:bodyPr wrap="square" lIns="0" tIns="0" rIns="0" bIns="0" rtlCol="0" anchor="t"/>
          <a:lstStyle/>
          <a:p>
            <a:pPr rtl="1" algn="ctr" indent="0" marL="0">
              <a:buNone/>
            </a:pPr>
            <a:r>
              <a:rPr lang="ar-SA" altLang="en-US" sz="1200" dirty="0">
                <a:solidFill>
                  <a:schemeClr val="accent6"/>
                </a:solidFill>
                <a:latin typeface="Arial" pitchFamily="34" charset="0"/>
                <a:ea typeface="Arial" pitchFamily="34" charset="-122"/>
                <a:cs typeface="Arial" pitchFamily="34" charset="-120"/>
              </a:rPr>
              <a:t>Start + End + Duration</a:t>
            </a:r>
            <a:endParaRPr lang="ar-SA" sz="1200" dirty="0"/>
          </a:p>
        </p:txBody>
      </p:sp>
      <p:sp>
        <p:nvSpPr>
          <p:cNvPr id="49" name="results-off"/>
          <p:cNvSpPr/>
          <p:nvPr/>
        </p:nvSpPr>
        <p:spPr>
          <a:xfrm>
            <a:off x="7223760" y="3931920"/>
            <a:ext cx="4416552" cy="1051560"/>
          </a:xfrm>
          <a:prstGeom prst="roundRect">
            <a:avLst>
              <a:gd name="adj" fmla="val 10435"/>
            </a:avLst>
          </a:prstGeom>
          <a:solidFill>
            <a:srgbClr val="FBEAE8"/>
          </a:solidFill>
          <a:ln/>
        </p:spPr>
      </p:sp>
      <p:pic>
        <p:nvPicPr>
          <p:cNvPr id="50" name="Image 0" descr="preencoded.png">    </p:cNvPr>
          <p:cNvPicPr>
            <a:picLocks noChangeAspect="1"/>
          </p:cNvPicPr>
          <p:nvPr/>
        </p:nvPicPr>
        <p:blipFill>
          <a:blip r:embed="rId1"/>
          <a:stretch>
            <a:fillRect/>
          </a:stretch>
        </p:blipFill>
        <p:spPr>
          <a:xfrm>
            <a:off x="11155680" y="4069080"/>
            <a:ext cx="329184" cy="329184"/>
          </a:xfrm>
          <a:prstGeom prst="rect">
            <a:avLst/>
          </a:prstGeom>
        </p:spPr>
      </p:pic>
      <p:sp>
        <p:nvSpPr>
          <p:cNvPr id="51" name="Text 48"/>
          <p:cNvSpPr txBox="1"/>
          <p:nvPr/>
        </p:nvSpPr>
        <p:spPr>
          <a:xfrm>
            <a:off x="7360920" y="4005072"/>
            <a:ext cx="3657600" cy="365760"/>
          </a:xfrm>
          <a:prstGeom prst="rect">
            <a:avLst/>
          </a:prstGeom>
          <a:noFill/>
          <a:ln/>
        </p:spPr>
        <p:txBody>
          <a:bodyPr wrap="square" lIns="0" tIns="0" rIns="0" bIns="0" rtlCol="0" anchor="t"/>
          <a:lstStyle/>
          <a:p>
            <a:pPr rtl="1" algn="r" indent="0" marL="0">
              <a:buNone/>
            </a:pPr>
            <a:r>
              <a:rPr lang="ar-SA" altLang="en-US" sz="1400" b="1" dirty="0">
                <a:solidFill>
                  <a:schemeClr val="accent4"/>
                </a:solidFill>
                <a:latin typeface="Arial" pitchFamily="34" charset="0"/>
                <a:ea typeface="Arial" pitchFamily="34" charset="-122"/>
                <a:cs typeface="Arial" pitchFamily="34" charset="-120"/>
              </a:rPr>
              <a:t>Show results automatically: OFF</a:t>
            </a:r>
            <a:endParaRPr lang="ar-SA" sz="1400" dirty="0"/>
          </a:p>
        </p:txBody>
      </p:sp>
      <p:sp>
        <p:nvSpPr>
          <p:cNvPr id="52" name="Text 49"/>
          <p:cNvSpPr txBox="1"/>
          <p:nvPr/>
        </p:nvSpPr>
        <p:spPr>
          <a:xfrm>
            <a:off x="7360920" y="4407408"/>
            <a:ext cx="3657600" cy="4572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لا تُعرض الدرجات أو الإجابات الصحيحة فوراً</a:t>
            </a:r>
            <a:endParaRPr lang="ar-SA" sz="1400" dirty="0"/>
          </a:p>
        </p:txBody>
      </p:sp>
      <p:sp>
        <p:nvSpPr>
          <p:cNvPr id="53" name="time-warning"/>
          <p:cNvSpPr/>
          <p:nvPr/>
        </p:nvSpPr>
        <p:spPr>
          <a:xfrm>
            <a:off x="7223760" y="5120640"/>
            <a:ext cx="4416552" cy="914400"/>
          </a:xfrm>
          <a:prstGeom prst="roundRect">
            <a:avLst>
              <a:gd name="adj" fmla="val 12000"/>
            </a:avLst>
          </a:prstGeom>
          <a:solidFill>
            <a:srgbClr val="FFF4D6"/>
          </a:solidFill>
          <a:ln/>
        </p:spPr>
      </p:sp>
      <p:pic>
        <p:nvPicPr>
          <p:cNvPr id="54" name="Image 1" descr="preencoded.png">    </p:cNvPr>
          <p:cNvPicPr>
            <a:picLocks noChangeAspect="1"/>
          </p:cNvPicPr>
          <p:nvPr/>
        </p:nvPicPr>
        <p:blipFill>
          <a:blip r:embed="rId2"/>
          <a:stretch>
            <a:fillRect/>
          </a:stretch>
        </p:blipFill>
        <p:spPr>
          <a:xfrm>
            <a:off x="11155680" y="5285232"/>
            <a:ext cx="310896" cy="310896"/>
          </a:xfrm>
          <a:prstGeom prst="rect">
            <a:avLst/>
          </a:prstGeom>
        </p:spPr>
      </p:pic>
      <p:sp>
        <p:nvSpPr>
          <p:cNvPr id="55" name="Text 51"/>
          <p:cNvSpPr txBox="1"/>
          <p:nvPr/>
        </p:nvSpPr>
        <p:spPr>
          <a:xfrm>
            <a:off x="7360920" y="5120640"/>
            <a:ext cx="3657600" cy="914400"/>
          </a:xfrm>
          <a:prstGeom prst="rect">
            <a:avLst/>
          </a:prstGeom>
          <a:noFill/>
          <a:ln/>
        </p:spPr>
        <p:txBody>
          <a:bodyPr wrap="square" lIns="0" tIns="0" rIns="0" bIns="0" rtlCol="0" anchor="ctr"/>
          <a:lstStyle/>
          <a:p>
            <a:pPr rtl="1" algn="r" indent="0" marL="0">
              <a:buNone/>
            </a:pPr>
            <a:r>
              <a:rPr lang="ar-SA" altLang="en-US" sz="1400" b="1" dirty="0">
                <a:solidFill>
                  <a:schemeClr val="tx1"/>
                </a:solidFill>
                <a:latin typeface="Arial" pitchFamily="34" charset="0"/>
                <a:ea typeface="Arial" pitchFamily="34" charset="-122"/>
                <a:cs typeface="Arial" pitchFamily="34" charset="-120"/>
              </a:rPr>
              <a:t>إذا لم يقبل حقل الوقت 8:50، أبلغ رئيس القسم قبل يوم الاختبار</a:t>
            </a:r>
            <a:endParaRPr lang="ar-SA" sz="1400" dirty="0"/>
          </a:p>
        </p:txBody>
      </p:sp>
      <p:sp>
        <p:nvSpPr>
          <p:cNvPr id="5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ملخّص الإعدادات الإلزامية</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7434072"/>
                <a:gridCol w="3657600"/>
              </a:tblGrid>
              <a:tr h="370332">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الإجراء المطلوب / التحقّق</a:t>
                      </a:r>
                      <a:endParaRPr lang="ar-SA" sz="14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الإعداد</a:t>
                      </a:r>
                      <a:endParaRPr lang="ar-SA" sz="14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استخدم New Quiz وامنح نقاطاً لكل سؤال مُقيَّم</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Quiz type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Only people in my organization can respond</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Access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مفعّل لربط كل ردّ بالطالب المسجّل</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Record name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مفعّل لمنع التسليم المتكرّر</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One response per person</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يوم الاختبار 8:00 – 8:50 صباحاً، بالتوقيت المحلي الصحيح</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Start / End date &amp; time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50 دقيقة</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Time duration</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متوقّف — لا إظهار للدرجات أو الإجابات فوراً</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Show results automatically</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عند الملاءمة؛ يُعطَّل إذا اعتمدت الأسئلة على تسلسل ثابت</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Shuffle questions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للأسئلة المناسبة؛ انتبه لخيار «All of the above»</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Shuffle options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لكل سؤال مُقيَّم</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Required</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الجمع داخل النافذة المعتمدة فقط</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Accept responses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تجربة بعرض الطالب وعلى الأجهزة المتوقعة</a:t>
                      </a:r>
                      <a:endParaRPr lang="ar-SA"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Preview &amp; trial</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bl>
          </a:graphicData>
        </a:graphic>
      </p:graphicFrame>
      <p:sp>
        <p:nvSpPr>
          <p:cNvPr id="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المعاينة والتجربة بعرض الطالب</a:t>
            </a:r>
            <a:endParaRPr lang="ar-SA" sz="3000" dirty="0"/>
          </a:p>
        </p:txBody>
      </p:sp>
      <p:sp>
        <p:nvSpPr>
          <p:cNvPr id="3" name="title-badge"/>
          <p:cNvSpPr/>
          <p:nvPr/>
        </p:nvSpPr>
        <p:spPr>
          <a:xfrm>
            <a:off x="11045952" y="411480"/>
            <a:ext cx="640080" cy="640080"/>
          </a:xfrm>
          <a:prstGeom prst="ellipse">
            <a:avLst/>
          </a:prstGeom>
          <a:solidFill>
            <a:schemeClr val="accent1"/>
          </a:solidFill>
          <a:ln/>
        </p:spPr>
      </p:sp>
      <p:sp>
        <p:nvSpPr>
          <p:cNvPr id="4" name="Text 2"/>
          <p:cNvSpPr txBox="1"/>
          <p:nvPr/>
        </p:nvSpPr>
        <p:spPr>
          <a:xfrm>
            <a:off x="11045952" y="411480"/>
            <a:ext cx="640080" cy="640080"/>
          </a:xfrm>
          <a:prstGeom prst="rect">
            <a:avLst/>
          </a:prstGeom>
          <a:noFill/>
          <a:ln/>
        </p:spPr>
        <p:txBody>
          <a:bodyPr wrap="square" lIns="0" tIns="0" rIns="0" bIns="0" rtlCol="0" anchor="ctr"/>
          <a:lstStyle/>
          <a:p>
            <a:pPr rtl="1" algn="ctr" indent="0" marL="0">
              <a:buNone/>
            </a:pPr>
            <a:r>
              <a:rPr lang="ar-SA" altLang="en-US" sz="2400" b="1" dirty="0">
                <a:solidFill>
                  <a:schemeClr val="bg1"/>
                </a:solidFill>
                <a:latin typeface="Arial" pitchFamily="34" charset="0"/>
                <a:ea typeface="Arial" pitchFamily="34" charset="-122"/>
                <a:cs typeface="Arial" pitchFamily="34" charset="-120"/>
              </a:rPr>
              <a:t>6</a:t>
            </a:r>
            <a:endParaRPr lang="ar-SA" sz="2400" dirty="0"/>
          </a:p>
        </p:txBody>
      </p:sp>
      <p:sp>
        <p:nvSpPr>
          <p:cNvPr id="5" name="laptop"/>
          <p:cNvSpPr/>
          <p:nvPr/>
        </p:nvSpPr>
        <p:spPr>
          <a:xfrm>
            <a:off x="731520" y="1691640"/>
            <a:ext cx="4206240" cy="2743200"/>
          </a:xfrm>
          <a:prstGeom prst="roundRect">
            <a:avLst>
              <a:gd name="adj" fmla="val 3333"/>
            </a:avLst>
          </a:prstGeom>
          <a:solidFill>
            <a:srgbClr val="1B2A33"/>
          </a:solidFill>
          <a:ln/>
        </p:spPr>
      </p:sp>
      <p:sp>
        <p:nvSpPr>
          <p:cNvPr id="6" name="Shape 4"/>
          <p:cNvSpPr/>
          <p:nvPr/>
        </p:nvSpPr>
        <p:spPr>
          <a:xfrm>
            <a:off x="868680" y="1828800"/>
            <a:ext cx="3931920" cy="2468880"/>
          </a:xfrm>
          <a:prstGeom prst="rect">
            <a:avLst/>
          </a:prstGeom>
          <a:solidFill>
            <a:srgbClr val="FFFFFF"/>
          </a:solidFill>
          <a:ln/>
        </p:spPr>
      </p:sp>
      <p:sp>
        <p:nvSpPr>
          <p:cNvPr id="7" name="Shape 5"/>
          <p:cNvSpPr/>
          <p:nvPr/>
        </p:nvSpPr>
        <p:spPr>
          <a:xfrm>
            <a:off x="868680" y="1828800"/>
            <a:ext cx="3931920" cy="457200"/>
          </a:xfrm>
          <a:prstGeom prst="rect">
            <a:avLst/>
          </a:prstGeom>
          <a:solidFill>
            <a:srgbClr val="03787C"/>
          </a:solidFill>
          <a:ln/>
        </p:spPr>
      </p:sp>
      <p:sp>
        <p:nvSpPr>
          <p:cNvPr id="8" name="Text 6"/>
          <p:cNvSpPr txBox="1"/>
          <p:nvPr/>
        </p:nvSpPr>
        <p:spPr>
          <a:xfrm>
            <a:off x="960120" y="1828800"/>
            <a:ext cx="3749040" cy="457200"/>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pitchFamily="34" charset="-122"/>
                <a:cs typeface="Arial" pitchFamily="34" charset="-120"/>
              </a:rPr>
              <a:t>Mid-Semester 1 Test 2026–2027 – Biology…</a:t>
            </a:r>
            <a:endParaRPr lang="en-US" sz="1100" dirty="0"/>
          </a:p>
        </p:txBody>
      </p:sp>
      <p:sp>
        <p:nvSpPr>
          <p:cNvPr id="9" name="Text 7"/>
          <p:cNvSpPr txBox="1"/>
          <p:nvPr/>
        </p:nvSpPr>
        <p:spPr>
          <a:xfrm>
            <a:off x="3749040" y="2331720"/>
            <a:ext cx="1005840" cy="274320"/>
          </a:xfrm>
          <a:prstGeom prst="rect">
            <a:avLst/>
          </a:prstGeom>
          <a:noFill/>
          <a:ln/>
        </p:spPr>
        <p:txBody>
          <a:bodyPr wrap="square" lIns="0" tIns="0" rIns="0" bIns="0" rtlCol="0" anchor="ctr"/>
          <a:lstStyle/>
          <a:p>
            <a:pPr algn="r" indent="0" marL="0">
              <a:buNone/>
            </a:pPr>
            <a:r>
              <a:rPr lang="en-US" altLang="en-US" sz="1100" b="1" dirty="0">
                <a:solidFill>
                  <a:srgbClr val="C0392B"/>
                </a:solidFill>
                <a:latin typeface="Arial" pitchFamily="34" charset="0"/>
                <a:ea typeface="Arial" pitchFamily="34" charset="-122"/>
                <a:cs typeface="Arial" pitchFamily="34" charset="-120"/>
              </a:rPr>
              <a:t>⏱  49:58</a:t>
            </a:r>
            <a:endParaRPr lang="en-US" sz="1100" dirty="0"/>
          </a:p>
        </p:txBody>
      </p:sp>
      <p:sp>
        <p:nvSpPr>
          <p:cNvPr id="10" name="Shape 8"/>
          <p:cNvSpPr/>
          <p:nvPr/>
        </p:nvSpPr>
        <p:spPr>
          <a:xfrm>
            <a:off x="1051560" y="2697480"/>
            <a:ext cx="2743200" cy="128016"/>
          </a:xfrm>
          <a:prstGeom prst="roundRect">
            <a:avLst>
              <a:gd name="adj" fmla="val 50000"/>
            </a:avLst>
          </a:prstGeom>
          <a:solidFill>
            <a:srgbClr val="D9E3E6"/>
          </a:solidFill>
          <a:ln/>
        </p:spPr>
      </p:sp>
      <p:sp>
        <p:nvSpPr>
          <p:cNvPr id="11" name="Shape 9"/>
          <p:cNvSpPr/>
          <p:nvPr/>
        </p:nvSpPr>
        <p:spPr>
          <a:xfrm>
            <a:off x="1051560" y="2898648"/>
            <a:ext cx="1828800" cy="91440"/>
          </a:xfrm>
          <a:prstGeom prst="roundRect">
            <a:avLst>
              <a:gd name="adj" fmla="val 50000"/>
            </a:avLst>
          </a:prstGeom>
          <a:solidFill>
            <a:srgbClr val="EEF2F3"/>
          </a:solidFill>
          <a:ln/>
        </p:spPr>
      </p:sp>
      <p:sp>
        <p:nvSpPr>
          <p:cNvPr id="12" name="Shape 10"/>
          <p:cNvSpPr/>
          <p:nvPr/>
        </p:nvSpPr>
        <p:spPr>
          <a:xfrm>
            <a:off x="1051560" y="3200400"/>
            <a:ext cx="2286000" cy="128016"/>
          </a:xfrm>
          <a:prstGeom prst="roundRect">
            <a:avLst>
              <a:gd name="adj" fmla="val 50000"/>
            </a:avLst>
          </a:prstGeom>
          <a:solidFill>
            <a:srgbClr val="D9E3E6"/>
          </a:solidFill>
          <a:ln/>
        </p:spPr>
      </p:sp>
      <p:sp>
        <p:nvSpPr>
          <p:cNvPr id="13" name="Shape 11"/>
          <p:cNvSpPr/>
          <p:nvPr/>
        </p:nvSpPr>
        <p:spPr>
          <a:xfrm>
            <a:off x="1051560" y="3401568"/>
            <a:ext cx="1828800" cy="91440"/>
          </a:xfrm>
          <a:prstGeom prst="roundRect">
            <a:avLst>
              <a:gd name="adj" fmla="val 50000"/>
            </a:avLst>
          </a:prstGeom>
          <a:solidFill>
            <a:srgbClr val="EEF2F3"/>
          </a:solidFill>
          <a:ln/>
        </p:spPr>
      </p:sp>
      <p:sp>
        <p:nvSpPr>
          <p:cNvPr id="14" name="Shape 12"/>
          <p:cNvSpPr/>
          <p:nvPr/>
        </p:nvSpPr>
        <p:spPr>
          <a:xfrm>
            <a:off x="1051560" y="3703320"/>
            <a:ext cx="1828800" cy="128016"/>
          </a:xfrm>
          <a:prstGeom prst="roundRect">
            <a:avLst>
              <a:gd name="adj" fmla="val 50000"/>
            </a:avLst>
          </a:prstGeom>
          <a:solidFill>
            <a:srgbClr val="D9E3E6"/>
          </a:solidFill>
          <a:ln/>
        </p:spPr>
      </p:sp>
      <p:sp>
        <p:nvSpPr>
          <p:cNvPr id="15" name="Shape 13"/>
          <p:cNvSpPr/>
          <p:nvPr/>
        </p:nvSpPr>
        <p:spPr>
          <a:xfrm>
            <a:off x="1051560" y="3904488"/>
            <a:ext cx="1828800" cy="91440"/>
          </a:xfrm>
          <a:prstGeom prst="roundRect">
            <a:avLst>
              <a:gd name="adj" fmla="val 50000"/>
            </a:avLst>
          </a:prstGeom>
          <a:solidFill>
            <a:srgbClr val="EEF2F3"/>
          </a:solidFill>
          <a:ln/>
        </p:spPr>
      </p:sp>
      <p:sp>
        <p:nvSpPr>
          <p:cNvPr id="16" name="Text 14"/>
          <p:cNvSpPr txBox="1"/>
          <p:nvPr/>
        </p:nvSpPr>
        <p:spPr>
          <a:xfrm>
            <a:off x="3749040" y="2651760"/>
            <a:ext cx="1005840" cy="228600"/>
          </a:xfrm>
          <a:prstGeom prst="rect">
            <a:avLst/>
          </a:prstGeom>
          <a:noFill/>
          <a:ln/>
        </p:spPr>
        <p:txBody>
          <a:bodyPr wrap="square" lIns="0" tIns="0" rIns="0" bIns="0" rtlCol="0" anchor="ctr"/>
          <a:lstStyle/>
          <a:p>
            <a:pPr algn="r" indent="0" marL="0">
              <a:buNone/>
            </a:pPr>
            <a:r>
              <a:rPr lang="en-US" altLang="en-US" sz="1000" dirty="0">
                <a:solidFill>
                  <a:srgbClr val="605E5C"/>
                </a:solidFill>
                <a:latin typeface="Arial" pitchFamily="34" charset="0"/>
                <a:ea typeface="Arial" pitchFamily="34" charset="-122"/>
                <a:cs typeface="Arial" pitchFamily="34" charset="-120"/>
              </a:rPr>
              <a:t>(2 points)</a:t>
            </a:r>
            <a:endParaRPr lang="en-US" sz="1000" dirty="0"/>
          </a:p>
        </p:txBody>
      </p:sp>
      <p:sp>
        <p:nvSpPr>
          <p:cNvPr id="17" name="Shape 15"/>
          <p:cNvSpPr/>
          <p:nvPr/>
        </p:nvSpPr>
        <p:spPr>
          <a:xfrm flipV="1">
            <a:off x="365760" y="4434840"/>
            <a:ext cx="4937760" cy="228600"/>
          </a:xfrm>
          <a:prstGeom prst="trapezoid">
            <a:avLst/>
          </a:prstGeom>
          <a:solidFill>
            <a:srgbClr val="4A5A64"/>
          </a:solidFill>
          <a:ln/>
        </p:spPr>
      </p:sp>
      <p:sp>
        <p:nvSpPr>
          <p:cNvPr id="18" name="phone"/>
          <p:cNvSpPr/>
          <p:nvPr/>
        </p:nvSpPr>
        <p:spPr>
          <a:xfrm>
            <a:off x="5349240" y="1691640"/>
            <a:ext cx="1508760" cy="2971800"/>
          </a:xfrm>
          <a:prstGeom prst="roundRect">
            <a:avLst>
              <a:gd name="adj" fmla="val 12121"/>
            </a:avLst>
          </a:prstGeom>
          <a:solidFill>
            <a:srgbClr val="1B2A33"/>
          </a:solidFill>
          <a:ln/>
        </p:spPr>
      </p:sp>
      <p:sp>
        <p:nvSpPr>
          <p:cNvPr id="19" name="Shape 17"/>
          <p:cNvSpPr/>
          <p:nvPr/>
        </p:nvSpPr>
        <p:spPr>
          <a:xfrm>
            <a:off x="5440680" y="1920240"/>
            <a:ext cx="1325880" cy="2514600"/>
          </a:xfrm>
          <a:prstGeom prst="rect">
            <a:avLst/>
          </a:prstGeom>
          <a:solidFill>
            <a:srgbClr val="FFFFFF"/>
          </a:solidFill>
          <a:ln/>
        </p:spPr>
      </p:sp>
      <p:sp>
        <p:nvSpPr>
          <p:cNvPr id="20" name="Shape 18"/>
          <p:cNvSpPr/>
          <p:nvPr/>
        </p:nvSpPr>
        <p:spPr>
          <a:xfrm>
            <a:off x="5440680" y="1920240"/>
            <a:ext cx="1325880" cy="365760"/>
          </a:xfrm>
          <a:prstGeom prst="rect">
            <a:avLst/>
          </a:prstGeom>
          <a:solidFill>
            <a:srgbClr val="03787C"/>
          </a:solidFill>
          <a:ln/>
        </p:spPr>
      </p:sp>
      <p:sp>
        <p:nvSpPr>
          <p:cNvPr id="21" name="Shape 19"/>
          <p:cNvSpPr/>
          <p:nvPr/>
        </p:nvSpPr>
        <p:spPr>
          <a:xfrm>
            <a:off x="5532120" y="2468880"/>
            <a:ext cx="1097280" cy="109728"/>
          </a:xfrm>
          <a:prstGeom prst="roundRect">
            <a:avLst>
              <a:gd name="adj" fmla="val 50000"/>
            </a:avLst>
          </a:prstGeom>
          <a:solidFill>
            <a:srgbClr val="D9E3E6"/>
          </a:solidFill>
          <a:ln/>
        </p:spPr>
      </p:sp>
      <p:sp>
        <p:nvSpPr>
          <p:cNvPr id="22" name="Shape 20"/>
          <p:cNvSpPr/>
          <p:nvPr/>
        </p:nvSpPr>
        <p:spPr>
          <a:xfrm>
            <a:off x="5532120" y="2880360"/>
            <a:ext cx="777240" cy="109728"/>
          </a:xfrm>
          <a:prstGeom prst="roundRect">
            <a:avLst>
              <a:gd name="adj" fmla="val 50000"/>
            </a:avLst>
          </a:prstGeom>
          <a:solidFill>
            <a:srgbClr val="D9E3E6"/>
          </a:solidFill>
          <a:ln/>
        </p:spPr>
      </p:sp>
      <p:sp>
        <p:nvSpPr>
          <p:cNvPr id="23" name="Shape 21"/>
          <p:cNvSpPr/>
          <p:nvPr/>
        </p:nvSpPr>
        <p:spPr>
          <a:xfrm>
            <a:off x="5532120" y="3291840"/>
            <a:ext cx="1097280" cy="109728"/>
          </a:xfrm>
          <a:prstGeom prst="roundRect">
            <a:avLst>
              <a:gd name="adj" fmla="val 50000"/>
            </a:avLst>
          </a:prstGeom>
          <a:solidFill>
            <a:srgbClr val="D9E3E6"/>
          </a:solidFill>
          <a:ln/>
        </p:spPr>
      </p:sp>
      <p:sp>
        <p:nvSpPr>
          <p:cNvPr id="24" name="Shape 22"/>
          <p:cNvSpPr/>
          <p:nvPr/>
        </p:nvSpPr>
        <p:spPr>
          <a:xfrm>
            <a:off x="5532120" y="3703320"/>
            <a:ext cx="777240" cy="109728"/>
          </a:xfrm>
          <a:prstGeom prst="roundRect">
            <a:avLst>
              <a:gd name="adj" fmla="val 50000"/>
            </a:avLst>
          </a:prstGeom>
          <a:solidFill>
            <a:srgbClr val="D9E3E6"/>
          </a:solidFill>
          <a:ln/>
        </p:spPr>
      </p:sp>
      <p:sp>
        <p:nvSpPr>
          <p:cNvPr id="25" name="Shape 23"/>
          <p:cNvSpPr/>
          <p:nvPr/>
        </p:nvSpPr>
        <p:spPr>
          <a:xfrm>
            <a:off x="2103120" y="4983480"/>
            <a:ext cx="1463040" cy="457200"/>
          </a:xfrm>
          <a:prstGeom prst="roundRect">
            <a:avLst>
              <a:gd name="adj" fmla="val 12000"/>
            </a:avLst>
          </a:prstGeom>
          <a:solidFill>
            <a:srgbClr val="FFFFFF"/>
          </a:solidFill>
          <a:ln w="12700">
            <a:solidFill>
              <a:srgbClr val="8A8886"/>
            </a:solidFill>
            <a:prstDash val="solid"/>
          </a:ln>
        </p:spPr>
      </p:sp>
      <p:pic>
        <p:nvPicPr>
          <p:cNvPr id="26" name="Image 0" descr="preencoded.png">    </p:cNvPr>
          <p:cNvPicPr>
            <a:picLocks noChangeAspect="1"/>
          </p:cNvPicPr>
          <p:nvPr/>
        </p:nvPicPr>
        <p:blipFill>
          <a:blip r:embed="rId1"/>
          <a:stretch>
            <a:fillRect/>
          </a:stretch>
        </p:blipFill>
        <p:spPr>
          <a:xfrm>
            <a:off x="2212848" y="5093208"/>
            <a:ext cx="237744" cy="237744"/>
          </a:xfrm>
          <a:prstGeom prst="rect">
            <a:avLst/>
          </a:prstGeom>
        </p:spPr>
      </p:pic>
      <p:sp>
        <p:nvSpPr>
          <p:cNvPr id="27" name="Text 24"/>
          <p:cNvSpPr txBox="1"/>
          <p:nvPr/>
        </p:nvSpPr>
        <p:spPr>
          <a:xfrm>
            <a:off x="2542032" y="4983480"/>
            <a:ext cx="1005840" cy="45720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Preview</a:t>
            </a:r>
            <a:endParaRPr lang="en-US" sz="1300" dirty="0"/>
          </a:p>
        </p:txBody>
      </p:sp>
      <p:sp>
        <p:nvSpPr>
          <p:cNvPr id="28" name="highlight"/>
          <p:cNvSpPr/>
          <p:nvPr/>
        </p:nvSpPr>
        <p:spPr>
          <a:xfrm>
            <a:off x="2057400" y="4937760"/>
            <a:ext cx="1554480" cy="548640"/>
          </a:xfrm>
          <a:prstGeom prst="roundRect">
            <a:avLst>
              <a:gd name="adj" fmla="val 10000"/>
            </a:avLst>
          </a:prstGeom>
          <a:ln w="31750">
            <a:solidFill>
              <a:srgbClr val="F2A900"/>
            </a:solidFill>
            <a:prstDash val="solid"/>
          </a:ln>
        </p:spPr>
      </p:sp>
      <p:sp>
        <p:nvSpPr>
          <p:cNvPr id="29" name="Text 26"/>
          <p:cNvSpPr txBox="1"/>
          <p:nvPr/>
        </p:nvSpPr>
        <p:spPr>
          <a:xfrm>
            <a:off x="3749040" y="4983480"/>
            <a:ext cx="2377440" cy="45720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Computer  |  Mobile</a:t>
            </a:r>
            <a:endParaRPr lang="en-US" sz="1300" dirty="0"/>
          </a:p>
        </p:txBody>
      </p:sp>
      <p:sp>
        <p:nvSpPr>
          <p:cNvPr id="30" name="Shape 27"/>
          <p:cNvSpPr/>
          <p:nvPr/>
        </p:nvSpPr>
        <p:spPr>
          <a:xfrm>
            <a:off x="11109960" y="1463040"/>
            <a:ext cx="502920" cy="502920"/>
          </a:xfrm>
          <a:prstGeom prst="ellipse">
            <a:avLst/>
          </a:prstGeom>
          <a:solidFill>
            <a:schemeClr val="accent1"/>
          </a:solidFill>
          <a:ln/>
        </p:spPr>
      </p:sp>
      <p:pic>
        <p:nvPicPr>
          <p:cNvPr id="31" name="Image 1" descr="preencoded.png">    </p:cNvPr>
          <p:cNvPicPr>
            <a:picLocks noChangeAspect="1"/>
          </p:cNvPicPr>
          <p:nvPr/>
        </p:nvPicPr>
        <p:blipFill>
          <a:blip r:embed="rId2"/>
          <a:stretch>
            <a:fillRect/>
          </a:stretch>
        </p:blipFill>
        <p:spPr>
          <a:xfrm>
            <a:off x="11237976" y="1591056"/>
            <a:ext cx="246888" cy="246888"/>
          </a:xfrm>
          <a:prstGeom prst="rect">
            <a:avLst/>
          </a:prstGeom>
        </p:spPr>
      </p:pic>
      <p:sp>
        <p:nvSpPr>
          <p:cNvPr id="32" name="Text 28"/>
          <p:cNvSpPr txBox="1"/>
          <p:nvPr/>
        </p:nvSpPr>
        <p:spPr>
          <a:xfrm>
            <a:off x="7223760" y="1444752"/>
            <a:ext cx="3749040" cy="384048"/>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عاين بعرض الطالب</a:t>
            </a:r>
            <a:endParaRPr lang="ar-SA" sz="1700" dirty="0"/>
          </a:p>
        </p:txBody>
      </p:sp>
      <p:sp>
        <p:nvSpPr>
          <p:cNvPr id="33" name="Text 29"/>
          <p:cNvSpPr txBox="1"/>
          <p:nvPr/>
        </p:nvSpPr>
        <p:spPr>
          <a:xfrm>
            <a:off x="7223760" y="1847088"/>
            <a:ext cx="3749040" cy="6400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على الحاسوب والهاتف والأجهزة المتوقعة</a:t>
            </a:r>
            <a:endParaRPr lang="ar-SA" sz="1400" dirty="0"/>
          </a:p>
        </p:txBody>
      </p:sp>
      <p:sp>
        <p:nvSpPr>
          <p:cNvPr id="34" name="Shape 30"/>
          <p:cNvSpPr/>
          <p:nvPr/>
        </p:nvSpPr>
        <p:spPr>
          <a:xfrm>
            <a:off x="11109960" y="2606040"/>
            <a:ext cx="502920" cy="502920"/>
          </a:xfrm>
          <a:prstGeom prst="ellipse">
            <a:avLst/>
          </a:prstGeom>
          <a:solidFill>
            <a:schemeClr val="accent1"/>
          </a:solidFill>
          <a:ln/>
        </p:spPr>
      </p:sp>
      <p:pic>
        <p:nvPicPr>
          <p:cNvPr id="35" name="Image 2" descr="preencoded.png">    </p:cNvPr>
          <p:cNvPicPr>
            <a:picLocks noChangeAspect="1"/>
          </p:cNvPicPr>
          <p:nvPr/>
        </p:nvPicPr>
        <p:blipFill>
          <a:blip r:embed="rId3"/>
          <a:stretch>
            <a:fillRect/>
          </a:stretch>
        </p:blipFill>
        <p:spPr>
          <a:xfrm>
            <a:off x="11237976" y="2734056"/>
            <a:ext cx="246888" cy="246888"/>
          </a:xfrm>
          <a:prstGeom prst="rect">
            <a:avLst/>
          </a:prstGeom>
        </p:spPr>
      </p:pic>
      <p:sp>
        <p:nvSpPr>
          <p:cNvPr id="36" name="Text 31"/>
          <p:cNvSpPr txBox="1"/>
          <p:nvPr/>
        </p:nvSpPr>
        <p:spPr>
          <a:xfrm>
            <a:off x="7223760" y="2587752"/>
            <a:ext cx="3749040" cy="384048"/>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تحقّق من العرض</a:t>
            </a:r>
            <a:endParaRPr lang="ar-SA" sz="1700" dirty="0"/>
          </a:p>
        </p:txBody>
      </p:sp>
      <p:sp>
        <p:nvSpPr>
          <p:cNvPr id="37" name="Text 32"/>
          <p:cNvSpPr txBox="1"/>
          <p:nvPr/>
        </p:nvSpPr>
        <p:spPr>
          <a:xfrm>
            <a:off x="7223760" y="2990088"/>
            <a:ext cx="3749040" cy="6400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الصور والرموز الرياضية والوحدات والترميز العلمي</a:t>
            </a:r>
            <a:endParaRPr lang="ar-SA" sz="1400" dirty="0"/>
          </a:p>
        </p:txBody>
      </p:sp>
      <p:sp>
        <p:nvSpPr>
          <p:cNvPr id="38" name="Shape 33"/>
          <p:cNvSpPr/>
          <p:nvPr/>
        </p:nvSpPr>
        <p:spPr>
          <a:xfrm>
            <a:off x="11109960" y="3749040"/>
            <a:ext cx="502920" cy="502920"/>
          </a:xfrm>
          <a:prstGeom prst="ellipse">
            <a:avLst/>
          </a:prstGeom>
          <a:solidFill>
            <a:schemeClr val="accent1"/>
          </a:solidFill>
          <a:ln/>
        </p:spPr>
      </p:sp>
      <p:pic>
        <p:nvPicPr>
          <p:cNvPr id="39" name="Image 3" descr="preencoded.png">    </p:cNvPr>
          <p:cNvPicPr>
            <a:picLocks noChangeAspect="1"/>
          </p:cNvPicPr>
          <p:nvPr/>
        </p:nvPicPr>
        <p:blipFill>
          <a:blip r:embed="rId4"/>
          <a:stretch>
            <a:fillRect/>
          </a:stretch>
        </p:blipFill>
        <p:spPr>
          <a:xfrm>
            <a:off x="11237976" y="3877056"/>
            <a:ext cx="246888" cy="246888"/>
          </a:xfrm>
          <a:prstGeom prst="rect">
            <a:avLst/>
          </a:prstGeom>
        </p:spPr>
      </p:pic>
      <p:sp>
        <p:nvSpPr>
          <p:cNvPr id="40" name="Text 34"/>
          <p:cNvSpPr txBox="1"/>
          <p:nvPr/>
        </p:nvSpPr>
        <p:spPr>
          <a:xfrm>
            <a:off x="7223760" y="3730752"/>
            <a:ext cx="3749040" cy="384048"/>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جرّب على نسخة منفصلة</a:t>
            </a:r>
            <a:endParaRPr lang="ar-SA" sz="1700" dirty="0"/>
          </a:p>
        </p:txBody>
      </p:sp>
      <p:sp>
        <p:nvSpPr>
          <p:cNvPr id="41" name="Text 35"/>
          <p:cNvSpPr txBox="1"/>
          <p:nvPr/>
        </p:nvSpPr>
        <p:spPr>
          <a:xfrm>
            <a:off x="7223760" y="4133088"/>
            <a:ext cx="3749040" cy="6400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Duplicate أو حساب تجريبي معتمد، حتى لا تؤثر الردود على النتائج</a:t>
            </a:r>
            <a:endParaRPr lang="ar-SA" sz="1400" dirty="0"/>
          </a:p>
        </p:txBody>
      </p:sp>
      <p:sp>
        <p:nvSpPr>
          <p:cNvPr id="42" name="Shape 36"/>
          <p:cNvSpPr/>
          <p:nvPr/>
        </p:nvSpPr>
        <p:spPr>
          <a:xfrm>
            <a:off x="11109960" y="4892040"/>
            <a:ext cx="502920" cy="502920"/>
          </a:xfrm>
          <a:prstGeom prst="ellipse">
            <a:avLst/>
          </a:prstGeom>
          <a:solidFill>
            <a:schemeClr val="accent1"/>
          </a:solidFill>
          <a:ln/>
        </p:spPr>
      </p:sp>
      <p:pic>
        <p:nvPicPr>
          <p:cNvPr id="43" name="Image 4" descr="preencoded.png">    </p:cNvPr>
          <p:cNvPicPr>
            <a:picLocks noChangeAspect="1"/>
          </p:cNvPicPr>
          <p:nvPr/>
        </p:nvPicPr>
        <p:blipFill>
          <a:blip r:embed="rId5"/>
          <a:stretch>
            <a:fillRect/>
          </a:stretch>
        </p:blipFill>
        <p:spPr>
          <a:xfrm>
            <a:off x="11237976" y="5020056"/>
            <a:ext cx="246888" cy="246888"/>
          </a:xfrm>
          <a:prstGeom prst="rect">
            <a:avLst/>
          </a:prstGeom>
        </p:spPr>
      </p:pic>
      <p:sp>
        <p:nvSpPr>
          <p:cNvPr id="44" name="Text 37"/>
          <p:cNvSpPr txBox="1"/>
          <p:nvPr/>
        </p:nvSpPr>
        <p:spPr>
          <a:xfrm>
            <a:off x="7223760" y="4873752"/>
            <a:ext cx="3749040" cy="384048"/>
          </a:xfrm>
          <a:prstGeom prst="rect">
            <a:avLst/>
          </a:prstGeom>
          <a:noFill/>
          <a:ln/>
        </p:spPr>
        <p:txBody>
          <a:bodyPr wrap="square" lIns="0" tIns="0" rIns="0" bIns="0" rtlCol="0" anchor="t"/>
          <a:lstStyle/>
          <a:p>
            <a:pPr rtl="1" algn="r" indent="0" marL="0">
              <a:buNone/>
            </a:pPr>
            <a:r>
              <a:rPr lang="ar-SA" altLang="en-US" sz="1700" b="1" dirty="0">
                <a:solidFill>
                  <a:schemeClr val="tx2"/>
                </a:solidFill>
                <a:latin typeface="Arial" pitchFamily="34" charset="0"/>
                <a:ea typeface="Arial" pitchFamily="34" charset="-122"/>
                <a:cs typeface="Arial" pitchFamily="34" charset="-120"/>
              </a:rPr>
              <a:t>تأكد من وصول الطلاب</a:t>
            </a:r>
            <a:endParaRPr lang="ar-SA" sz="1700" dirty="0"/>
          </a:p>
        </p:txBody>
      </p:sp>
      <p:sp>
        <p:nvSpPr>
          <p:cNvPr id="45" name="Text 38"/>
          <p:cNvSpPr txBox="1"/>
          <p:nvPr/>
        </p:nvSpPr>
        <p:spPr>
          <a:xfrm>
            <a:off x="7223760" y="5276088"/>
            <a:ext cx="3749040" cy="64008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حسابات الطلاب المصرّح لها تفتح الرابط وكل الإعدادات صحيحة</a:t>
            </a:r>
            <a:endParaRPr lang="ar-SA" sz="1400" dirty="0"/>
          </a:p>
        </p:txBody>
      </p:sp>
      <p:sp>
        <p:nvSpPr>
          <p:cNvPr id="4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الاعتماد من رئيس القسم ثم نشر رابط الإجابة</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approval-1"/>
          <p:cNvSpPr/>
          <p:nvPr/>
        </p:nvSpPr>
        <p:spPr>
          <a:xfrm>
            <a:off x="9125712" y="1417320"/>
            <a:ext cx="2514600" cy="1600200"/>
          </a:xfrm>
          <a:prstGeom prst="roundRect">
            <a:avLst>
              <a:gd name="adj" fmla="val 6857"/>
            </a:avLst>
          </a:prstGeom>
          <a:solidFill>
            <a:schemeClr val="bg2"/>
          </a:solidFill>
          <a:ln/>
        </p:spPr>
      </p:sp>
      <p:sp>
        <p:nvSpPr>
          <p:cNvPr id="6" name="Shape 3"/>
          <p:cNvSpPr/>
          <p:nvPr/>
        </p:nvSpPr>
        <p:spPr>
          <a:xfrm>
            <a:off x="10954512" y="1572768"/>
            <a:ext cx="502920" cy="50292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11082528" y="1700784"/>
            <a:ext cx="246888" cy="246888"/>
          </a:xfrm>
          <a:prstGeom prst="rect">
            <a:avLst/>
          </a:prstGeom>
        </p:spPr>
      </p:pic>
      <p:sp>
        <p:nvSpPr>
          <p:cNvPr id="8" name="Text 4"/>
          <p:cNvSpPr txBox="1"/>
          <p:nvPr/>
        </p:nvSpPr>
        <p:spPr>
          <a:xfrm>
            <a:off x="9262872" y="1600200"/>
            <a:ext cx="1554480" cy="457200"/>
          </a:xfrm>
          <a:prstGeom prst="rect">
            <a:avLst/>
          </a:prstGeom>
          <a:noFill/>
          <a:ln/>
        </p:spPr>
        <p:txBody>
          <a:bodyPr wrap="square" lIns="0" tIns="0" rIns="0" bIns="0" rtlCol="0" anchor="t"/>
          <a:lstStyle/>
          <a:p>
            <a:pPr rtl="1" algn="r" indent="0" marL="0">
              <a:buNone/>
            </a:pPr>
            <a:r>
              <a:rPr lang="ar-SA" altLang="en-US" sz="1800" b="1" dirty="0">
                <a:solidFill>
                  <a:schemeClr val="tx2"/>
                </a:solidFill>
                <a:latin typeface="Arial" pitchFamily="34" charset="0"/>
                <a:ea typeface="Arial" pitchFamily="34" charset="-122"/>
                <a:cs typeface="Arial" pitchFamily="34" charset="-120"/>
              </a:rPr>
              <a:t>إرسال</a:t>
            </a:r>
            <a:endParaRPr lang="ar-SA" sz="1800" dirty="0"/>
          </a:p>
        </p:txBody>
      </p:sp>
      <p:sp>
        <p:nvSpPr>
          <p:cNvPr id="9" name="Text 5"/>
          <p:cNvSpPr txBox="1"/>
          <p:nvPr/>
        </p:nvSpPr>
        <p:spPr>
          <a:xfrm>
            <a:off x="9262872" y="2194560"/>
            <a:ext cx="224028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الرابط ومعلومات التصحيح للـ HoD</a:t>
            </a:r>
            <a:endParaRPr lang="ar-SA" sz="1400" dirty="0"/>
          </a:p>
        </p:txBody>
      </p:sp>
      <p:sp>
        <p:nvSpPr>
          <p:cNvPr id="10" name="Shape 6"/>
          <p:cNvSpPr/>
          <p:nvPr/>
        </p:nvSpPr>
        <p:spPr>
          <a:xfrm>
            <a:off x="8833104" y="2075688"/>
            <a:ext cx="256032" cy="292608"/>
          </a:xfrm>
          <a:prstGeom prst="leftArrow">
            <a:avLst/>
          </a:prstGeom>
          <a:solidFill>
            <a:srgbClr val="F2A900"/>
          </a:solidFill>
          <a:ln/>
        </p:spPr>
      </p:sp>
      <p:sp>
        <p:nvSpPr>
          <p:cNvPr id="11" name="approval-2"/>
          <p:cNvSpPr/>
          <p:nvPr/>
        </p:nvSpPr>
        <p:spPr>
          <a:xfrm>
            <a:off x="6272784" y="1417320"/>
            <a:ext cx="2514600" cy="1600200"/>
          </a:xfrm>
          <a:prstGeom prst="roundRect">
            <a:avLst>
              <a:gd name="adj" fmla="val 6857"/>
            </a:avLst>
          </a:prstGeom>
          <a:solidFill>
            <a:schemeClr val="bg2"/>
          </a:solidFill>
          <a:ln/>
        </p:spPr>
      </p:sp>
      <p:sp>
        <p:nvSpPr>
          <p:cNvPr id="12" name="Shape 8"/>
          <p:cNvSpPr/>
          <p:nvPr/>
        </p:nvSpPr>
        <p:spPr>
          <a:xfrm>
            <a:off x="8101584" y="1572768"/>
            <a:ext cx="502920" cy="50292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8229600" y="1700784"/>
            <a:ext cx="246888" cy="246888"/>
          </a:xfrm>
          <a:prstGeom prst="rect">
            <a:avLst/>
          </a:prstGeom>
        </p:spPr>
      </p:pic>
      <p:sp>
        <p:nvSpPr>
          <p:cNvPr id="14" name="Text 9"/>
          <p:cNvSpPr txBox="1"/>
          <p:nvPr/>
        </p:nvSpPr>
        <p:spPr>
          <a:xfrm>
            <a:off x="6409944" y="1600200"/>
            <a:ext cx="1554480" cy="457200"/>
          </a:xfrm>
          <a:prstGeom prst="rect">
            <a:avLst/>
          </a:prstGeom>
          <a:noFill/>
          <a:ln/>
        </p:spPr>
        <p:txBody>
          <a:bodyPr wrap="square" lIns="0" tIns="0" rIns="0" bIns="0" rtlCol="0" anchor="t"/>
          <a:lstStyle/>
          <a:p>
            <a:pPr rtl="1" algn="r" indent="0" marL="0">
              <a:buNone/>
            </a:pPr>
            <a:r>
              <a:rPr lang="ar-SA" altLang="en-US" sz="1800" b="1" dirty="0">
                <a:solidFill>
                  <a:schemeClr val="tx2"/>
                </a:solidFill>
                <a:latin typeface="Arial" pitchFamily="34" charset="0"/>
                <a:ea typeface="Arial" pitchFamily="34" charset="-122"/>
                <a:cs typeface="Arial" pitchFamily="34" charset="-120"/>
              </a:rPr>
              <a:t>تعديل</a:t>
            </a:r>
            <a:endParaRPr lang="ar-SA" sz="1800" dirty="0"/>
          </a:p>
        </p:txBody>
      </p:sp>
      <p:sp>
        <p:nvSpPr>
          <p:cNvPr id="15" name="Text 10"/>
          <p:cNvSpPr txBox="1"/>
          <p:nvPr/>
        </p:nvSpPr>
        <p:spPr>
          <a:xfrm>
            <a:off x="6409944" y="2194560"/>
            <a:ext cx="224028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تنفيذ ملاحظات المراجعة</a:t>
            </a:r>
            <a:endParaRPr lang="ar-SA" sz="1400" dirty="0"/>
          </a:p>
        </p:txBody>
      </p:sp>
      <p:sp>
        <p:nvSpPr>
          <p:cNvPr id="16" name="Shape 11"/>
          <p:cNvSpPr/>
          <p:nvPr/>
        </p:nvSpPr>
        <p:spPr>
          <a:xfrm>
            <a:off x="5980176" y="2075688"/>
            <a:ext cx="256032" cy="292608"/>
          </a:xfrm>
          <a:prstGeom prst="leftArrow">
            <a:avLst/>
          </a:prstGeom>
          <a:solidFill>
            <a:srgbClr val="F2A900"/>
          </a:solidFill>
          <a:ln/>
        </p:spPr>
      </p:sp>
      <p:sp>
        <p:nvSpPr>
          <p:cNvPr id="17" name="approval-3"/>
          <p:cNvSpPr/>
          <p:nvPr/>
        </p:nvSpPr>
        <p:spPr>
          <a:xfrm>
            <a:off x="3419856" y="1417320"/>
            <a:ext cx="2514600" cy="1600200"/>
          </a:xfrm>
          <a:prstGeom prst="roundRect">
            <a:avLst>
              <a:gd name="adj" fmla="val 6857"/>
            </a:avLst>
          </a:prstGeom>
          <a:solidFill>
            <a:schemeClr val="bg2"/>
          </a:solidFill>
          <a:ln/>
        </p:spPr>
      </p:sp>
      <p:sp>
        <p:nvSpPr>
          <p:cNvPr id="18" name="Shape 13"/>
          <p:cNvSpPr/>
          <p:nvPr/>
        </p:nvSpPr>
        <p:spPr>
          <a:xfrm>
            <a:off x="5248656" y="1572768"/>
            <a:ext cx="502920" cy="50292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5376672" y="1700784"/>
            <a:ext cx="246888" cy="246888"/>
          </a:xfrm>
          <a:prstGeom prst="rect">
            <a:avLst/>
          </a:prstGeom>
        </p:spPr>
      </p:pic>
      <p:sp>
        <p:nvSpPr>
          <p:cNvPr id="20" name="Text 14"/>
          <p:cNvSpPr txBox="1"/>
          <p:nvPr/>
        </p:nvSpPr>
        <p:spPr>
          <a:xfrm>
            <a:off x="3557016" y="1600200"/>
            <a:ext cx="1554480" cy="457200"/>
          </a:xfrm>
          <a:prstGeom prst="rect">
            <a:avLst/>
          </a:prstGeom>
          <a:noFill/>
          <a:ln/>
        </p:spPr>
        <p:txBody>
          <a:bodyPr wrap="square" lIns="0" tIns="0" rIns="0" bIns="0" rtlCol="0" anchor="t"/>
          <a:lstStyle/>
          <a:p>
            <a:pPr rtl="1" algn="r" indent="0" marL="0">
              <a:buNone/>
            </a:pPr>
            <a:r>
              <a:rPr lang="ar-SA" altLang="en-US" sz="1800" b="1" dirty="0">
                <a:solidFill>
                  <a:schemeClr val="tx2"/>
                </a:solidFill>
                <a:latin typeface="Arial" pitchFamily="34" charset="0"/>
                <a:ea typeface="Arial" pitchFamily="34" charset="-122"/>
                <a:cs typeface="Arial" pitchFamily="34" charset="-120"/>
              </a:rPr>
              <a:t>اعتماد</a:t>
            </a:r>
            <a:endParaRPr lang="ar-SA" sz="1800" dirty="0"/>
          </a:p>
        </p:txBody>
      </p:sp>
      <p:sp>
        <p:nvSpPr>
          <p:cNvPr id="21" name="Text 15"/>
          <p:cNvSpPr txBox="1"/>
          <p:nvPr/>
        </p:nvSpPr>
        <p:spPr>
          <a:xfrm>
            <a:off x="3557016" y="2194560"/>
            <a:ext cx="224028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موافقة نهائية مسجّلة</a:t>
            </a:r>
            <a:endParaRPr lang="ar-SA" sz="1400" dirty="0"/>
          </a:p>
        </p:txBody>
      </p:sp>
      <p:sp>
        <p:nvSpPr>
          <p:cNvPr id="22" name="Shape 16"/>
          <p:cNvSpPr/>
          <p:nvPr/>
        </p:nvSpPr>
        <p:spPr>
          <a:xfrm>
            <a:off x="3127248" y="2075688"/>
            <a:ext cx="256032" cy="292608"/>
          </a:xfrm>
          <a:prstGeom prst="leftArrow">
            <a:avLst/>
          </a:prstGeom>
          <a:solidFill>
            <a:srgbClr val="F2A900"/>
          </a:solidFill>
          <a:ln/>
        </p:spPr>
      </p:sp>
      <p:sp>
        <p:nvSpPr>
          <p:cNvPr id="23" name="approval-4"/>
          <p:cNvSpPr/>
          <p:nvPr/>
        </p:nvSpPr>
        <p:spPr>
          <a:xfrm>
            <a:off x="566928" y="1417320"/>
            <a:ext cx="2514600" cy="1600200"/>
          </a:xfrm>
          <a:prstGeom prst="roundRect">
            <a:avLst>
              <a:gd name="adj" fmla="val 6857"/>
            </a:avLst>
          </a:prstGeom>
          <a:solidFill>
            <a:srgbClr val="FFF4D6"/>
          </a:solidFill>
          <a:ln/>
        </p:spPr>
      </p:sp>
      <p:sp>
        <p:nvSpPr>
          <p:cNvPr id="24" name="Shape 18"/>
          <p:cNvSpPr/>
          <p:nvPr/>
        </p:nvSpPr>
        <p:spPr>
          <a:xfrm>
            <a:off x="2395728" y="1572768"/>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2523744" y="1700784"/>
            <a:ext cx="246888" cy="246888"/>
          </a:xfrm>
          <a:prstGeom prst="rect">
            <a:avLst/>
          </a:prstGeom>
        </p:spPr>
      </p:pic>
      <p:sp>
        <p:nvSpPr>
          <p:cNvPr id="26" name="Text 19"/>
          <p:cNvSpPr txBox="1"/>
          <p:nvPr/>
        </p:nvSpPr>
        <p:spPr>
          <a:xfrm>
            <a:off x="704088" y="1600200"/>
            <a:ext cx="1554480" cy="457200"/>
          </a:xfrm>
          <a:prstGeom prst="rect">
            <a:avLst/>
          </a:prstGeom>
          <a:noFill/>
          <a:ln/>
        </p:spPr>
        <p:txBody>
          <a:bodyPr wrap="square" lIns="0" tIns="0" rIns="0" bIns="0" rtlCol="0" anchor="t"/>
          <a:lstStyle/>
          <a:p>
            <a:pPr rtl="1" algn="r" indent="0" marL="0">
              <a:buNone/>
            </a:pPr>
            <a:r>
              <a:rPr lang="ar-SA" altLang="en-US" sz="1800" b="1" dirty="0">
                <a:solidFill>
                  <a:schemeClr val="tx2"/>
                </a:solidFill>
                <a:latin typeface="Arial" pitchFamily="34" charset="0"/>
                <a:ea typeface="Arial" pitchFamily="34" charset="-122"/>
                <a:cs typeface="Arial" pitchFamily="34" charset="-120"/>
              </a:rPr>
              <a:t>نشر</a:t>
            </a:r>
            <a:endParaRPr lang="ar-SA" sz="1800" dirty="0"/>
          </a:p>
        </p:txBody>
      </p:sp>
      <p:sp>
        <p:nvSpPr>
          <p:cNvPr id="27" name="Text 20"/>
          <p:cNvSpPr txBox="1"/>
          <p:nvPr/>
        </p:nvSpPr>
        <p:spPr>
          <a:xfrm>
            <a:off x="704088" y="2194560"/>
            <a:ext cx="2240280" cy="7315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رابط الإجابة الساعة 8:00</a:t>
            </a:r>
            <a:endParaRPr lang="ar-SA" sz="1400" dirty="0"/>
          </a:p>
        </p:txBody>
      </p:sp>
      <p:sp>
        <p:nvSpPr>
          <p:cNvPr id="28" name="mock-window"/>
          <p:cNvSpPr/>
          <p:nvPr/>
        </p:nvSpPr>
        <p:spPr>
          <a:xfrm>
            <a:off x="548640" y="3291840"/>
            <a:ext cx="5852160" cy="2743200"/>
          </a:xfrm>
          <a:prstGeom prst="roundRect">
            <a:avLst>
              <a:gd name="adj" fmla="val 3333"/>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29" name="Shape 22"/>
          <p:cNvSpPr/>
          <p:nvPr/>
        </p:nvSpPr>
        <p:spPr>
          <a:xfrm>
            <a:off x="566928" y="3310128"/>
            <a:ext cx="5815584" cy="365760"/>
          </a:xfrm>
          <a:prstGeom prst="rect">
            <a:avLst/>
          </a:prstGeom>
          <a:solidFill>
            <a:srgbClr val="F3F2F1"/>
          </a:solidFill>
          <a:ln/>
        </p:spPr>
      </p:sp>
      <p:sp>
        <p:nvSpPr>
          <p:cNvPr id="30" name="Text 23"/>
          <p:cNvSpPr txBox="1"/>
          <p:nvPr/>
        </p:nvSpPr>
        <p:spPr>
          <a:xfrm>
            <a:off x="685800" y="3310128"/>
            <a:ext cx="55778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Collect responses</a:t>
            </a:r>
            <a:endParaRPr lang="en-US" sz="1200" dirty="0"/>
          </a:p>
        </p:txBody>
      </p:sp>
      <p:sp>
        <p:nvSpPr>
          <p:cNvPr id="31" name="Text 24"/>
          <p:cNvSpPr txBox="1"/>
          <p:nvPr/>
        </p:nvSpPr>
        <p:spPr>
          <a:xfrm>
            <a:off x="822960" y="3794760"/>
            <a:ext cx="365760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Send and collect responses</a:t>
            </a:r>
            <a:endParaRPr lang="en-US" sz="1300" dirty="0"/>
          </a:p>
        </p:txBody>
      </p:sp>
      <p:sp>
        <p:nvSpPr>
          <p:cNvPr id="32" name="Shape 25"/>
          <p:cNvSpPr/>
          <p:nvPr/>
        </p:nvSpPr>
        <p:spPr>
          <a:xfrm>
            <a:off x="822960" y="4251960"/>
            <a:ext cx="3931920" cy="384048"/>
          </a:xfrm>
          <a:prstGeom prst="rect">
            <a:avLst/>
          </a:prstGeom>
          <a:solidFill>
            <a:srgbClr val="F8F8F8"/>
          </a:solidFill>
          <a:ln w="9525">
            <a:solidFill>
              <a:srgbClr val="8A8886"/>
            </a:solidFill>
            <a:prstDash val="solid"/>
          </a:ln>
        </p:spPr>
      </p:sp>
      <p:sp>
        <p:nvSpPr>
          <p:cNvPr id="33" name="Text 26"/>
          <p:cNvSpPr txBox="1"/>
          <p:nvPr/>
        </p:nvSpPr>
        <p:spPr>
          <a:xfrm>
            <a:off x="914400" y="4251960"/>
            <a:ext cx="3749040" cy="384048"/>
          </a:xfrm>
          <a:prstGeom prst="rect">
            <a:avLst/>
          </a:prstGeom>
          <a:noFill/>
          <a:ln/>
        </p:spPr>
        <p:txBody>
          <a:bodyPr wrap="square" lIns="0" tIns="0" rIns="0" bIns="0" rtlCol="0" anchor="ctr"/>
          <a:lstStyle/>
          <a:p>
            <a:pPr algn="l" indent="0" marL="0">
              <a:buNone/>
            </a:pPr>
            <a:r>
              <a:rPr lang="en-US" altLang="en-US" sz="1200" dirty="0">
                <a:solidFill>
                  <a:srgbClr val="605E5C"/>
                </a:solidFill>
                <a:latin typeface="Arial" pitchFamily="34" charset="0"/>
                <a:ea typeface="Arial" pitchFamily="34" charset="-122"/>
                <a:cs typeface="Arial" pitchFamily="34" charset="-120"/>
              </a:rPr>
              <a:t>https://forms.cloud.microsoft/r/…</a:t>
            </a:r>
            <a:endParaRPr lang="en-US" sz="1200" dirty="0"/>
          </a:p>
        </p:txBody>
      </p:sp>
      <p:sp>
        <p:nvSpPr>
          <p:cNvPr id="34" name="Shape 27"/>
          <p:cNvSpPr/>
          <p:nvPr/>
        </p:nvSpPr>
        <p:spPr>
          <a:xfrm>
            <a:off x="4892040" y="4251960"/>
            <a:ext cx="1280160" cy="384048"/>
          </a:xfrm>
          <a:prstGeom prst="roundRect">
            <a:avLst>
              <a:gd name="adj" fmla="val 11905"/>
            </a:avLst>
          </a:prstGeom>
          <a:solidFill>
            <a:srgbClr val="03787C"/>
          </a:solidFill>
          <a:ln/>
        </p:spPr>
      </p:sp>
      <p:sp>
        <p:nvSpPr>
          <p:cNvPr id="35" name="Text 28"/>
          <p:cNvSpPr txBox="1"/>
          <p:nvPr/>
        </p:nvSpPr>
        <p:spPr>
          <a:xfrm>
            <a:off x="4892040" y="4251960"/>
            <a:ext cx="1280160" cy="384048"/>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Copy link</a:t>
            </a:r>
            <a:endParaRPr lang="en-US" sz="1200" dirty="0"/>
          </a:p>
        </p:txBody>
      </p:sp>
      <p:sp>
        <p:nvSpPr>
          <p:cNvPr id="36" name="highlight"/>
          <p:cNvSpPr/>
          <p:nvPr/>
        </p:nvSpPr>
        <p:spPr>
          <a:xfrm>
            <a:off x="777240" y="4206240"/>
            <a:ext cx="5440680" cy="475488"/>
          </a:xfrm>
          <a:prstGeom prst="roundRect">
            <a:avLst>
              <a:gd name="adj" fmla="val 11538"/>
            </a:avLst>
          </a:prstGeom>
          <a:ln w="31750">
            <a:solidFill>
              <a:srgbClr val="F2A900"/>
            </a:solidFill>
            <a:prstDash val="solid"/>
          </a:ln>
        </p:spPr>
      </p:sp>
      <p:pic>
        <p:nvPicPr>
          <p:cNvPr id="37" name="Image 5" descr="preencoded.png">    </p:cNvPr>
          <p:cNvPicPr>
            <a:picLocks noChangeAspect="1"/>
          </p:cNvPicPr>
          <p:nvPr/>
        </p:nvPicPr>
        <p:blipFill>
          <a:blip r:embed="rId6"/>
          <a:stretch>
            <a:fillRect/>
          </a:stretch>
        </p:blipFill>
        <p:spPr>
          <a:xfrm>
            <a:off x="5943600" y="4892040"/>
            <a:ext cx="256032" cy="256032"/>
          </a:xfrm>
          <a:prstGeom prst="rect">
            <a:avLst/>
          </a:prstGeom>
        </p:spPr>
      </p:pic>
      <p:sp>
        <p:nvSpPr>
          <p:cNvPr id="38" name="Text 30"/>
          <p:cNvSpPr txBox="1"/>
          <p:nvPr/>
        </p:nvSpPr>
        <p:spPr>
          <a:xfrm>
            <a:off x="822960" y="4846320"/>
            <a:ext cx="4983480" cy="365760"/>
          </a:xfrm>
          <a:prstGeom prst="rect">
            <a:avLst/>
          </a:prstGeom>
          <a:noFill/>
          <a:ln/>
        </p:spPr>
        <p:txBody>
          <a:bodyPr wrap="square" lIns="0" tIns="0" rIns="0" bIns="0" rtlCol="0" anchor="t"/>
          <a:lstStyle/>
          <a:p>
            <a:pPr rtl="1" algn="r" indent="0" marL="0">
              <a:buNone/>
            </a:pPr>
            <a:r>
              <a:rPr lang="ar-SA" altLang="en-US" sz="1400" b="1" dirty="0">
                <a:solidFill>
                  <a:schemeClr val="accent5"/>
                </a:solidFill>
                <a:latin typeface="Arial" pitchFamily="34" charset="0"/>
                <a:ea typeface="Arial" pitchFamily="34" charset="-122"/>
                <a:cs typeface="Arial" pitchFamily="34" charset="-120"/>
              </a:rPr>
              <a:t>شارك رابط الإجابة فقط</a:t>
            </a:r>
            <a:endParaRPr lang="ar-SA" sz="1400" dirty="0"/>
          </a:p>
        </p:txBody>
      </p:sp>
      <p:pic>
        <p:nvPicPr>
          <p:cNvPr id="39" name="Image 6" descr="preencoded.png">    </p:cNvPr>
          <p:cNvPicPr>
            <a:picLocks noChangeAspect="1"/>
          </p:cNvPicPr>
          <p:nvPr/>
        </p:nvPicPr>
        <p:blipFill>
          <a:blip r:embed="rId7"/>
          <a:stretch>
            <a:fillRect/>
          </a:stretch>
        </p:blipFill>
        <p:spPr>
          <a:xfrm>
            <a:off x="5943600" y="5394960"/>
            <a:ext cx="256032" cy="256032"/>
          </a:xfrm>
          <a:prstGeom prst="rect">
            <a:avLst/>
          </a:prstGeom>
        </p:spPr>
      </p:pic>
      <p:sp>
        <p:nvSpPr>
          <p:cNvPr id="40" name="Text 31"/>
          <p:cNvSpPr txBox="1"/>
          <p:nvPr/>
        </p:nvSpPr>
        <p:spPr>
          <a:xfrm>
            <a:off x="822960" y="5349240"/>
            <a:ext cx="4983480" cy="365760"/>
          </a:xfrm>
          <a:prstGeom prst="rect">
            <a:avLst/>
          </a:prstGeom>
          <a:noFill/>
          <a:ln/>
        </p:spPr>
        <p:txBody>
          <a:bodyPr wrap="square" lIns="0" tIns="0" rIns="0" bIns="0" rtlCol="0" anchor="t"/>
          <a:lstStyle/>
          <a:p>
            <a:pPr rtl="1" algn="r" indent="0" marL="0">
              <a:buNone/>
            </a:pPr>
            <a:r>
              <a:rPr lang="ar-SA" altLang="en-US" sz="1400" b="1" dirty="0">
                <a:solidFill>
                  <a:schemeClr val="accent4"/>
                </a:solidFill>
                <a:latin typeface="Arial" pitchFamily="34" charset="0"/>
                <a:ea typeface="Arial" pitchFamily="34" charset="-122"/>
                <a:cs typeface="Arial" pitchFamily="34" charset="-120"/>
              </a:rPr>
              <a:t>لا تشارك أبداً رابط التحرير أو التعاون مع الطلاب</a:t>
            </a:r>
            <a:endParaRPr lang="ar-SA" sz="1400" dirty="0"/>
          </a:p>
        </p:txBody>
      </p:sp>
      <p:sp>
        <p:nvSpPr>
          <p:cNvPr id="41" name="approval-rule"/>
          <p:cNvSpPr/>
          <p:nvPr/>
        </p:nvSpPr>
        <p:spPr>
          <a:xfrm>
            <a:off x="6675120" y="3291840"/>
            <a:ext cx="4965192" cy="2743200"/>
          </a:xfrm>
          <a:prstGeom prst="roundRect">
            <a:avLst>
              <a:gd name="adj" fmla="val 4000"/>
            </a:avLst>
          </a:prstGeom>
          <a:solidFill>
            <a:srgbClr val="F3F0FD"/>
          </a:solidFill>
          <a:ln/>
        </p:spPr>
      </p:sp>
      <p:pic>
        <p:nvPicPr>
          <p:cNvPr id="42" name="Image 7" descr="preencoded.png">    </p:cNvPr>
          <p:cNvPicPr>
            <a:picLocks noChangeAspect="1"/>
          </p:cNvPicPr>
          <p:nvPr/>
        </p:nvPicPr>
        <p:blipFill>
          <a:blip r:embed="rId8"/>
          <a:stretch>
            <a:fillRect/>
          </a:stretch>
        </p:blipFill>
        <p:spPr>
          <a:xfrm>
            <a:off x="11109960" y="3474720"/>
            <a:ext cx="365760" cy="365760"/>
          </a:xfrm>
          <a:prstGeom prst="rect">
            <a:avLst/>
          </a:prstGeom>
        </p:spPr>
      </p:pic>
      <p:sp>
        <p:nvSpPr>
          <p:cNvPr id="43" name="Text 33"/>
          <p:cNvSpPr txBox="1"/>
          <p:nvPr/>
        </p:nvSpPr>
        <p:spPr>
          <a:xfrm>
            <a:off x="6858000" y="3429000"/>
            <a:ext cx="4114800" cy="457200"/>
          </a:xfrm>
          <a:prstGeom prst="rect">
            <a:avLst/>
          </a:prstGeom>
          <a:noFill/>
          <a:ln/>
        </p:spPr>
        <p:txBody>
          <a:bodyPr wrap="square" lIns="0" tIns="0" rIns="0" bIns="0" rtlCol="0" anchor="t"/>
          <a:lstStyle/>
          <a:p>
            <a:pPr rtl="1" algn="r" indent="0" marL="0">
              <a:buNone/>
            </a:pPr>
            <a:r>
              <a:rPr lang="ar-SA" altLang="en-US" sz="1800" b="1" dirty="0">
                <a:solidFill>
                  <a:schemeClr val="accent3"/>
                </a:solidFill>
                <a:latin typeface="Arial" pitchFamily="34" charset="0"/>
                <a:ea typeface="Arial" pitchFamily="34" charset="-122"/>
                <a:cs typeface="Arial" pitchFamily="34" charset="-120"/>
              </a:rPr>
              <a:t>قاعدة الاعتماد</a:t>
            </a:r>
            <a:endParaRPr lang="ar-SA" sz="1800" dirty="0"/>
          </a:p>
        </p:txBody>
      </p:sp>
      <p:sp>
        <p:nvSpPr>
          <p:cNvPr id="44" name="Text 34"/>
          <p:cNvSpPr txBox="1"/>
          <p:nvPr/>
        </p:nvSpPr>
        <p:spPr>
          <a:xfrm>
            <a:off x="6858000" y="3977640"/>
            <a:ext cx="4617720" cy="1920240"/>
          </a:xfrm>
          <a:prstGeom prst="rect">
            <a:avLst/>
          </a:prstGeom>
          <a:noFill/>
          <a:ln/>
        </p:spPr>
        <p:txBody>
          <a:bodyPr wrap="square" lIns="0" tIns="0" rIns="0" bIns="0" rtlCol="0" anchor="t"/>
          <a:lstStyle/>
          <a:p>
            <a:pPr algn="r" indent="0" marL="0">
              <a:spcAft>
                <a:spcPts val="800"/>
              </a:spcAft>
              <a:buNone/>
            </a:pPr>
            <a:r>
              <a:rPr lang="ar-SA" altLang="en-US" sz="1400" dirty="0">
                <a:solidFill>
                  <a:schemeClr val="tx1"/>
                </a:solidFill>
                <a:latin typeface="Arial" pitchFamily="34" charset="0"/>
                <a:ea typeface="Arial" pitchFamily="34" charset="-122"/>
                <a:cs typeface="Arial" pitchFamily="34" charset="-120"/>
              </a:rPr>
              <a:t>لا يُنشر أي اختبار قبل أن يُكمل رئيس القسم الفحص الأكاديمي والتقني ويعتمد النسخة النهائية.</a:t>
            </a:r>
            <a:endParaRPr lang="ar-SA" sz="1400" dirty="0"/>
          </a:p>
          <a:p>
            <a:pPr algn="r" indent="0" marL="0">
              <a:spcAft>
                <a:spcPts val="800"/>
              </a:spcAft>
              <a:buNone/>
            </a:pPr>
            <a:r>
              <a:rPr lang="ar-SA" altLang="en-US" sz="1400" dirty="0">
                <a:solidFill>
                  <a:schemeClr val="tx1"/>
                </a:solidFill>
                <a:latin typeface="Arial" pitchFamily="34" charset="0"/>
                <a:ea typeface="Arial" pitchFamily="34" charset="-122"/>
                <a:cs typeface="Arial" pitchFamily="34" charset="-120"/>
              </a:rPr>
              <a:t>بعد الاعتماد: لا تعديل على المحتوى أو الدرجات أو موعد الإتاحة إلا بموافقة.</a:t>
            </a:r>
            <a:endParaRPr lang="ar-SA" sz="1400" dirty="0"/>
          </a:p>
        </p:txBody>
      </p:sp>
      <p:sp>
        <p:nvSpPr>
          <p:cNvPr id="4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أثناء الاختبار: المتابعة والتعامل مع المشكلات</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during-duties"/>
          <p:cNvSpPr/>
          <p:nvPr/>
        </p:nvSpPr>
        <p:spPr>
          <a:xfrm>
            <a:off x="7818120" y="1417320"/>
            <a:ext cx="3822192" cy="4617720"/>
          </a:xfrm>
          <a:prstGeom prst="roundRect">
            <a:avLst>
              <a:gd name="adj" fmla="val 2871"/>
            </a:avLst>
          </a:prstGeom>
          <a:solidFill>
            <a:schemeClr val="bg2"/>
          </a:solidFill>
          <a:ln/>
        </p:spPr>
      </p:sp>
      <p:sp>
        <p:nvSpPr>
          <p:cNvPr id="6" name="Text 3"/>
          <p:cNvSpPr txBox="1"/>
          <p:nvPr/>
        </p:nvSpPr>
        <p:spPr>
          <a:xfrm>
            <a:off x="8001000" y="1554480"/>
            <a:ext cx="3474720" cy="411480"/>
          </a:xfrm>
          <a:prstGeom prst="rect">
            <a:avLst/>
          </a:prstGeom>
          <a:noFill/>
          <a:ln/>
        </p:spPr>
        <p:txBody>
          <a:bodyPr wrap="square" lIns="0" tIns="0" rIns="0" bIns="0" rtlCol="0" anchor="t"/>
          <a:lstStyle/>
          <a:p>
            <a:pPr rtl="1" algn="r" indent="0" marL="0">
              <a:buNone/>
            </a:pPr>
            <a:r>
              <a:rPr lang="ar-SA" altLang="en-US" sz="1800" b="1" dirty="0">
                <a:solidFill>
                  <a:schemeClr val="tx2"/>
                </a:solidFill>
                <a:latin typeface="Arial" pitchFamily="34" charset="0"/>
                <a:ea typeface="Arial" pitchFamily="34" charset="-122"/>
                <a:cs typeface="Arial" pitchFamily="34" charset="-120"/>
              </a:rPr>
              <a:t>مهام المعلم</a:t>
            </a:r>
            <a:endParaRPr lang="ar-SA" sz="1800" dirty="0"/>
          </a:p>
        </p:txBody>
      </p:sp>
      <p:sp>
        <p:nvSpPr>
          <p:cNvPr id="7" name="Text 4"/>
          <p:cNvSpPr txBox="1"/>
          <p:nvPr/>
        </p:nvSpPr>
        <p:spPr>
          <a:xfrm>
            <a:off x="8001000" y="2057400"/>
            <a:ext cx="3474720" cy="3840480"/>
          </a:xfrm>
          <a:prstGeom prst="rect">
            <a:avLst/>
          </a:prstGeom>
          <a:noFill/>
          <a:ln/>
        </p:spPr>
        <p:txBody>
          <a:bodyPr wrap="square" lIns="0" tIns="0" rIns="0" bIns="0" rtlCol="0" anchor="t"/>
          <a:lstStyle/>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الحضور في الموعد طوال فترة الاختبار</a:t>
            </a:r>
            <a:endParaRPr lang="ar-SA" sz="1400" dirty="0"/>
          </a:p>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نشر رابط الإجابة الصحيح في وقت البدء</a:t>
            </a:r>
            <a:endParaRPr lang="ar-SA" sz="1400" dirty="0"/>
          </a:p>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تسجيل الحضور ومتابعة التسليم مقابل قائمة الصف</a:t>
            </a:r>
            <a:endParaRPr lang="ar-SA" sz="1400" dirty="0"/>
          </a:p>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دعم تقني دون شرح الإجابات أو كشفها</a:t>
            </a:r>
            <a:endParaRPr lang="ar-SA" sz="1400" dirty="0"/>
          </a:p>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تسجيل المشكلات والإبلاغ عنها فوراً</a:t>
            </a:r>
            <a:endParaRPr lang="ar-SA" sz="1400" dirty="0"/>
          </a:p>
          <a:p>
            <a:pPr algn="r" marL="342900" indent="-342900">
              <a:spcAft>
                <a:spcPts val="900"/>
              </a:spcAft>
              <a:buSzPct val="100000"/>
              <a:buChar char="•"/>
            </a:pPr>
            <a:r>
              <a:rPr lang="ar-SA" altLang="en-US" sz="1400" dirty="0">
                <a:solidFill>
                  <a:schemeClr val="tx1"/>
                </a:solidFill>
                <a:latin typeface="Arial" pitchFamily="34" charset="0"/>
                <a:ea typeface="Arial" pitchFamily="34" charset="-122"/>
                <a:cs typeface="Arial" pitchFamily="34" charset="-120"/>
              </a:rPr>
              <a:t>إحالة طلبات التمديد أو الإعادة إلى رئيس القسم</a:t>
            </a:r>
            <a:endParaRPr lang="ar-SA"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95160" cy="914400"/>
        </p:xfrm>
        <a:graphic>
          <a:graphicData uri="http://schemas.openxmlformats.org/drawingml/2006/table">
            <a:tbl>
              <a:tblPr/>
              <a:tblGrid>
                <a:gridCol w="4709160"/>
                <a:gridCol w="2286000"/>
              </a:tblGrid>
              <a:tr h="548640">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الإجراء المطلوب</a:t>
                      </a:r>
                      <a:endParaRPr lang="ar-SA" sz="14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rtl="1" algn="r" indent="0" marL="0">
                        <a:buNone/>
                      </a:pPr>
                      <a:r>
                        <a:rPr lang="ar-SA" altLang="en-US" sz="1400" b="1" dirty="0">
                          <a:solidFill>
                            <a:srgbClr val="FFFFFF"/>
                          </a:solidFill>
                          <a:latin typeface="Arial" pitchFamily="34" charset="0"/>
                          <a:ea typeface="Arial" pitchFamily="34" charset="-122"/>
                          <a:cs typeface="Arial" pitchFamily="34" charset="-120"/>
                        </a:rPr>
                        <a:t>الحالة</a:t>
                      </a:r>
                      <a:endParaRPr lang="ar-SA" sz="14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تحقّق من الرابط والحساب المسجّل والإعدادات؛ صعّد للـ HoD</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لا يستطيع فتح الاختبار</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يبلّغ الطالب فوراً؛ سجّل الحادثة وتحقّق من وصول التسليم</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انقطاع الاتصال</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راجع الردّ المُسلَّم؛ أي محاولة إضافية تحتاج موافقة</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تسليم مبكّر بالخطأ</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التقط المشكلة وأبلغ الـ HoD؛ راجع توافق الجهاز والمتصفح</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تعذّر عرض الاختبار</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طابق الهوية والردود والحضور وسجلات التسليم</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ردّ مفقود</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rtl="1" algn="r" indent="0" marL="0">
                        <a:buNone/>
                      </a:pPr>
                      <a:r>
                        <a:rPr lang="ar-SA" altLang="en-US" sz="1300" dirty="0">
                          <a:solidFill>
                            <a:srgbClr val="1B2A33"/>
                          </a:solidFill>
                          <a:latin typeface="Arial" pitchFamily="34" charset="0"/>
                          <a:ea typeface="Arial" pitchFamily="34" charset="-122"/>
                          <a:cs typeface="Arial" pitchFamily="34" charset="-120"/>
                        </a:rPr>
                        <a:t>يبلغ الـ HoD رؤساء الأقسام ويُنسَّق قرار موحّد</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rtl="1" algn="r" indent="0" marL="0">
                        <a:buNone/>
                      </a:pPr>
                      <a:r>
                        <a:rPr lang="ar-SA" altLang="en-US" sz="1300" b="1" dirty="0">
                          <a:solidFill>
                            <a:srgbClr val="1B2A33"/>
                          </a:solidFill>
                          <a:latin typeface="Arial" pitchFamily="34" charset="0"/>
                          <a:ea typeface="Arial" pitchFamily="34" charset="-122"/>
                          <a:cs typeface="Arial" pitchFamily="34" charset="-120"/>
                        </a:rPr>
                        <a:t>تعطّل واسع للمنصة</a:t>
                      </a:r>
                      <a:endParaRPr lang="ar-SA"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bl>
          </a:graphicData>
        </a:graphic>
      </p:graphicFrame>
      <p:sp>
        <p:nvSpPr>
          <p:cNvPr id="9" name="no-promise"/>
          <p:cNvSpPr/>
          <p:nvPr/>
        </p:nvSpPr>
        <p:spPr>
          <a:xfrm>
            <a:off x="548640" y="5440680"/>
            <a:ext cx="6995160" cy="594360"/>
          </a:xfrm>
          <a:prstGeom prst="roundRect">
            <a:avLst>
              <a:gd name="adj" fmla="val 18462"/>
            </a:avLst>
          </a:prstGeom>
          <a:solidFill>
            <a:srgbClr val="FBEAE8"/>
          </a:solidFill>
          <a:ln/>
        </p:spPr>
      </p:sp>
      <p:sp>
        <p:nvSpPr>
          <p:cNvPr id="10" name="Text 6"/>
          <p:cNvSpPr txBox="1"/>
          <p:nvPr/>
        </p:nvSpPr>
        <p:spPr>
          <a:xfrm>
            <a:off x="731520" y="5440680"/>
            <a:ext cx="6629400" cy="594360"/>
          </a:xfrm>
          <a:prstGeom prst="rect">
            <a:avLst/>
          </a:prstGeom>
          <a:noFill/>
          <a:ln/>
        </p:spPr>
        <p:txBody>
          <a:bodyPr wrap="square" lIns="0" tIns="0" rIns="0" bIns="0" rtlCol="0" anchor="ctr"/>
          <a:lstStyle/>
          <a:p>
            <a:pPr rtl="1" algn="r" indent="0" marL="0">
              <a:buNone/>
            </a:pPr>
            <a:r>
              <a:rPr lang="ar-SA" altLang="en-US" sz="1400" b="1" dirty="0">
                <a:solidFill>
                  <a:schemeClr val="accent4"/>
                </a:solidFill>
                <a:latin typeface="Arial" pitchFamily="34" charset="0"/>
                <a:ea typeface="Arial" pitchFamily="34" charset="-122"/>
                <a:cs typeface="Arial" pitchFamily="34" charset="-120"/>
              </a:rPr>
              <a:t>لا تَعِد بوقت إضافي ولا تُعِد فتح الاختبار ولا تسمح بمحاولة ثانية</a:t>
            </a:r>
            <a:endParaRPr lang="ar-SA" sz="1400" dirty="0"/>
          </a:p>
        </p:txBody>
      </p:sp>
      <p:sp>
        <p:nvSpPr>
          <p:cNvPr id="1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بعد الاختبار: التصحيح والتصدير والتقرير</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after-1"/>
          <p:cNvSpPr/>
          <p:nvPr/>
        </p:nvSpPr>
        <p:spPr>
          <a:xfrm>
            <a:off x="9582912" y="1417320"/>
            <a:ext cx="2057400" cy="2606040"/>
          </a:xfrm>
          <a:prstGeom prst="roundRect">
            <a:avLst>
              <a:gd name="adj" fmla="val 5333"/>
            </a:avLst>
          </a:prstGeom>
          <a:solidFill>
            <a:schemeClr val="bg2"/>
          </a:solidFill>
          <a:ln/>
        </p:spPr>
      </p:sp>
      <p:sp>
        <p:nvSpPr>
          <p:cNvPr id="6" name="Shape 3"/>
          <p:cNvSpPr/>
          <p:nvPr/>
        </p:nvSpPr>
        <p:spPr>
          <a:xfrm>
            <a:off x="11137392" y="1554480"/>
            <a:ext cx="365760" cy="365760"/>
          </a:xfrm>
          <a:prstGeom prst="ellipse">
            <a:avLst/>
          </a:prstGeom>
          <a:solidFill>
            <a:schemeClr val="accent1"/>
          </a:solidFill>
          <a:ln w="19050">
            <a:solidFill>
              <a:srgbClr val="FFFFFF"/>
            </a:solidFill>
            <a:prstDash val="solid"/>
          </a:ln>
        </p:spPr>
      </p:sp>
      <p:sp>
        <p:nvSpPr>
          <p:cNvPr id="7" name="Text 4"/>
          <p:cNvSpPr txBox="1"/>
          <p:nvPr/>
        </p:nvSpPr>
        <p:spPr>
          <a:xfrm>
            <a:off x="11137392" y="155448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1</a:t>
            </a:r>
            <a:endParaRPr lang="ar-SA" sz="1300" dirty="0"/>
          </a:p>
        </p:txBody>
      </p:sp>
      <p:sp>
        <p:nvSpPr>
          <p:cNvPr id="8" name="Shape 5"/>
          <p:cNvSpPr/>
          <p:nvPr/>
        </p:nvSpPr>
        <p:spPr>
          <a:xfrm>
            <a:off x="9747504" y="1554480"/>
            <a:ext cx="548640" cy="5486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9884664" y="1691640"/>
            <a:ext cx="274320" cy="274320"/>
          </a:xfrm>
          <a:prstGeom prst="rect">
            <a:avLst/>
          </a:prstGeom>
        </p:spPr>
      </p:pic>
      <p:sp>
        <p:nvSpPr>
          <p:cNvPr id="10" name="Text 6"/>
          <p:cNvSpPr txBox="1"/>
          <p:nvPr/>
        </p:nvSpPr>
        <p:spPr>
          <a:xfrm>
            <a:off x="9720072" y="2286000"/>
            <a:ext cx="178308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مطابقة الردود</a:t>
            </a:r>
            <a:endParaRPr lang="ar-SA" sz="1600" dirty="0"/>
          </a:p>
        </p:txBody>
      </p:sp>
      <p:sp>
        <p:nvSpPr>
          <p:cNvPr id="11" name="Text 7"/>
          <p:cNvSpPr txBox="1"/>
          <p:nvPr/>
        </p:nvSpPr>
        <p:spPr>
          <a:xfrm>
            <a:off x="9720072" y="2724912"/>
            <a:ext cx="1783080" cy="123444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عدد الردود مقابل الحضور، وتتبّع المفقود</a:t>
            </a:r>
            <a:endParaRPr lang="ar-SA" sz="1400" dirty="0"/>
          </a:p>
        </p:txBody>
      </p:sp>
      <p:sp>
        <p:nvSpPr>
          <p:cNvPr id="12" name="after-2"/>
          <p:cNvSpPr/>
          <p:nvPr/>
        </p:nvSpPr>
        <p:spPr>
          <a:xfrm>
            <a:off x="7324344" y="1417320"/>
            <a:ext cx="2057400" cy="2606040"/>
          </a:xfrm>
          <a:prstGeom prst="roundRect">
            <a:avLst>
              <a:gd name="adj" fmla="val 5333"/>
            </a:avLst>
          </a:prstGeom>
          <a:solidFill>
            <a:schemeClr val="bg2"/>
          </a:solidFill>
          <a:ln/>
        </p:spPr>
      </p:sp>
      <p:sp>
        <p:nvSpPr>
          <p:cNvPr id="13" name="Shape 9"/>
          <p:cNvSpPr/>
          <p:nvPr/>
        </p:nvSpPr>
        <p:spPr>
          <a:xfrm>
            <a:off x="8878824" y="1554480"/>
            <a:ext cx="365760" cy="365760"/>
          </a:xfrm>
          <a:prstGeom prst="ellipse">
            <a:avLst/>
          </a:prstGeom>
          <a:solidFill>
            <a:schemeClr val="accent1"/>
          </a:solidFill>
          <a:ln w="19050">
            <a:solidFill>
              <a:srgbClr val="FFFFFF"/>
            </a:solidFill>
            <a:prstDash val="solid"/>
          </a:ln>
        </p:spPr>
      </p:sp>
      <p:sp>
        <p:nvSpPr>
          <p:cNvPr id="14" name="Text 10"/>
          <p:cNvSpPr txBox="1"/>
          <p:nvPr/>
        </p:nvSpPr>
        <p:spPr>
          <a:xfrm>
            <a:off x="8878824" y="155448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2</a:t>
            </a:r>
            <a:endParaRPr lang="ar-SA" sz="1300" dirty="0"/>
          </a:p>
        </p:txBody>
      </p:sp>
      <p:sp>
        <p:nvSpPr>
          <p:cNvPr id="15" name="Shape 11"/>
          <p:cNvSpPr/>
          <p:nvPr/>
        </p:nvSpPr>
        <p:spPr>
          <a:xfrm>
            <a:off x="7488936" y="1554480"/>
            <a:ext cx="548640" cy="54864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626096" y="1691640"/>
            <a:ext cx="274320" cy="274320"/>
          </a:xfrm>
          <a:prstGeom prst="rect">
            <a:avLst/>
          </a:prstGeom>
        </p:spPr>
      </p:pic>
      <p:sp>
        <p:nvSpPr>
          <p:cNvPr id="17" name="Text 12"/>
          <p:cNvSpPr txBox="1"/>
          <p:nvPr/>
        </p:nvSpPr>
        <p:spPr>
          <a:xfrm>
            <a:off x="7461504" y="2286000"/>
            <a:ext cx="178308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مراجعة التصحيح</a:t>
            </a:r>
            <a:endParaRPr lang="ar-SA" sz="1600" dirty="0"/>
          </a:p>
        </p:txBody>
      </p:sp>
      <p:sp>
        <p:nvSpPr>
          <p:cNvPr id="18" name="Text 13"/>
          <p:cNvSpPr txBox="1"/>
          <p:nvPr/>
        </p:nvSpPr>
        <p:spPr>
          <a:xfrm>
            <a:off x="7461504" y="2724912"/>
            <a:ext cx="1783080" cy="123444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النقاط التلقائية + تصحيح الإجابات المكتوبة يدوياً</a:t>
            </a:r>
            <a:endParaRPr lang="ar-SA" sz="1400" dirty="0"/>
          </a:p>
        </p:txBody>
      </p:sp>
      <p:sp>
        <p:nvSpPr>
          <p:cNvPr id="19" name="after-3"/>
          <p:cNvSpPr/>
          <p:nvPr/>
        </p:nvSpPr>
        <p:spPr>
          <a:xfrm>
            <a:off x="5065776" y="1417320"/>
            <a:ext cx="2057400" cy="2606040"/>
          </a:xfrm>
          <a:prstGeom prst="roundRect">
            <a:avLst>
              <a:gd name="adj" fmla="val 5333"/>
            </a:avLst>
          </a:prstGeom>
          <a:solidFill>
            <a:schemeClr val="bg2"/>
          </a:solidFill>
          <a:ln/>
        </p:spPr>
      </p:sp>
      <p:sp>
        <p:nvSpPr>
          <p:cNvPr id="20" name="Shape 15"/>
          <p:cNvSpPr/>
          <p:nvPr/>
        </p:nvSpPr>
        <p:spPr>
          <a:xfrm>
            <a:off x="6620256" y="1554480"/>
            <a:ext cx="365760" cy="365760"/>
          </a:xfrm>
          <a:prstGeom prst="ellipse">
            <a:avLst/>
          </a:prstGeom>
          <a:solidFill>
            <a:schemeClr val="accent1"/>
          </a:solidFill>
          <a:ln w="19050">
            <a:solidFill>
              <a:srgbClr val="FFFFFF"/>
            </a:solidFill>
            <a:prstDash val="solid"/>
          </a:ln>
        </p:spPr>
      </p:sp>
      <p:sp>
        <p:nvSpPr>
          <p:cNvPr id="21" name="Text 16"/>
          <p:cNvSpPr txBox="1"/>
          <p:nvPr/>
        </p:nvSpPr>
        <p:spPr>
          <a:xfrm>
            <a:off x="6620256" y="155448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3</a:t>
            </a:r>
            <a:endParaRPr lang="ar-SA" sz="1300" dirty="0"/>
          </a:p>
        </p:txBody>
      </p:sp>
      <p:sp>
        <p:nvSpPr>
          <p:cNvPr id="22" name="Shape 17"/>
          <p:cNvSpPr/>
          <p:nvPr/>
        </p:nvSpPr>
        <p:spPr>
          <a:xfrm>
            <a:off x="5230368" y="1554480"/>
            <a:ext cx="548640" cy="54864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5367528" y="1691640"/>
            <a:ext cx="274320" cy="274320"/>
          </a:xfrm>
          <a:prstGeom prst="rect">
            <a:avLst/>
          </a:prstGeom>
        </p:spPr>
      </p:pic>
      <p:sp>
        <p:nvSpPr>
          <p:cNvPr id="24" name="Text 18"/>
          <p:cNvSpPr txBox="1"/>
          <p:nvPr/>
        </p:nvSpPr>
        <p:spPr>
          <a:xfrm>
            <a:off x="5202936" y="2286000"/>
            <a:ext cx="178308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الاتساق والتوثيق</a:t>
            </a:r>
            <a:endParaRPr lang="ar-SA" sz="1600" dirty="0"/>
          </a:p>
        </p:txBody>
      </p:sp>
      <p:sp>
        <p:nvSpPr>
          <p:cNvPr id="25" name="Text 19"/>
          <p:cNvSpPr txBox="1"/>
          <p:nvPr/>
        </p:nvSpPr>
        <p:spPr>
          <a:xfrm>
            <a:off x="5202936" y="2724912"/>
            <a:ext cx="1783080" cy="123444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مقارنة الشعب وسجلّ لأي تعديل</a:t>
            </a:r>
            <a:endParaRPr lang="ar-SA" sz="1400" dirty="0"/>
          </a:p>
        </p:txBody>
      </p:sp>
      <p:sp>
        <p:nvSpPr>
          <p:cNvPr id="26" name="after-4"/>
          <p:cNvSpPr/>
          <p:nvPr/>
        </p:nvSpPr>
        <p:spPr>
          <a:xfrm>
            <a:off x="2807208" y="1417320"/>
            <a:ext cx="2057400" cy="2606040"/>
          </a:xfrm>
          <a:prstGeom prst="roundRect">
            <a:avLst>
              <a:gd name="adj" fmla="val 5333"/>
            </a:avLst>
          </a:prstGeom>
          <a:solidFill>
            <a:schemeClr val="bg2"/>
          </a:solidFill>
          <a:ln/>
        </p:spPr>
      </p:sp>
      <p:sp>
        <p:nvSpPr>
          <p:cNvPr id="27" name="Shape 21"/>
          <p:cNvSpPr/>
          <p:nvPr/>
        </p:nvSpPr>
        <p:spPr>
          <a:xfrm>
            <a:off x="4361688" y="1554480"/>
            <a:ext cx="365760" cy="365760"/>
          </a:xfrm>
          <a:prstGeom prst="ellipse">
            <a:avLst/>
          </a:prstGeom>
          <a:solidFill>
            <a:schemeClr val="accent1"/>
          </a:solidFill>
          <a:ln w="19050">
            <a:solidFill>
              <a:srgbClr val="FFFFFF"/>
            </a:solidFill>
            <a:prstDash val="solid"/>
          </a:ln>
        </p:spPr>
      </p:sp>
      <p:sp>
        <p:nvSpPr>
          <p:cNvPr id="28" name="Text 22"/>
          <p:cNvSpPr txBox="1"/>
          <p:nvPr/>
        </p:nvSpPr>
        <p:spPr>
          <a:xfrm>
            <a:off x="4361688" y="155448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4</a:t>
            </a:r>
            <a:endParaRPr lang="ar-SA" sz="1300" dirty="0"/>
          </a:p>
        </p:txBody>
      </p:sp>
      <p:sp>
        <p:nvSpPr>
          <p:cNvPr id="29" name="Shape 23"/>
          <p:cNvSpPr/>
          <p:nvPr/>
        </p:nvSpPr>
        <p:spPr>
          <a:xfrm>
            <a:off x="2971800" y="1554480"/>
            <a:ext cx="548640" cy="548640"/>
          </a:xfrm>
          <a:prstGeom prst="ellipse">
            <a:avLst/>
          </a:prstGeom>
          <a:solidFill>
            <a:srgbClr val="FFFFFF"/>
          </a:solidFill>
          <a:ln/>
        </p:spPr>
      </p:sp>
      <p:pic>
        <p:nvPicPr>
          <p:cNvPr id="30" name="Image 4" descr="preencoded.png">    </p:cNvPr>
          <p:cNvPicPr>
            <a:picLocks noChangeAspect="1"/>
          </p:cNvPicPr>
          <p:nvPr/>
        </p:nvPicPr>
        <p:blipFill>
          <a:blip r:embed="rId5"/>
          <a:stretch>
            <a:fillRect/>
          </a:stretch>
        </p:blipFill>
        <p:spPr>
          <a:xfrm>
            <a:off x="3108960" y="1691640"/>
            <a:ext cx="274320" cy="274320"/>
          </a:xfrm>
          <a:prstGeom prst="rect">
            <a:avLst/>
          </a:prstGeom>
        </p:spPr>
      </p:pic>
      <p:sp>
        <p:nvSpPr>
          <p:cNvPr id="31" name="Text 24"/>
          <p:cNvSpPr txBox="1"/>
          <p:nvPr/>
        </p:nvSpPr>
        <p:spPr>
          <a:xfrm>
            <a:off x="2944368" y="2286000"/>
            <a:ext cx="178308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التصدير والحفظ</a:t>
            </a:r>
            <a:endParaRPr lang="ar-SA" sz="1600" dirty="0"/>
          </a:p>
        </p:txBody>
      </p:sp>
      <p:sp>
        <p:nvSpPr>
          <p:cNvPr id="32" name="Text 25"/>
          <p:cNvSpPr txBox="1"/>
          <p:nvPr/>
        </p:nvSpPr>
        <p:spPr>
          <a:xfrm>
            <a:off x="2944368" y="2724912"/>
            <a:ext cx="1783080" cy="123444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Open results in Excel ثم المجلد الآمن للقسم</a:t>
            </a:r>
            <a:endParaRPr lang="ar-SA" sz="1400" dirty="0"/>
          </a:p>
        </p:txBody>
      </p:sp>
      <p:sp>
        <p:nvSpPr>
          <p:cNvPr id="33" name="after-5"/>
          <p:cNvSpPr/>
          <p:nvPr/>
        </p:nvSpPr>
        <p:spPr>
          <a:xfrm>
            <a:off x="548640" y="1417320"/>
            <a:ext cx="2057400" cy="2606040"/>
          </a:xfrm>
          <a:prstGeom prst="roundRect">
            <a:avLst>
              <a:gd name="adj" fmla="val 5333"/>
            </a:avLst>
          </a:prstGeom>
          <a:solidFill>
            <a:schemeClr val="bg2"/>
          </a:solidFill>
          <a:ln/>
        </p:spPr>
      </p:sp>
      <p:sp>
        <p:nvSpPr>
          <p:cNvPr id="34" name="Shape 27"/>
          <p:cNvSpPr/>
          <p:nvPr/>
        </p:nvSpPr>
        <p:spPr>
          <a:xfrm>
            <a:off x="2103120" y="1554480"/>
            <a:ext cx="365760" cy="365760"/>
          </a:xfrm>
          <a:prstGeom prst="ellipse">
            <a:avLst/>
          </a:prstGeom>
          <a:solidFill>
            <a:schemeClr val="accent1"/>
          </a:solidFill>
          <a:ln w="19050">
            <a:solidFill>
              <a:srgbClr val="FFFFFF"/>
            </a:solidFill>
            <a:prstDash val="solid"/>
          </a:ln>
        </p:spPr>
      </p:sp>
      <p:sp>
        <p:nvSpPr>
          <p:cNvPr id="35" name="Text 28"/>
          <p:cNvSpPr txBox="1"/>
          <p:nvPr/>
        </p:nvSpPr>
        <p:spPr>
          <a:xfrm>
            <a:off x="2103120" y="1554480"/>
            <a:ext cx="365760" cy="365760"/>
          </a:xfrm>
          <a:prstGeom prst="rect">
            <a:avLst/>
          </a:prstGeom>
          <a:noFill/>
          <a:ln/>
        </p:spPr>
        <p:txBody>
          <a:bodyPr wrap="square" lIns="0" tIns="0" rIns="0" bIns="0" rtlCol="0" anchor="ctr"/>
          <a:lstStyle/>
          <a:p>
            <a:pPr rtl="1" algn="ctr" indent="0" marL="0">
              <a:buNone/>
            </a:pPr>
            <a:r>
              <a:rPr lang="ar-SA" altLang="en-US" sz="1300" b="1" dirty="0">
                <a:solidFill>
                  <a:schemeClr val="bg1"/>
                </a:solidFill>
                <a:latin typeface="Arial" pitchFamily="34" charset="0"/>
                <a:ea typeface="Arial" pitchFamily="34" charset="-122"/>
                <a:cs typeface="Arial" pitchFamily="34" charset="-120"/>
              </a:rPr>
              <a:t>5</a:t>
            </a:r>
            <a:endParaRPr lang="ar-SA" sz="1300" dirty="0"/>
          </a:p>
        </p:txBody>
      </p:sp>
      <p:sp>
        <p:nvSpPr>
          <p:cNvPr id="36" name="Shape 29"/>
          <p:cNvSpPr/>
          <p:nvPr/>
        </p:nvSpPr>
        <p:spPr>
          <a:xfrm>
            <a:off x="713232" y="1554480"/>
            <a:ext cx="548640" cy="548640"/>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850392" y="1691640"/>
            <a:ext cx="274320" cy="274320"/>
          </a:xfrm>
          <a:prstGeom prst="rect">
            <a:avLst/>
          </a:prstGeom>
        </p:spPr>
      </p:pic>
      <p:sp>
        <p:nvSpPr>
          <p:cNvPr id="38" name="Text 30"/>
          <p:cNvSpPr txBox="1"/>
          <p:nvPr/>
        </p:nvSpPr>
        <p:spPr>
          <a:xfrm>
            <a:off x="685800" y="2286000"/>
            <a:ext cx="1783080" cy="41148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Arial" pitchFamily="34" charset="0"/>
                <a:ea typeface="Arial" pitchFamily="34" charset="-122"/>
                <a:cs typeface="Arial" pitchFamily="34" charset="-120"/>
              </a:rPr>
              <a:t>التسليم للـ HoD</a:t>
            </a:r>
            <a:endParaRPr lang="ar-SA" sz="1600" dirty="0"/>
          </a:p>
        </p:txBody>
      </p:sp>
      <p:sp>
        <p:nvSpPr>
          <p:cNvPr id="39" name="Text 31"/>
          <p:cNvSpPr txBox="1"/>
          <p:nvPr/>
        </p:nvSpPr>
        <p:spPr>
          <a:xfrm>
            <a:off x="685800" y="2724912"/>
            <a:ext cx="1783080" cy="123444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الدرجات الموثّقة + تقرير الغياب والحوادث</a:t>
            </a:r>
            <a:endParaRPr lang="ar-SA" sz="1400" dirty="0"/>
          </a:p>
        </p:txBody>
      </p:sp>
      <p:sp>
        <p:nvSpPr>
          <p:cNvPr id="40" name="mock-window"/>
          <p:cNvSpPr/>
          <p:nvPr/>
        </p:nvSpPr>
        <p:spPr>
          <a:xfrm>
            <a:off x="548640" y="4297680"/>
            <a:ext cx="6035040" cy="1737360"/>
          </a:xfrm>
          <a:prstGeom prst="roundRect">
            <a:avLst>
              <a:gd name="adj" fmla="val 5263"/>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41" name="Shape 33"/>
          <p:cNvSpPr/>
          <p:nvPr/>
        </p:nvSpPr>
        <p:spPr>
          <a:xfrm>
            <a:off x="566928" y="4315968"/>
            <a:ext cx="5998464" cy="365760"/>
          </a:xfrm>
          <a:prstGeom prst="rect">
            <a:avLst/>
          </a:prstGeom>
          <a:solidFill>
            <a:srgbClr val="F3F2F1"/>
          </a:solidFill>
          <a:ln/>
        </p:spPr>
      </p:sp>
      <p:sp>
        <p:nvSpPr>
          <p:cNvPr id="42" name="Text 34"/>
          <p:cNvSpPr txBox="1"/>
          <p:nvPr/>
        </p:nvSpPr>
        <p:spPr>
          <a:xfrm>
            <a:off x="685800" y="4315968"/>
            <a:ext cx="576072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 — Responses</a:t>
            </a:r>
            <a:endParaRPr lang="en-US" sz="1200" dirty="0"/>
          </a:p>
        </p:txBody>
      </p:sp>
      <p:sp>
        <p:nvSpPr>
          <p:cNvPr id="43" name="Text 35"/>
          <p:cNvSpPr txBox="1"/>
          <p:nvPr/>
        </p:nvSpPr>
        <p:spPr>
          <a:xfrm>
            <a:off x="822960" y="4754880"/>
            <a:ext cx="1097280" cy="329184"/>
          </a:xfrm>
          <a:prstGeom prst="rect">
            <a:avLst/>
          </a:prstGeom>
          <a:noFill/>
          <a:ln/>
        </p:spPr>
        <p:txBody>
          <a:bodyPr wrap="square" lIns="0" tIns="0" rIns="0" bIns="0" rtlCol="0" anchor="ctr"/>
          <a:lstStyle/>
          <a:p>
            <a:pPr algn="l" indent="0" marL="0">
              <a:buNone/>
            </a:pPr>
            <a:r>
              <a:rPr lang="en-US" altLang="en-US" sz="1200" dirty="0">
                <a:solidFill>
                  <a:srgbClr val="605E5C"/>
                </a:solidFill>
                <a:latin typeface="Arial" pitchFamily="34" charset="0"/>
                <a:ea typeface="Arial" pitchFamily="34" charset="-122"/>
                <a:cs typeface="Arial" pitchFamily="34" charset="-120"/>
              </a:rPr>
              <a:t>Questions</a:t>
            </a:r>
            <a:endParaRPr lang="en-US" sz="1200" dirty="0"/>
          </a:p>
        </p:txBody>
      </p:sp>
      <p:sp>
        <p:nvSpPr>
          <p:cNvPr id="44" name="Text 36"/>
          <p:cNvSpPr txBox="1"/>
          <p:nvPr/>
        </p:nvSpPr>
        <p:spPr>
          <a:xfrm>
            <a:off x="1920240" y="4754880"/>
            <a:ext cx="1097280" cy="329184"/>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Responses</a:t>
            </a:r>
            <a:endParaRPr lang="en-US" sz="1200" dirty="0"/>
          </a:p>
        </p:txBody>
      </p:sp>
      <p:sp>
        <p:nvSpPr>
          <p:cNvPr id="45" name="Shape 37"/>
          <p:cNvSpPr/>
          <p:nvPr/>
        </p:nvSpPr>
        <p:spPr>
          <a:xfrm>
            <a:off x="1920240" y="5084064"/>
            <a:ext cx="868680" cy="0"/>
          </a:xfrm>
          <a:prstGeom prst="line">
            <a:avLst/>
          </a:prstGeom>
          <a:noFill/>
          <a:ln w="31750">
            <a:solidFill>
              <a:srgbClr val="03787C"/>
            </a:solidFill>
            <a:prstDash val="solid"/>
          </a:ln>
        </p:spPr>
      </p:sp>
      <p:sp>
        <p:nvSpPr>
          <p:cNvPr id="46" name="Text 38"/>
          <p:cNvSpPr txBox="1"/>
          <p:nvPr/>
        </p:nvSpPr>
        <p:spPr>
          <a:xfrm>
            <a:off x="822960" y="5349240"/>
            <a:ext cx="2011680" cy="36576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Review answers</a:t>
            </a:r>
            <a:endParaRPr lang="en-US" sz="1200" dirty="0"/>
          </a:p>
        </p:txBody>
      </p:sp>
      <p:sp>
        <p:nvSpPr>
          <p:cNvPr id="47" name="Shape 39"/>
          <p:cNvSpPr/>
          <p:nvPr/>
        </p:nvSpPr>
        <p:spPr>
          <a:xfrm>
            <a:off x="3108960" y="5349240"/>
            <a:ext cx="2103120" cy="384048"/>
          </a:xfrm>
          <a:prstGeom prst="roundRect">
            <a:avLst>
              <a:gd name="adj" fmla="val 11905"/>
            </a:avLst>
          </a:prstGeom>
          <a:solidFill>
            <a:srgbClr val="1D6F42"/>
          </a:solidFill>
          <a:ln/>
        </p:spPr>
      </p:sp>
      <p:pic>
        <p:nvPicPr>
          <p:cNvPr id="48" name="Image 6" descr="preencoded.png">    </p:cNvPr>
          <p:cNvPicPr>
            <a:picLocks noChangeAspect="1"/>
          </p:cNvPicPr>
          <p:nvPr/>
        </p:nvPicPr>
        <p:blipFill>
          <a:blip r:embed="rId7"/>
          <a:stretch>
            <a:fillRect/>
          </a:stretch>
        </p:blipFill>
        <p:spPr>
          <a:xfrm>
            <a:off x="3200400" y="5422392"/>
            <a:ext cx="237744" cy="237744"/>
          </a:xfrm>
          <a:prstGeom prst="rect">
            <a:avLst/>
          </a:prstGeom>
        </p:spPr>
      </p:pic>
      <p:sp>
        <p:nvSpPr>
          <p:cNvPr id="49" name="Text 40"/>
          <p:cNvSpPr txBox="1"/>
          <p:nvPr/>
        </p:nvSpPr>
        <p:spPr>
          <a:xfrm>
            <a:off x="3493008" y="5349240"/>
            <a:ext cx="1691640" cy="384048"/>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pitchFamily="34" charset="-122"/>
                <a:cs typeface="Arial" pitchFamily="34" charset="-120"/>
              </a:rPr>
              <a:t>Open results in Excel</a:t>
            </a:r>
            <a:endParaRPr lang="en-US" sz="1100" dirty="0"/>
          </a:p>
        </p:txBody>
      </p:sp>
      <p:sp>
        <p:nvSpPr>
          <p:cNvPr id="50" name="highlight"/>
          <p:cNvSpPr/>
          <p:nvPr/>
        </p:nvSpPr>
        <p:spPr>
          <a:xfrm>
            <a:off x="3063240" y="5303520"/>
            <a:ext cx="2194560" cy="475488"/>
          </a:xfrm>
          <a:prstGeom prst="roundRect">
            <a:avLst>
              <a:gd name="adj" fmla="val 11538"/>
            </a:avLst>
          </a:prstGeom>
          <a:ln w="31750">
            <a:solidFill>
              <a:srgbClr val="F2A900"/>
            </a:solidFill>
            <a:prstDash val="solid"/>
          </a:ln>
        </p:spPr>
      </p:sp>
      <p:sp>
        <p:nvSpPr>
          <p:cNvPr id="51" name="accountability"/>
          <p:cNvSpPr/>
          <p:nvPr/>
        </p:nvSpPr>
        <p:spPr>
          <a:xfrm>
            <a:off x="6858000" y="4297680"/>
            <a:ext cx="4782312" cy="1737360"/>
          </a:xfrm>
          <a:prstGeom prst="roundRect">
            <a:avLst>
              <a:gd name="adj" fmla="val 6316"/>
            </a:avLst>
          </a:prstGeom>
          <a:solidFill>
            <a:srgbClr val="FFF4D6"/>
          </a:solidFill>
          <a:ln/>
        </p:spPr>
      </p:sp>
      <p:pic>
        <p:nvPicPr>
          <p:cNvPr id="52" name="Image 7" descr="preencoded.png">    </p:cNvPr>
          <p:cNvPicPr>
            <a:picLocks noChangeAspect="1"/>
          </p:cNvPicPr>
          <p:nvPr/>
        </p:nvPicPr>
        <p:blipFill>
          <a:blip r:embed="rId8"/>
          <a:stretch>
            <a:fillRect/>
          </a:stretch>
        </p:blipFill>
        <p:spPr>
          <a:xfrm>
            <a:off x="11109960" y="4480560"/>
            <a:ext cx="365760" cy="365760"/>
          </a:xfrm>
          <a:prstGeom prst="rect">
            <a:avLst/>
          </a:prstGeom>
        </p:spPr>
      </p:pic>
      <p:sp>
        <p:nvSpPr>
          <p:cNvPr id="53" name="Text 43"/>
          <p:cNvSpPr txBox="1"/>
          <p:nvPr/>
        </p:nvSpPr>
        <p:spPr>
          <a:xfrm>
            <a:off x="7040880" y="4434840"/>
            <a:ext cx="3931920" cy="411480"/>
          </a:xfrm>
          <a:prstGeom prst="rect">
            <a:avLst/>
          </a:prstGeom>
          <a:noFill/>
          <a:ln/>
        </p:spPr>
        <p:txBody>
          <a:bodyPr wrap="square" lIns="0" tIns="0" rIns="0" bIns="0" rtlCol="0" anchor="t"/>
          <a:lstStyle/>
          <a:p>
            <a:pPr rtl="1" algn="r" indent="0" marL="0">
              <a:buNone/>
            </a:pPr>
            <a:r>
              <a:rPr lang="ar-SA" altLang="en-US" sz="1800" b="1" dirty="0">
                <a:solidFill>
                  <a:schemeClr val="tx1"/>
                </a:solidFill>
                <a:latin typeface="Arial" pitchFamily="34" charset="0"/>
                <a:ea typeface="Arial" pitchFamily="34" charset="-122"/>
                <a:cs typeface="Arial" pitchFamily="34" charset="-120"/>
              </a:rPr>
              <a:t>مسؤولية المعلم</a:t>
            </a:r>
            <a:endParaRPr lang="ar-SA" sz="1800" dirty="0"/>
          </a:p>
        </p:txBody>
      </p:sp>
      <p:sp>
        <p:nvSpPr>
          <p:cNvPr id="54" name="Text 44"/>
          <p:cNvSpPr txBox="1"/>
          <p:nvPr/>
        </p:nvSpPr>
        <p:spPr>
          <a:xfrm>
            <a:off x="7040880" y="4937760"/>
            <a:ext cx="4434840" cy="96012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المعلم مسؤول عن صحة الدرجات، حتى عندما يصحّح Microsoft Forms السؤال تلقائياً.</a:t>
            </a:r>
            <a:endParaRPr lang="ar-SA" sz="1400" dirty="0"/>
          </a:p>
        </p:txBody>
      </p:sp>
      <p:sp>
        <p:nvSpPr>
          <p:cNvPr id="5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0332720" cy="777240"/>
          </a:xfrm>
          <a:prstGeom prst="rect">
            <a:avLst/>
          </a:prstGeom>
          <a:noFill/>
          <a:ln/>
        </p:spPr>
        <p:txBody>
          <a:bodyPr wrap="square" lIns="0" tIns="0" rIns="0" bIns="0" rtlCol="0" anchor="ctr"/>
          <a:lstStyle/>
          <a:p>
            <a:pPr rtl="1" algn="r" indent="0" marL="0">
              <a:buNone/>
            </a:pPr>
            <a:r>
              <a:rPr lang="ar-SA" altLang="en-US" sz="3000" b="1" dirty="0">
                <a:solidFill>
                  <a:schemeClr val="tx2"/>
                </a:solidFill>
              </a:rPr>
              <a:t>قائمة تحقّق الجاهزية قبل الاعتماد</a:t>
            </a:r>
            <a:endParaRPr lang="ar-SA" sz="3000" dirty="0"/>
          </a:p>
        </p:txBody>
      </p:sp>
      <p:sp>
        <p:nvSpPr>
          <p:cNvPr id="3" name="title-badge"/>
          <p:cNvSpPr/>
          <p:nvPr/>
        </p:nvSpPr>
        <p:spPr>
          <a:xfrm>
            <a:off x="11045952"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1210544" y="576072"/>
            <a:ext cx="310896" cy="310896"/>
          </a:xfrm>
          <a:prstGeom prst="rect">
            <a:avLst/>
          </a:prstGeom>
        </p:spPr>
      </p:pic>
      <p:sp>
        <p:nvSpPr>
          <p:cNvPr id="5" name="check-1"/>
          <p:cNvSpPr/>
          <p:nvPr/>
        </p:nvSpPr>
        <p:spPr>
          <a:xfrm>
            <a:off x="6245352" y="1417320"/>
            <a:ext cx="5394960" cy="548640"/>
          </a:xfrm>
          <a:prstGeom prst="roundRect">
            <a:avLst>
              <a:gd name="adj" fmla="val 20000"/>
            </a:avLst>
          </a:prstGeom>
          <a:solidFill>
            <a:schemeClr val="bg2"/>
          </a:solidFill>
          <a:ln/>
        </p:spPr>
      </p:sp>
      <p:pic>
        <p:nvPicPr>
          <p:cNvPr id="6" name="Image 1" descr="preencoded.png">    </p:cNvPr>
          <p:cNvPicPr>
            <a:picLocks noChangeAspect="1"/>
          </p:cNvPicPr>
          <p:nvPr/>
        </p:nvPicPr>
        <p:blipFill>
          <a:blip r:embed="rId2"/>
          <a:stretch>
            <a:fillRect/>
          </a:stretch>
        </p:blipFill>
        <p:spPr>
          <a:xfrm>
            <a:off x="11228832" y="1554480"/>
            <a:ext cx="274320" cy="274320"/>
          </a:xfrm>
          <a:prstGeom prst="rect">
            <a:avLst/>
          </a:prstGeom>
        </p:spPr>
      </p:pic>
      <p:sp>
        <p:nvSpPr>
          <p:cNvPr id="7" name="Text 3"/>
          <p:cNvSpPr txBox="1"/>
          <p:nvPr/>
        </p:nvSpPr>
        <p:spPr>
          <a:xfrm>
            <a:off x="6382512" y="1417320"/>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التغطية متوافقة مع خطة العمل والمحتوى المُدرَّس</a:t>
            </a:r>
            <a:endParaRPr lang="ar-SA" sz="1400" dirty="0"/>
          </a:p>
        </p:txBody>
      </p:sp>
      <p:sp>
        <p:nvSpPr>
          <p:cNvPr id="8" name="check-2"/>
          <p:cNvSpPr/>
          <p:nvPr/>
        </p:nvSpPr>
        <p:spPr>
          <a:xfrm>
            <a:off x="6245352" y="2075688"/>
            <a:ext cx="5394960" cy="548640"/>
          </a:xfrm>
          <a:prstGeom prst="roundRect">
            <a:avLst>
              <a:gd name="adj" fmla="val 20000"/>
            </a:avLst>
          </a:prstGeom>
          <a:solidFill>
            <a:srgbClr val="FFFFFF"/>
          </a:solidFill>
          <a:ln/>
        </p:spPr>
      </p:sp>
      <p:pic>
        <p:nvPicPr>
          <p:cNvPr id="9" name="Image 2" descr="preencoded.png">    </p:cNvPr>
          <p:cNvPicPr>
            <a:picLocks noChangeAspect="1"/>
          </p:cNvPicPr>
          <p:nvPr/>
        </p:nvPicPr>
        <p:blipFill>
          <a:blip r:embed="rId3"/>
          <a:stretch>
            <a:fillRect/>
          </a:stretch>
        </p:blipFill>
        <p:spPr>
          <a:xfrm>
            <a:off x="11228832" y="2212848"/>
            <a:ext cx="274320" cy="274320"/>
          </a:xfrm>
          <a:prstGeom prst="rect">
            <a:avLst/>
          </a:prstGeom>
        </p:spPr>
      </p:pic>
      <p:sp>
        <p:nvSpPr>
          <p:cNvPr id="10" name="Text 5"/>
          <p:cNvSpPr txBox="1"/>
          <p:nvPr/>
        </p:nvSpPr>
        <p:spPr>
          <a:xfrm>
            <a:off x="6382512" y="2075688"/>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الأسئلة دقيقة وواضحة ومناسبة التحدي</a:t>
            </a:r>
            <a:endParaRPr lang="ar-SA" sz="1400" dirty="0"/>
          </a:p>
        </p:txBody>
      </p:sp>
      <p:sp>
        <p:nvSpPr>
          <p:cNvPr id="11" name="check-3"/>
          <p:cNvSpPr/>
          <p:nvPr/>
        </p:nvSpPr>
        <p:spPr>
          <a:xfrm>
            <a:off x="6245352" y="2734056"/>
            <a:ext cx="5394960" cy="548640"/>
          </a:xfrm>
          <a:prstGeom prst="roundRect">
            <a:avLst>
              <a:gd name="adj" fmla="val 20000"/>
            </a:avLst>
          </a:prstGeom>
          <a:solidFill>
            <a:schemeClr val="bg2"/>
          </a:solidFill>
          <a:ln/>
        </p:spPr>
      </p:sp>
      <p:pic>
        <p:nvPicPr>
          <p:cNvPr id="12" name="Image 3" descr="preencoded.png">    </p:cNvPr>
          <p:cNvPicPr>
            <a:picLocks noChangeAspect="1"/>
          </p:cNvPicPr>
          <p:nvPr/>
        </p:nvPicPr>
        <p:blipFill>
          <a:blip r:embed="rId4"/>
          <a:stretch>
            <a:fillRect/>
          </a:stretch>
        </p:blipFill>
        <p:spPr>
          <a:xfrm>
            <a:off x="11228832" y="2871216"/>
            <a:ext cx="274320" cy="274320"/>
          </a:xfrm>
          <a:prstGeom prst="rect">
            <a:avLst/>
          </a:prstGeom>
        </p:spPr>
      </p:pic>
      <p:sp>
        <p:nvSpPr>
          <p:cNvPr id="13" name="Text 7"/>
          <p:cNvSpPr txBox="1"/>
          <p:nvPr/>
        </p:nvSpPr>
        <p:spPr>
          <a:xfrm>
            <a:off x="6382512" y="2734056"/>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الدرجات والزمن ومفاتيح الإجابة والسلالم صحيحة</a:t>
            </a:r>
            <a:endParaRPr lang="ar-SA" sz="1400" dirty="0"/>
          </a:p>
        </p:txBody>
      </p:sp>
      <p:sp>
        <p:nvSpPr>
          <p:cNvPr id="14" name="check-4"/>
          <p:cNvSpPr/>
          <p:nvPr/>
        </p:nvSpPr>
        <p:spPr>
          <a:xfrm>
            <a:off x="6245352" y="3392424"/>
            <a:ext cx="5394960" cy="548640"/>
          </a:xfrm>
          <a:prstGeom prst="roundRect">
            <a:avLst>
              <a:gd name="adj" fmla="val 20000"/>
            </a:avLst>
          </a:prstGeom>
          <a:solidFill>
            <a:srgbClr val="FFFFFF"/>
          </a:solidFill>
          <a:ln/>
        </p:spPr>
      </p:sp>
      <p:pic>
        <p:nvPicPr>
          <p:cNvPr id="15" name="Image 4" descr="preencoded.png">    </p:cNvPr>
          <p:cNvPicPr>
            <a:picLocks noChangeAspect="1"/>
          </p:cNvPicPr>
          <p:nvPr/>
        </p:nvPicPr>
        <p:blipFill>
          <a:blip r:embed="rId5"/>
          <a:stretch>
            <a:fillRect/>
          </a:stretch>
        </p:blipFill>
        <p:spPr>
          <a:xfrm>
            <a:off x="11228832" y="3529584"/>
            <a:ext cx="274320" cy="274320"/>
          </a:xfrm>
          <a:prstGeom prst="rect">
            <a:avLst/>
          </a:prstGeom>
        </p:spPr>
      </p:pic>
      <p:sp>
        <p:nvSpPr>
          <p:cNvPr id="16" name="Text 9"/>
          <p:cNvSpPr txBox="1"/>
          <p:nvPr/>
        </p:nvSpPr>
        <p:spPr>
          <a:xfrm>
            <a:off x="6382512" y="3392424"/>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الاختبار مُنشأ بـ New Quiz بحساب المدرسة</a:t>
            </a:r>
            <a:endParaRPr lang="ar-SA" sz="1400" dirty="0"/>
          </a:p>
        </p:txBody>
      </p:sp>
      <p:sp>
        <p:nvSpPr>
          <p:cNvPr id="17" name="check-5"/>
          <p:cNvSpPr/>
          <p:nvPr/>
        </p:nvSpPr>
        <p:spPr>
          <a:xfrm>
            <a:off x="6245352" y="4050792"/>
            <a:ext cx="5394960" cy="548640"/>
          </a:xfrm>
          <a:prstGeom prst="roundRect">
            <a:avLst>
              <a:gd name="adj" fmla="val 20000"/>
            </a:avLst>
          </a:prstGeom>
          <a:solidFill>
            <a:schemeClr val="bg2"/>
          </a:solidFill>
          <a:ln/>
        </p:spPr>
      </p:sp>
      <p:pic>
        <p:nvPicPr>
          <p:cNvPr id="18" name="Image 5" descr="preencoded.png">    </p:cNvPr>
          <p:cNvPicPr>
            <a:picLocks noChangeAspect="1"/>
          </p:cNvPicPr>
          <p:nvPr/>
        </p:nvPicPr>
        <p:blipFill>
          <a:blip r:embed="rId6"/>
          <a:stretch>
            <a:fillRect/>
          </a:stretch>
        </p:blipFill>
        <p:spPr>
          <a:xfrm>
            <a:off x="11228832" y="4187952"/>
            <a:ext cx="274320" cy="274320"/>
          </a:xfrm>
          <a:prstGeom prst="rect">
            <a:avLst/>
          </a:prstGeom>
        </p:spPr>
      </p:pic>
      <p:sp>
        <p:nvSpPr>
          <p:cNvPr id="19" name="Text 11"/>
          <p:cNvSpPr txBox="1"/>
          <p:nvPr/>
        </p:nvSpPr>
        <p:spPr>
          <a:xfrm>
            <a:off x="6382512" y="4050792"/>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إعدادات الوصول وهوية الطالب مُتحقَّق منها</a:t>
            </a:r>
            <a:endParaRPr lang="ar-SA" sz="1400" dirty="0"/>
          </a:p>
        </p:txBody>
      </p:sp>
      <p:sp>
        <p:nvSpPr>
          <p:cNvPr id="20" name="check-6"/>
          <p:cNvSpPr/>
          <p:nvPr/>
        </p:nvSpPr>
        <p:spPr>
          <a:xfrm>
            <a:off x="6245352" y="4709160"/>
            <a:ext cx="5394960" cy="548640"/>
          </a:xfrm>
          <a:prstGeom prst="roundRect">
            <a:avLst>
              <a:gd name="adj" fmla="val 20000"/>
            </a:avLst>
          </a:prstGeom>
          <a:solidFill>
            <a:srgbClr val="FFFFFF"/>
          </a:solidFill>
          <a:ln/>
        </p:spPr>
      </p:sp>
      <p:pic>
        <p:nvPicPr>
          <p:cNvPr id="21" name="Image 6" descr="preencoded.png">    </p:cNvPr>
          <p:cNvPicPr>
            <a:picLocks noChangeAspect="1"/>
          </p:cNvPicPr>
          <p:nvPr/>
        </p:nvPicPr>
        <p:blipFill>
          <a:blip r:embed="rId7"/>
          <a:stretch>
            <a:fillRect/>
          </a:stretch>
        </p:blipFill>
        <p:spPr>
          <a:xfrm>
            <a:off x="11228832" y="4846320"/>
            <a:ext cx="274320" cy="274320"/>
          </a:xfrm>
          <a:prstGeom prst="rect">
            <a:avLst/>
          </a:prstGeom>
        </p:spPr>
      </p:pic>
      <p:sp>
        <p:nvSpPr>
          <p:cNvPr id="22" name="Text 13"/>
          <p:cNvSpPr txBox="1"/>
          <p:nvPr/>
        </p:nvSpPr>
        <p:spPr>
          <a:xfrm>
            <a:off x="6382512" y="4709160"/>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ردّ واحد فقط لكل طالب</a:t>
            </a:r>
            <a:endParaRPr lang="ar-SA" sz="1400" dirty="0"/>
          </a:p>
        </p:txBody>
      </p:sp>
      <p:sp>
        <p:nvSpPr>
          <p:cNvPr id="23" name="check-7"/>
          <p:cNvSpPr/>
          <p:nvPr/>
        </p:nvSpPr>
        <p:spPr>
          <a:xfrm>
            <a:off x="6245352" y="5367528"/>
            <a:ext cx="5394960" cy="548640"/>
          </a:xfrm>
          <a:prstGeom prst="roundRect">
            <a:avLst>
              <a:gd name="adj" fmla="val 20000"/>
            </a:avLst>
          </a:prstGeom>
          <a:solidFill>
            <a:schemeClr val="bg2"/>
          </a:solidFill>
          <a:ln/>
        </p:spPr>
      </p:sp>
      <p:pic>
        <p:nvPicPr>
          <p:cNvPr id="24" name="Image 7" descr="preencoded.png">    </p:cNvPr>
          <p:cNvPicPr>
            <a:picLocks noChangeAspect="1"/>
          </p:cNvPicPr>
          <p:nvPr/>
        </p:nvPicPr>
        <p:blipFill>
          <a:blip r:embed="rId8"/>
          <a:stretch>
            <a:fillRect/>
          </a:stretch>
        </p:blipFill>
        <p:spPr>
          <a:xfrm>
            <a:off x="11228832" y="5504688"/>
            <a:ext cx="274320" cy="274320"/>
          </a:xfrm>
          <a:prstGeom prst="rect">
            <a:avLst/>
          </a:prstGeom>
        </p:spPr>
      </p:pic>
      <p:sp>
        <p:nvSpPr>
          <p:cNvPr id="25" name="Text 15"/>
          <p:cNvSpPr txBox="1"/>
          <p:nvPr/>
        </p:nvSpPr>
        <p:spPr>
          <a:xfrm>
            <a:off x="6382512" y="5367528"/>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تواريخ البدء والانتهاء والمدة مطابقة للجدول</a:t>
            </a:r>
            <a:endParaRPr lang="ar-SA" sz="1400" dirty="0"/>
          </a:p>
        </p:txBody>
      </p:sp>
      <p:sp>
        <p:nvSpPr>
          <p:cNvPr id="26" name="check-8"/>
          <p:cNvSpPr/>
          <p:nvPr/>
        </p:nvSpPr>
        <p:spPr>
          <a:xfrm>
            <a:off x="548640" y="1417320"/>
            <a:ext cx="5394960" cy="548640"/>
          </a:xfrm>
          <a:prstGeom prst="roundRect">
            <a:avLst>
              <a:gd name="adj" fmla="val 20000"/>
            </a:avLst>
          </a:prstGeom>
          <a:solidFill>
            <a:schemeClr val="bg2"/>
          </a:solidFill>
          <a:ln/>
        </p:spPr>
      </p:sp>
      <p:pic>
        <p:nvPicPr>
          <p:cNvPr id="27" name="Image 8" descr="preencoded.png">    </p:cNvPr>
          <p:cNvPicPr>
            <a:picLocks noChangeAspect="1"/>
          </p:cNvPicPr>
          <p:nvPr/>
        </p:nvPicPr>
        <p:blipFill>
          <a:blip r:embed="rId9"/>
          <a:stretch>
            <a:fillRect/>
          </a:stretch>
        </p:blipFill>
        <p:spPr>
          <a:xfrm>
            <a:off x="5532120" y="1554480"/>
            <a:ext cx="274320" cy="274320"/>
          </a:xfrm>
          <a:prstGeom prst="rect">
            <a:avLst/>
          </a:prstGeom>
        </p:spPr>
      </p:pic>
      <p:sp>
        <p:nvSpPr>
          <p:cNvPr id="28" name="Text 17"/>
          <p:cNvSpPr txBox="1"/>
          <p:nvPr/>
        </p:nvSpPr>
        <p:spPr>
          <a:xfrm>
            <a:off x="685800" y="1417320"/>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الإظهار الفوري للدرجات والإجابات معطّل</a:t>
            </a:r>
            <a:endParaRPr lang="ar-SA" sz="1400" dirty="0"/>
          </a:p>
        </p:txBody>
      </p:sp>
      <p:sp>
        <p:nvSpPr>
          <p:cNvPr id="29" name="check-9"/>
          <p:cNvSpPr/>
          <p:nvPr/>
        </p:nvSpPr>
        <p:spPr>
          <a:xfrm>
            <a:off x="548640" y="2075688"/>
            <a:ext cx="5394960" cy="548640"/>
          </a:xfrm>
          <a:prstGeom prst="roundRect">
            <a:avLst>
              <a:gd name="adj" fmla="val 20000"/>
            </a:avLst>
          </a:prstGeom>
          <a:solidFill>
            <a:srgbClr val="FFFFFF"/>
          </a:solidFill>
          <a:ln/>
        </p:spPr>
      </p:sp>
      <p:pic>
        <p:nvPicPr>
          <p:cNvPr id="30" name="Image 9" descr="preencoded.png">    </p:cNvPr>
          <p:cNvPicPr>
            <a:picLocks noChangeAspect="1"/>
          </p:cNvPicPr>
          <p:nvPr/>
        </p:nvPicPr>
        <p:blipFill>
          <a:blip r:embed="rId10"/>
          <a:stretch>
            <a:fillRect/>
          </a:stretch>
        </p:blipFill>
        <p:spPr>
          <a:xfrm>
            <a:off x="5532120" y="2212848"/>
            <a:ext cx="274320" cy="274320"/>
          </a:xfrm>
          <a:prstGeom prst="rect">
            <a:avLst/>
          </a:prstGeom>
        </p:spPr>
      </p:pic>
      <p:sp>
        <p:nvSpPr>
          <p:cNvPr id="31" name="Text 19"/>
          <p:cNvSpPr txBox="1"/>
          <p:nvPr/>
        </p:nvSpPr>
        <p:spPr>
          <a:xfrm>
            <a:off x="685800" y="2075688"/>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خلط الأسئلة والخيارات مستخدم بشكل مناسب</a:t>
            </a:r>
            <a:endParaRPr lang="ar-SA" sz="1400" dirty="0"/>
          </a:p>
        </p:txBody>
      </p:sp>
      <p:sp>
        <p:nvSpPr>
          <p:cNvPr id="32" name="check-10"/>
          <p:cNvSpPr/>
          <p:nvPr/>
        </p:nvSpPr>
        <p:spPr>
          <a:xfrm>
            <a:off x="548640" y="2734056"/>
            <a:ext cx="5394960" cy="548640"/>
          </a:xfrm>
          <a:prstGeom prst="roundRect">
            <a:avLst>
              <a:gd name="adj" fmla="val 20000"/>
            </a:avLst>
          </a:prstGeom>
          <a:solidFill>
            <a:schemeClr val="bg2"/>
          </a:solidFill>
          <a:ln/>
        </p:spPr>
      </p:sp>
      <p:pic>
        <p:nvPicPr>
          <p:cNvPr id="33" name="Image 10" descr="preencoded.png">    </p:cNvPr>
          <p:cNvPicPr>
            <a:picLocks noChangeAspect="1"/>
          </p:cNvPicPr>
          <p:nvPr/>
        </p:nvPicPr>
        <p:blipFill>
          <a:blip r:embed="rId11"/>
          <a:stretch>
            <a:fillRect/>
          </a:stretch>
        </p:blipFill>
        <p:spPr>
          <a:xfrm>
            <a:off x="5532120" y="2871216"/>
            <a:ext cx="274320" cy="274320"/>
          </a:xfrm>
          <a:prstGeom prst="rect">
            <a:avLst/>
          </a:prstGeom>
        </p:spPr>
      </p:pic>
      <p:sp>
        <p:nvSpPr>
          <p:cNvPr id="34" name="Text 21"/>
          <p:cNvSpPr txBox="1"/>
          <p:nvPr/>
        </p:nvSpPr>
        <p:spPr>
          <a:xfrm>
            <a:off x="685800" y="2734056"/>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الصور والرموز والرسوم تظهر بشكل صحيح</a:t>
            </a:r>
            <a:endParaRPr lang="ar-SA" sz="1400" dirty="0"/>
          </a:p>
        </p:txBody>
      </p:sp>
      <p:sp>
        <p:nvSpPr>
          <p:cNvPr id="35" name="check-11"/>
          <p:cNvSpPr/>
          <p:nvPr/>
        </p:nvSpPr>
        <p:spPr>
          <a:xfrm>
            <a:off x="548640" y="3392424"/>
            <a:ext cx="5394960" cy="548640"/>
          </a:xfrm>
          <a:prstGeom prst="roundRect">
            <a:avLst>
              <a:gd name="adj" fmla="val 20000"/>
            </a:avLst>
          </a:prstGeom>
          <a:solidFill>
            <a:srgbClr val="FFFFFF"/>
          </a:solidFill>
          <a:ln/>
        </p:spPr>
      </p:sp>
      <p:pic>
        <p:nvPicPr>
          <p:cNvPr id="36" name="Image 11" descr="preencoded.png">    </p:cNvPr>
          <p:cNvPicPr>
            <a:picLocks noChangeAspect="1"/>
          </p:cNvPicPr>
          <p:nvPr/>
        </p:nvPicPr>
        <p:blipFill>
          <a:blip r:embed="rId12"/>
          <a:stretch>
            <a:fillRect/>
          </a:stretch>
        </p:blipFill>
        <p:spPr>
          <a:xfrm>
            <a:off x="5532120" y="3529584"/>
            <a:ext cx="274320" cy="274320"/>
          </a:xfrm>
          <a:prstGeom prst="rect">
            <a:avLst/>
          </a:prstGeom>
        </p:spPr>
      </p:pic>
      <p:sp>
        <p:nvSpPr>
          <p:cNvPr id="37" name="Text 23"/>
          <p:cNvSpPr txBox="1"/>
          <p:nvPr/>
        </p:nvSpPr>
        <p:spPr>
          <a:xfrm>
            <a:off x="685800" y="3392424"/>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تم فحص عرض الطالب وتسليم تجريبي</a:t>
            </a:r>
            <a:endParaRPr lang="ar-SA" sz="1400" dirty="0"/>
          </a:p>
        </p:txBody>
      </p:sp>
      <p:sp>
        <p:nvSpPr>
          <p:cNvPr id="38" name="check-12"/>
          <p:cNvSpPr/>
          <p:nvPr/>
        </p:nvSpPr>
        <p:spPr>
          <a:xfrm>
            <a:off x="548640" y="4050792"/>
            <a:ext cx="5394960" cy="548640"/>
          </a:xfrm>
          <a:prstGeom prst="roundRect">
            <a:avLst>
              <a:gd name="adj" fmla="val 20000"/>
            </a:avLst>
          </a:prstGeom>
          <a:solidFill>
            <a:schemeClr val="bg2"/>
          </a:solidFill>
          <a:ln/>
        </p:spPr>
      </p:sp>
      <p:pic>
        <p:nvPicPr>
          <p:cNvPr id="39" name="Image 12" descr="preencoded.png">    </p:cNvPr>
          <p:cNvPicPr>
            <a:picLocks noChangeAspect="1"/>
          </p:cNvPicPr>
          <p:nvPr/>
        </p:nvPicPr>
        <p:blipFill>
          <a:blip r:embed="rId13"/>
          <a:stretch>
            <a:fillRect/>
          </a:stretch>
        </p:blipFill>
        <p:spPr>
          <a:xfrm>
            <a:off x="5532120" y="4187952"/>
            <a:ext cx="274320" cy="274320"/>
          </a:xfrm>
          <a:prstGeom prst="rect">
            <a:avLst/>
          </a:prstGeom>
        </p:spPr>
      </p:pic>
      <p:sp>
        <p:nvSpPr>
          <p:cNvPr id="40" name="Text 25"/>
          <p:cNvSpPr txBox="1"/>
          <p:nvPr/>
        </p:nvSpPr>
        <p:spPr>
          <a:xfrm>
            <a:off x="685800" y="4050792"/>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رابط الإجابة الصحيح محدّد ومحميّ</a:t>
            </a:r>
            <a:endParaRPr lang="ar-SA" sz="1400" dirty="0"/>
          </a:p>
        </p:txBody>
      </p:sp>
      <p:sp>
        <p:nvSpPr>
          <p:cNvPr id="41" name="check-13"/>
          <p:cNvSpPr/>
          <p:nvPr/>
        </p:nvSpPr>
        <p:spPr>
          <a:xfrm>
            <a:off x="548640" y="4709160"/>
            <a:ext cx="5394960" cy="548640"/>
          </a:xfrm>
          <a:prstGeom prst="roundRect">
            <a:avLst>
              <a:gd name="adj" fmla="val 20000"/>
            </a:avLst>
          </a:prstGeom>
          <a:solidFill>
            <a:srgbClr val="FFFFFF"/>
          </a:solidFill>
          <a:ln/>
        </p:spPr>
      </p:sp>
      <p:pic>
        <p:nvPicPr>
          <p:cNvPr id="42" name="Image 13" descr="preencoded.png">    </p:cNvPr>
          <p:cNvPicPr>
            <a:picLocks noChangeAspect="1"/>
          </p:cNvPicPr>
          <p:nvPr/>
        </p:nvPicPr>
        <p:blipFill>
          <a:blip r:embed="rId14"/>
          <a:stretch>
            <a:fillRect/>
          </a:stretch>
        </p:blipFill>
        <p:spPr>
          <a:xfrm>
            <a:off x="5532120" y="4846320"/>
            <a:ext cx="274320" cy="274320"/>
          </a:xfrm>
          <a:prstGeom prst="rect">
            <a:avLst/>
          </a:prstGeom>
        </p:spPr>
      </p:pic>
      <p:sp>
        <p:nvSpPr>
          <p:cNvPr id="43" name="Text 27"/>
          <p:cNvSpPr txBox="1"/>
          <p:nvPr/>
        </p:nvSpPr>
        <p:spPr>
          <a:xfrm>
            <a:off x="685800" y="4709160"/>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خطط الطوارئ والتسهيلات المعتمدة جاهزة</a:t>
            </a:r>
            <a:endParaRPr lang="ar-SA" sz="1400" dirty="0"/>
          </a:p>
        </p:txBody>
      </p:sp>
      <p:sp>
        <p:nvSpPr>
          <p:cNvPr id="44" name="check-14"/>
          <p:cNvSpPr/>
          <p:nvPr/>
        </p:nvSpPr>
        <p:spPr>
          <a:xfrm>
            <a:off x="548640" y="5367528"/>
            <a:ext cx="5394960" cy="548640"/>
          </a:xfrm>
          <a:prstGeom prst="roundRect">
            <a:avLst>
              <a:gd name="adj" fmla="val 20000"/>
            </a:avLst>
          </a:prstGeom>
          <a:solidFill>
            <a:schemeClr val="bg2"/>
          </a:solidFill>
          <a:ln/>
        </p:spPr>
      </p:sp>
      <p:pic>
        <p:nvPicPr>
          <p:cNvPr id="45" name="Image 14" descr="preencoded.png">    </p:cNvPr>
          <p:cNvPicPr>
            <a:picLocks noChangeAspect="1"/>
          </p:cNvPicPr>
          <p:nvPr/>
        </p:nvPicPr>
        <p:blipFill>
          <a:blip r:embed="rId15"/>
          <a:stretch>
            <a:fillRect/>
          </a:stretch>
        </p:blipFill>
        <p:spPr>
          <a:xfrm>
            <a:off x="5532120" y="5504688"/>
            <a:ext cx="274320" cy="274320"/>
          </a:xfrm>
          <a:prstGeom prst="rect">
            <a:avLst/>
          </a:prstGeom>
        </p:spPr>
      </p:pic>
      <p:sp>
        <p:nvSpPr>
          <p:cNvPr id="46" name="Text 29"/>
          <p:cNvSpPr txBox="1"/>
          <p:nvPr/>
        </p:nvSpPr>
        <p:spPr>
          <a:xfrm>
            <a:off x="685800" y="5367528"/>
            <a:ext cx="4754880" cy="548640"/>
          </a:xfrm>
          <a:prstGeom prst="rect">
            <a:avLst/>
          </a:prstGeom>
          <a:noFill/>
          <a:ln/>
        </p:spPr>
        <p:txBody>
          <a:bodyPr wrap="square" lIns="0" tIns="0" rIns="0" bIns="0" rtlCol="0" anchor="ctr"/>
          <a:lstStyle/>
          <a:p>
            <a:pPr rtl="1" algn="r" indent="0" marL="0">
              <a:buNone/>
            </a:pPr>
            <a:r>
              <a:rPr lang="ar-SA" altLang="en-US" sz="1400" dirty="0">
                <a:solidFill>
                  <a:schemeClr val="tx1"/>
                </a:solidFill>
                <a:latin typeface="Arial" pitchFamily="34" charset="0"/>
                <a:ea typeface="Arial" pitchFamily="34" charset="-122"/>
                <a:cs typeface="Arial" pitchFamily="34" charset="-120"/>
              </a:rPr>
              <a:t>الاعتماد النهائي مُسجَّل قبل النشر</a:t>
            </a:r>
            <a:endParaRPr lang="ar-SA" sz="1400" dirty="0"/>
          </a:p>
        </p:txBody>
      </p:sp>
      <p:sp>
        <p:nvSpPr>
          <p:cNvPr id="4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502920"/>
            <a:ext cx="11091672" cy="731520"/>
          </a:xfrm>
          <a:prstGeom prst="rect">
            <a:avLst/>
          </a:prstGeom>
          <a:noFill/>
          <a:ln/>
        </p:spPr>
        <p:txBody>
          <a:bodyPr wrap="square" lIns="0" tIns="0" rIns="0" bIns="0" rtlCol="0" anchor="ctr"/>
          <a:lstStyle/>
          <a:p>
            <a:pPr rtl="1" algn="r" indent="0" marL="0">
              <a:buNone/>
            </a:pPr>
            <a:r>
              <a:rPr lang="ar-SA" altLang="en-US" sz="3400" b="1" dirty="0">
                <a:solidFill>
                  <a:schemeClr val="bg1"/>
                </a:solidFill>
                <a:latin typeface="Arial" pitchFamily="34" charset="0"/>
                <a:ea typeface="Arial" pitchFamily="34" charset="-122"/>
                <a:cs typeface="Arial" pitchFamily="34" charset="-120"/>
              </a:rPr>
              <a:t>خلاصة ما يجب تذكّره</a:t>
            </a:r>
            <a:endParaRPr lang="ar-SA" sz="3400" dirty="0"/>
          </a:p>
        </p:txBody>
      </p:sp>
      <p:sp>
        <p:nvSpPr>
          <p:cNvPr id="3" name="key-1"/>
          <p:cNvSpPr/>
          <p:nvPr/>
        </p:nvSpPr>
        <p:spPr>
          <a:xfrm>
            <a:off x="9582912"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4" name="Shape 2"/>
          <p:cNvSpPr/>
          <p:nvPr/>
        </p:nvSpPr>
        <p:spPr>
          <a:xfrm>
            <a:off x="10314432" y="1783080"/>
            <a:ext cx="594360" cy="59436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0460736" y="1929384"/>
            <a:ext cx="301752" cy="301752"/>
          </a:xfrm>
          <a:prstGeom prst="rect">
            <a:avLst/>
          </a:prstGeom>
        </p:spPr>
      </p:pic>
      <p:sp>
        <p:nvSpPr>
          <p:cNvPr id="6" name="Text 3"/>
          <p:cNvSpPr txBox="1"/>
          <p:nvPr/>
        </p:nvSpPr>
        <p:spPr>
          <a:xfrm>
            <a:off x="9674352" y="2514600"/>
            <a:ext cx="1874520" cy="548640"/>
          </a:xfrm>
          <a:prstGeom prst="rect">
            <a:avLst/>
          </a:prstGeom>
          <a:noFill/>
          <a:ln/>
        </p:spPr>
        <p:txBody>
          <a:bodyPr wrap="square" lIns="0" tIns="0" rIns="0" bIns="0" rtlCol="0" anchor="ctr"/>
          <a:lstStyle/>
          <a:p>
            <a:pPr rtl="1" algn="ctr" indent="0" marL="0">
              <a:buNone/>
            </a:pPr>
            <a:r>
              <a:rPr lang="ar-SA" altLang="en-US" sz="1900" b="1" dirty="0">
                <a:solidFill>
                  <a:schemeClr val="bg1"/>
                </a:solidFill>
                <a:latin typeface="Arial" pitchFamily="34" charset="0"/>
                <a:ea typeface="Arial" pitchFamily="34" charset="-122"/>
                <a:cs typeface="Arial" pitchFamily="34" charset="-120"/>
              </a:rPr>
              <a:t>New Quiz</a:t>
            </a:r>
            <a:endParaRPr lang="ar-SA" sz="1900" dirty="0"/>
          </a:p>
        </p:txBody>
      </p:sp>
      <p:sp>
        <p:nvSpPr>
          <p:cNvPr id="7" name="Text 4"/>
          <p:cNvSpPr txBox="1"/>
          <p:nvPr/>
        </p:nvSpPr>
        <p:spPr>
          <a:xfrm>
            <a:off x="9674352" y="3108960"/>
            <a:ext cx="1874520" cy="457200"/>
          </a:xfrm>
          <a:prstGeom prst="rect">
            <a:avLst/>
          </a:prstGeom>
          <a:noFill/>
          <a:ln/>
        </p:spPr>
        <p:txBody>
          <a:bodyPr wrap="square" lIns="0" tIns="0" rIns="0" bIns="0" rtlCol="0" anchor="t"/>
          <a:lstStyle/>
          <a:p>
            <a:pPr rtl="1" algn="ctr" indent="0" marL="0">
              <a:buNone/>
            </a:pPr>
            <a:r>
              <a:rPr lang="ar-SA" altLang="en-US" sz="1400" dirty="0">
                <a:solidFill>
                  <a:srgbClr val="CFE6E6"/>
                </a:solidFill>
                <a:latin typeface="Arial" pitchFamily="34" charset="0"/>
                <a:ea typeface="Arial" pitchFamily="34" charset="-122"/>
                <a:cs typeface="Arial" pitchFamily="34" charset="-120"/>
              </a:rPr>
              <a:t>بحساب المدرسة</a:t>
            </a:r>
            <a:endParaRPr lang="ar-SA" sz="1400" dirty="0"/>
          </a:p>
        </p:txBody>
      </p:sp>
      <p:sp>
        <p:nvSpPr>
          <p:cNvPr id="8" name="key-2"/>
          <p:cNvSpPr/>
          <p:nvPr/>
        </p:nvSpPr>
        <p:spPr>
          <a:xfrm>
            <a:off x="7324344"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9" name="Shape 6"/>
          <p:cNvSpPr/>
          <p:nvPr/>
        </p:nvSpPr>
        <p:spPr>
          <a:xfrm>
            <a:off x="8055864" y="1783080"/>
            <a:ext cx="594360" cy="59436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8202168" y="1929384"/>
            <a:ext cx="301752" cy="301752"/>
          </a:xfrm>
          <a:prstGeom prst="rect">
            <a:avLst/>
          </a:prstGeom>
        </p:spPr>
      </p:pic>
      <p:sp>
        <p:nvSpPr>
          <p:cNvPr id="11" name="Text 7"/>
          <p:cNvSpPr txBox="1"/>
          <p:nvPr/>
        </p:nvSpPr>
        <p:spPr>
          <a:xfrm>
            <a:off x="7415784" y="2514600"/>
            <a:ext cx="1874520" cy="548640"/>
          </a:xfrm>
          <a:prstGeom prst="rect">
            <a:avLst/>
          </a:prstGeom>
          <a:noFill/>
          <a:ln/>
        </p:spPr>
        <p:txBody>
          <a:bodyPr wrap="square" lIns="0" tIns="0" rIns="0" bIns="0" rtlCol="0" anchor="ctr"/>
          <a:lstStyle/>
          <a:p>
            <a:pPr rtl="1" algn="ctr" indent="0" marL="0">
              <a:buNone/>
            </a:pPr>
            <a:r>
              <a:rPr lang="ar-SA" altLang="en-US" sz="1900" b="1" dirty="0">
                <a:solidFill>
                  <a:schemeClr val="bg1"/>
                </a:solidFill>
                <a:latin typeface="Arial" pitchFamily="34" charset="0"/>
                <a:ea typeface="Arial" pitchFamily="34" charset="-122"/>
                <a:cs typeface="Arial" pitchFamily="34" charset="-120"/>
              </a:rPr>
              <a:t>50 دقيقة</a:t>
            </a:r>
            <a:endParaRPr lang="ar-SA" sz="1900" dirty="0"/>
          </a:p>
        </p:txBody>
      </p:sp>
      <p:sp>
        <p:nvSpPr>
          <p:cNvPr id="12" name="Text 8"/>
          <p:cNvSpPr txBox="1"/>
          <p:nvPr/>
        </p:nvSpPr>
        <p:spPr>
          <a:xfrm>
            <a:off x="7415784" y="3108960"/>
            <a:ext cx="1874520" cy="457200"/>
          </a:xfrm>
          <a:prstGeom prst="rect">
            <a:avLst/>
          </a:prstGeom>
          <a:noFill/>
          <a:ln/>
        </p:spPr>
        <p:txBody>
          <a:bodyPr wrap="square" lIns="0" tIns="0" rIns="0" bIns="0" rtlCol="0" anchor="t"/>
          <a:lstStyle/>
          <a:p>
            <a:pPr rtl="1" algn="ctr" indent="0" marL="0">
              <a:buNone/>
            </a:pPr>
            <a:r>
              <a:rPr lang="ar-SA" altLang="en-US" sz="1400" dirty="0">
                <a:solidFill>
                  <a:srgbClr val="CFE6E6"/>
                </a:solidFill>
                <a:latin typeface="Arial" pitchFamily="34" charset="0"/>
                <a:ea typeface="Arial" pitchFamily="34" charset="-122"/>
                <a:cs typeface="Arial" pitchFamily="34" charset="-120"/>
              </a:rPr>
              <a:t>مدة المؤقّت</a:t>
            </a:r>
            <a:endParaRPr lang="ar-SA" sz="1400" dirty="0"/>
          </a:p>
        </p:txBody>
      </p:sp>
      <p:sp>
        <p:nvSpPr>
          <p:cNvPr id="13" name="key-3"/>
          <p:cNvSpPr/>
          <p:nvPr/>
        </p:nvSpPr>
        <p:spPr>
          <a:xfrm>
            <a:off x="5065776"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14" name="Shape 10"/>
          <p:cNvSpPr/>
          <p:nvPr/>
        </p:nvSpPr>
        <p:spPr>
          <a:xfrm>
            <a:off x="5797296" y="1783080"/>
            <a:ext cx="594360" cy="59436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5943600" y="1929384"/>
            <a:ext cx="301752" cy="301752"/>
          </a:xfrm>
          <a:prstGeom prst="rect">
            <a:avLst/>
          </a:prstGeom>
        </p:spPr>
      </p:pic>
      <p:sp>
        <p:nvSpPr>
          <p:cNvPr id="16" name="Text 11"/>
          <p:cNvSpPr txBox="1"/>
          <p:nvPr/>
        </p:nvSpPr>
        <p:spPr>
          <a:xfrm>
            <a:off x="5157216" y="2514600"/>
            <a:ext cx="1874520" cy="548640"/>
          </a:xfrm>
          <a:prstGeom prst="rect">
            <a:avLst/>
          </a:prstGeom>
          <a:noFill/>
          <a:ln/>
        </p:spPr>
        <p:txBody>
          <a:bodyPr wrap="square" lIns="0" tIns="0" rIns="0" bIns="0" rtlCol="0" anchor="ctr"/>
          <a:lstStyle/>
          <a:p>
            <a:pPr algn="ctr" indent="0" marL="0">
              <a:buNone/>
            </a:pPr>
            <a:r>
              <a:rPr lang="en-US" altLang="en-US" sz="1900" b="1" dirty="0">
                <a:solidFill>
                  <a:srgbClr val="FFFFFF"/>
                </a:solidFill>
                <a:latin typeface="Arial" pitchFamily="34" charset="0"/>
                <a:ea typeface="Arial" pitchFamily="34" charset="-122"/>
                <a:cs typeface="Arial" pitchFamily="34" charset="-120"/>
              </a:rPr>
              <a:t>8:00 – 8:50</a:t>
            </a:r>
            <a:endParaRPr lang="en-US" sz="1900" dirty="0"/>
          </a:p>
        </p:txBody>
      </p:sp>
      <p:sp>
        <p:nvSpPr>
          <p:cNvPr id="17" name="Text 12"/>
          <p:cNvSpPr txBox="1"/>
          <p:nvPr/>
        </p:nvSpPr>
        <p:spPr>
          <a:xfrm>
            <a:off x="5157216" y="3108960"/>
            <a:ext cx="1874520" cy="457200"/>
          </a:xfrm>
          <a:prstGeom prst="rect">
            <a:avLst/>
          </a:prstGeom>
          <a:noFill/>
          <a:ln/>
        </p:spPr>
        <p:txBody>
          <a:bodyPr wrap="square" lIns="0" tIns="0" rIns="0" bIns="0" rtlCol="0" anchor="t"/>
          <a:lstStyle/>
          <a:p>
            <a:pPr rtl="1" algn="ctr" indent="0" marL="0">
              <a:buNone/>
            </a:pPr>
            <a:r>
              <a:rPr lang="ar-SA" altLang="en-US" sz="1400" dirty="0">
                <a:solidFill>
                  <a:srgbClr val="CFE6E6"/>
                </a:solidFill>
                <a:latin typeface="Arial" pitchFamily="34" charset="0"/>
                <a:ea typeface="Arial" pitchFamily="34" charset="-122"/>
                <a:cs typeface="Arial" pitchFamily="34" charset="-120"/>
              </a:rPr>
              <a:t>الحصة الصفرية</a:t>
            </a:r>
            <a:endParaRPr lang="ar-SA" sz="1400" dirty="0"/>
          </a:p>
        </p:txBody>
      </p:sp>
      <p:sp>
        <p:nvSpPr>
          <p:cNvPr id="18" name="key-4"/>
          <p:cNvSpPr/>
          <p:nvPr/>
        </p:nvSpPr>
        <p:spPr>
          <a:xfrm>
            <a:off x="2807208"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19" name="Shape 14"/>
          <p:cNvSpPr/>
          <p:nvPr/>
        </p:nvSpPr>
        <p:spPr>
          <a:xfrm>
            <a:off x="3538728" y="1783080"/>
            <a:ext cx="594360" cy="59436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3685032" y="1929384"/>
            <a:ext cx="301752" cy="301752"/>
          </a:xfrm>
          <a:prstGeom prst="rect">
            <a:avLst/>
          </a:prstGeom>
        </p:spPr>
      </p:pic>
      <p:sp>
        <p:nvSpPr>
          <p:cNvPr id="21" name="Text 15"/>
          <p:cNvSpPr txBox="1"/>
          <p:nvPr/>
        </p:nvSpPr>
        <p:spPr>
          <a:xfrm>
            <a:off x="2898648" y="2514600"/>
            <a:ext cx="1874520" cy="548640"/>
          </a:xfrm>
          <a:prstGeom prst="rect">
            <a:avLst/>
          </a:prstGeom>
          <a:noFill/>
          <a:ln/>
        </p:spPr>
        <p:txBody>
          <a:bodyPr wrap="square" lIns="0" tIns="0" rIns="0" bIns="0" rtlCol="0" anchor="ctr"/>
          <a:lstStyle/>
          <a:p>
            <a:pPr rtl="1" algn="ctr" indent="0" marL="0">
              <a:buNone/>
            </a:pPr>
            <a:r>
              <a:rPr lang="ar-SA" altLang="en-US" sz="1900" b="1" dirty="0">
                <a:solidFill>
                  <a:schemeClr val="bg1"/>
                </a:solidFill>
                <a:latin typeface="Arial" pitchFamily="34" charset="0"/>
                <a:ea typeface="Arial" pitchFamily="34" charset="-122"/>
                <a:cs typeface="Arial" pitchFamily="34" charset="-120"/>
              </a:rPr>
              <a:t>النتائج مخفية</a:t>
            </a:r>
            <a:endParaRPr lang="ar-SA" sz="1900" dirty="0"/>
          </a:p>
        </p:txBody>
      </p:sp>
      <p:sp>
        <p:nvSpPr>
          <p:cNvPr id="22" name="Text 16"/>
          <p:cNvSpPr txBox="1"/>
          <p:nvPr/>
        </p:nvSpPr>
        <p:spPr>
          <a:xfrm>
            <a:off x="2898648" y="3108960"/>
            <a:ext cx="1874520" cy="457200"/>
          </a:xfrm>
          <a:prstGeom prst="rect">
            <a:avLst/>
          </a:prstGeom>
          <a:noFill/>
          <a:ln/>
        </p:spPr>
        <p:txBody>
          <a:bodyPr wrap="square" lIns="0" tIns="0" rIns="0" bIns="0" rtlCol="0" anchor="t"/>
          <a:lstStyle/>
          <a:p>
            <a:pPr rtl="1" algn="ctr" indent="0" marL="0">
              <a:buNone/>
            </a:pPr>
            <a:r>
              <a:rPr lang="ar-SA" altLang="en-US" sz="1400" dirty="0">
                <a:solidFill>
                  <a:srgbClr val="CFE6E6"/>
                </a:solidFill>
                <a:latin typeface="Arial" pitchFamily="34" charset="0"/>
                <a:ea typeface="Arial" pitchFamily="34" charset="-122"/>
                <a:cs typeface="Arial" pitchFamily="34" charset="-120"/>
              </a:rPr>
              <a:t>Show results: OFF</a:t>
            </a:r>
            <a:endParaRPr lang="ar-SA" sz="1400" dirty="0"/>
          </a:p>
        </p:txBody>
      </p:sp>
      <p:sp>
        <p:nvSpPr>
          <p:cNvPr id="23" name="key-5"/>
          <p:cNvSpPr/>
          <p:nvPr/>
        </p:nvSpPr>
        <p:spPr>
          <a:xfrm>
            <a:off x="548640"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24" name="Shape 18"/>
          <p:cNvSpPr/>
          <p:nvPr/>
        </p:nvSpPr>
        <p:spPr>
          <a:xfrm>
            <a:off x="1280160" y="1783080"/>
            <a:ext cx="594360" cy="594360"/>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1426464" y="1929384"/>
            <a:ext cx="301752" cy="301752"/>
          </a:xfrm>
          <a:prstGeom prst="rect">
            <a:avLst/>
          </a:prstGeom>
        </p:spPr>
      </p:pic>
      <p:sp>
        <p:nvSpPr>
          <p:cNvPr id="26" name="Text 19"/>
          <p:cNvSpPr txBox="1"/>
          <p:nvPr/>
        </p:nvSpPr>
        <p:spPr>
          <a:xfrm>
            <a:off x="640080" y="2514600"/>
            <a:ext cx="1874520" cy="548640"/>
          </a:xfrm>
          <a:prstGeom prst="rect">
            <a:avLst/>
          </a:prstGeom>
          <a:noFill/>
          <a:ln/>
        </p:spPr>
        <p:txBody>
          <a:bodyPr wrap="square" lIns="0" tIns="0" rIns="0" bIns="0" rtlCol="0" anchor="ctr"/>
          <a:lstStyle/>
          <a:p>
            <a:pPr rtl="1" algn="ctr" indent="0" marL="0">
              <a:buNone/>
            </a:pPr>
            <a:r>
              <a:rPr lang="ar-SA" altLang="en-US" sz="1900" b="1" dirty="0">
                <a:solidFill>
                  <a:schemeClr val="bg1"/>
                </a:solidFill>
                <a:latin typeface="Arial" pitchFamily="34" charset="0"/>
                <a:ea typeface="Arial" pitchFamily="34" charset="-122"/>
                <a:cs typeface="Arial" pitchFamily="34" charset="-120"/>
              </a:rPr>
              <a:t>اعتماد HoD</a:t>
            </a:r>
            <a:endParaRPr lang="ar-SA" sz="1900" dirty="0"/>
          </a:p>
        </p:txBody>
      </p:sp>
      <p:sp>
        <p:nvSpPr>
          <p:cNvPr id="27" name="Text 20"/>
          <p:cNvSpPr txBox="1"/>
          <p:nvPr/>
        </p:nvSpPr>
        <p:spPr>
          <a:xfrm>
            <a:off x="640080" y="3108960"/>
            <a:ext cx="1874520" cy="457200"/>
          </a:xfrm>
          <a:prstGeom prst="rect">
            <a:avLst/>
          </a:prstGeom>
          <a:noFill/>
          <a:ln/>
        </p:spPr>
        <p:txBody>
          <a:bodyPr wrap="square" lIns="0" tIns="0" rIns="0" bIns="0" rtlCol="0" anchor="t"/>
          <a:lstStyle/>
          <a:p>
            <a:pPr rtl="1" algn="ctr" indent="0" marL="0">
              <a:buNone/>
            </a:pPr>
            <a:r>
              <a:rPr lang="ar-SA" altLang="en-US" sz="1400" dirty="0">
                <a:solidFill>
                  <a:srgbClr val="CFE6E6"/>
                </a:solidFill>
                <a:latin typeface="Arial" pitchFamily="34" charset="0"/>
                <a:ea typeface="Arial" pitchFamily="34" charset="-122"/>
                <a:cs typeface="Arial" pitchFamily="34" charset="-120"/>
              </a:rPr>
              <a:t>قبل النشر</a:t>
            </a:r>
            <a:endParaRPr lang="ar-SA" sz="1400" dirty="0"/>
          </a:p>
        </p:txBody>
      </p:sp>
      <p:sp>
        <p:nvSpPr>
          <p:cNvPr id="28" name="Text 21"/>
          <p:cNvSpPr txBox="1"/>
          <p:nvPr/>
        </p:nvSpPr>
        <p:spPr>
          <a:xfrm>
            <a:off x="1463040" y="4160520"/>
            <a:ext cx="9262872" cy="868680"/>
          </a:xfrm>
          <a:prstGeom prst="rect">
            <a:avLst/>
          </a:prstGeom>
          <a:noFill/>
          <a:ln/>
        </p:spPr>
        <p:txBody>
          <a:bodyPr wrap="square" lIns="0" tIns="0" rIns="0" bIns="0" rtlCol="0" anchor="ctr"/>
          <a:lstStyle/>
          <a:p>
            <a:pPr rtl="1" algn="ctr" indent="0" marL="0">
              <a:buNone/>
            </a:pPr>
            <a:r>
              <a:rPr lang="ar-SA" altLang="en-US" sz="1700" dirty="0">
                <a:solidFill>
                  <a:schemeClr val="bg1"/>
                </a:solidFill>
                <a:latin typeface="Arial" pitchFamily="34" charset="0"/>
                <a:ea typeface="Arial" pitchFamily="34" charset="-122"/>
                <a:cs typeface="Arial" pitchFamily="34" charset="-120"/>
              </a:rPr>
              <a:t>أي مخاوف قد تؤثر على جودة الاختبار أو عدالته أو إمكانية الوصول إليه أو نزاهة نتائجه تُرفع فوراً إلى رؤساء الأقسام.</a:t>
            </a:r>
            <a:endParaRPr lang="ar-SA" sz="1700" dirty="0"/>
          </a:p>
        </p:txBody>
      </p:sp>
      <p:sp>
        <p:nvSpPr>
          <p:cNvPr id="29" name="Text 22"/>
          <p:cNvSpPr txBox="1"/>
          <p:nvPr/>
        </p:nvSpPr>
        <p:spPr>
          <a:xfrm>
            <a:off x="548640" y="5257800"/>
            <a:ext cx="11091672" cy="640080"/>
          </a:xfrm>
          <a:prstGeom prst="rect">
            <a:avLst/>
          </a:prstGeom>
          <a:noFill/>
          <a:ln/>
        </p:spPr>
        <p:txBody>
          <a:bodyPr wrap="square" lIns="0" tIns="0" rIns="0" bIns="0" rtlCol="0" anchor="ctr"/>
          <a:lstStyle/>
          <a:p>
            <a:pPr rtl="1" algn="ctr" indent="0" marL="0">
              <a:buNone/>
            </a:pPr>
            <a:r>
              <a:rPr lang="ar-SA" altLang="en-US" sz="2600" b="1" dirty="0">
                <a:solidFill>
                  <a:schemeClr val="accent2"/>
                </a:solidFill>
                <a:latin typeface="Arial" pitchFamily="34" charset="0"/>
                <a:ea typeface="Arial" pitchFamily="34" charset="-122"/>
                <a:cs typeface="Arial" pitchFamily="34" charset="-120"/>
              </a:rPr>
              <a:t>شكراً لكم، وبالتوفيق للجميع</a:t>
            </a:r>
            <a:endParaRPr lang="ar-SA" sz="2600" dirty="0"/>
          </a:p>
        </p:txBody>
      </p:sp>
      <p:sp>
        <p:nvSpPr>
          <p:cNvPr id="30"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orms Quiz Tutorial">
  <a:themeElements>
    <a:clrScheme name="Forms Quiz Tutorial">
      <a:dk1>
        <a:srgbClr val="1B2A33"/>
      </a:dk1>
      <a:lt1>
        <a:srgbClr val="FFFFFF"/>
      </a:lt1>
      <a:dk2>
        <a:srgbClr val="0B4F52"/>
      </a:dk2>
      <a:lt2>
        <a:srgbClr val="EAF4F4"/>
      </a:lt2>
      <a:accent1>
        <a:srgbClr val="03787C"/>
      </a:accent1>
      <a:accent2>
        <a:srgbClr val="F2A900"/>
      </a:accent2>
      <a:accent3>
        <a:srgbClr val="5B3FD1"/>
      </a:accent3>
      <a:accent4>
        <a:srgbClr val="C0392B"/>
      </a:accent4>
      <a:accent5>
        <a:srgbClr val="2E8B57"/>
      </a:accent5>
      <a:accent6>
        <a:srgbClr val="6B7A85"/>
      </a:accent6>
      <a:hlink>
        <a:srgbClr val="03787C"/>
      </a:hlink>
      <a:folHlink>
        <a:srgbClr val="5B3FD1"/>
      </a:folHlink>
    </a:clrScheme>
    <a:fontScheme name="Forms Quiz Tutori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إنشاء اختبار منتصف الفصل الأول عبر Microsoft Forms</dc:title>
  <dc:subject>PptxGenJS Presentation</dc:subject>
  <dc:creator>Mr. Ashraf Elbialy</dc:creator>
  <cp:lastModifiedBy>Mr. Ashraf Elbialy</cp:lastModifiedBy>
  <cp:revision>1</cp:revision>
  <dcterms:created xsi:type="dcterms:W3CDTF">2026-10-09T12:10:48Z</dcterms:created>
  <dcterms:modified xsi:type="dcterms:W3CDTF">2026-10-09T12:10:48Z</dcterms:modified>
</cp:coreProperties>
</file>